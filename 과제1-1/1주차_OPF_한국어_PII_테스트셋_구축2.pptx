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28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DATE</c:v>
                  </c:pt>
                  <c:pt idx="1">
                    <c:v>GIVENNAME</c:v>
                  </c:pt>
                  <c:pt idx="2">
                    <c:v>SURNAME</c:v>
                  </c:pt>
                  <c:pt idx="3">
                    <c:v>EMAIL</c:v>
                  </c:pt>
                  <c:pt idx="4">
                    <c:v>CITY</c:v>
                  </c:pt>
                  <c:pt idx="5">
                    <c:v>TITLE</c:v>
                  </c:pt>
                  <c:pt idx="6">
                    <c:v>TELEPHONENUM</c:v>
                  </c:pt>
                  <c:pt idx="7">
                    <c:v>BUILDINGNUM</c:v>
                  </c:pt>
                  <c:pt idx="8">
                    <c:v>STREET</c:v>
                  </c:pt>
                  <c:pt idx="9">
                    <c:v>AGE</c:v>
                  </c:pt>
                  <c:pt idx="10">
                    <c:v>ZIPCODE</c:v>
                  </c:pt>
                  <c:pt idx="11">
                    <c:v>IDCARDNUM</c:v>
                  </c:pt>
                  <c:pt idx="12">
                    <c:v>CREDITCARDNUMBER</c:v>
                  </c:pt>
                  <c:pt idx="13">
                    <c:v>DRIVERLICENSENUM</c:v>
                  </c:pt>
                  <c:pt idx="14">
                    <c:v>TAXNUM</c:v>
                  </c:pt>
                  <c:pt idx="15">
                    <c:v>SOCIALNUM</c:v>
                  </c:pt>
                  <c:pt idx="16">
                    <c:v>PASSPORTNUM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4639</c:v>
                </c:pt>
                <c:pt idx="1">
                  <c:v>4496</c:v>
                </c:pt>
                <c:pt idx="2">
                  <c:v>3919</c:v>
                </c:pt>
                <c:pt idx="3">
                  <c:v>3095</c:v>
                </c:pt>
                <c:pt idx="4">
                  <c:v>2959</c:v>
                </c:pt>
                <c:pt idx="5">
                  <c:v>2911</c:v>
                </c:pt>
                <c:pt idx="6">
                  <c:v>2803</c:v>
                </c:pt>
                <c:pt idx="7">
                  <c:v>2646</c:v>
                </c:pt>
                <c:pt idx="8">
                  <c:v>2636</c:v>
                </c:pt>
                <c:pt idx="9">
                  <c:v>2418</c:v>
                </c:pt>
                <c:pt idx="10">
                  <c:v>2248</c:v>
                </c:pt>
                <c:pt idx="11">
                  <c:v>1821</c:v>
                </c:pt>
                <c:pt idx="12">
                  <c:v>1788</c:v>
                </c:pt>
                <c:pt idx="13">
                  <c:v>1506</c:v>
                </c:pt>
                <c:pt idx="14">
                  <c:v>1499</c:v>
                </c:pt>
                <c:pt idx="15">
                  <c:v>1335</c:v>
                </c:pt>
                <c:pt idx="16">
                  <c:v>1283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728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252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목표: 공개 데이터셋을 ①한국어 ②가명처리 조건에 맞게 변환하여 OPF 테스트에 바로 쓸 수 있는 한국어 데이터셋을 만드는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300k는 과제 지정 데이터셋이었으나 학술·비상업 전용 라이선스로 상업적 파생물 생성이 불가하여 동일 제작기관의 CC BY 4.0 데이터셋으로 교체했습니다.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문장이 아니라 한 문서(레코드) 단위 길이입니다. OPF 실효 참조 범위 257토큰과의 관계는 다음 장에서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TAXNUM이 실제로는 주민등록번호라는 점이 이번 진단의 가장 중요한 발견입니다. 라벨명을 그대로 믿고 매핑하면 주민등록번호 항목을 통째로 놓치게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금융권 보안 특성상 테스트 값이 실재하면 안 되므로, 형식 유효성과 값 무효성을 동시에 만족하도록 설계했고 그 결과를 분수로 검증했습니다.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KDPII를 쓰지 않기로 한 판단 근거는 도메인 적합성입니다. 한국어 네이티브라는 장점은 크지만 증권 업무 문서와의 거리가 멀어, 문맥 단서가 실제 사내 문서와 다르게 작동합니다.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AI솔루션팀 OJT · 1주차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검증용 한국어 PII 마스킹 테스트셋 구축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데이터셋(openpii-1.5m)의 한국어 전환 및 가명처리 적용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19050">
            <a:solidFill>
              <a:srgbClr val="CFD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69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대상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(OpenAI Privacy Filter)</a:t>
            </a:r>
            <a:pPr indent="0" marL="0">
              <a:buNone/>
            </a:pPr>
            <a:r>
              <a:rPr lang="en-US" sz="13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|     마스킹 대상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11개 항목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 14.   |   최중현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데이터셋 오버뷰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2468880"/>
                <a:gridCol w="219456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 · 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성격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 / pii-masking-openpii-1.5m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(한국어 서브셋 language=ko)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1.64M행 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 26,498행 · PII 189,429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 BY 4.0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상업적 파생물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합성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(생성 파이프라인 산출물)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 / pii-masking-300k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(당초 과제 지정)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학술·비상업 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상업적 파생물 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 사유: 라이선스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서브셋 선정 근거</a:t>
            </a:r>
            <a:endParaRPr lang="en-US" sz="15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41648"/>
          <a:ext cx="5303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886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번역 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네이티브 생성분 → PII 스팬 오프셋 무효화 회피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오프셋 무결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189,429 / 189,429 전건 정합 → span 단위 평가에 즉시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문서 장르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회의록 · 영수증 · 계약 안내 · 협상 메일 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 문맥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7,788 / 26,498 행에 금융 키워드 포함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단위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309360" y="4041648"/>
            <a:ext cx="5303520" cy="1536192"/>
          </a:xfrm>
          <a:prstGeom prst="roundRect">
            <a:avLst>
              <a:gd name="adj" fmla="val 35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92240" y="4206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649224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(라벨 균형 표집)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05256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28,420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9052560" y="4892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 스팬 (가명처리 완료)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92240" y="5230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26,498행 중 라벨 다양성 기준 표집. 라벨별 최소 확보 원칙 적용.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ai4privacy/pii-masking-openpii-1.5m (Hugging Face), CC BY 4.0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데이터셋 특성 파악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 · 구조 · 언어 구성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 기관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 (Ai Suisse SA)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 BY 4.0 — 출처 표시 조건으로 상업적 활용 및 2차 저작물 생성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여부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합성. 실제 개인정보 미포함 → 원본 자체로는 개인정보 처리 이슈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 구조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source_text · masked_text · privacy_mask(start/end/label/value) · split · uid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language · region · script · source_dataset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구성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30개 언어 / 37개 지역. 한국어는 Asia Pacific 확장분(ko · KR · Hang) — 26,498 / 1,636,375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PII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36종. 사내 11개 항목 대응 16종 / 미대응 20종 (미대응분 42,992 / 189,429)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26,498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 행 수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1.64M행 중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64992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47872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189,429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47872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 스팬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47872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오프셋 전건 정합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81344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4224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181.3자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364224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문서당 평균 길이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64224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26,498행 기준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997696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80576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48.9자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180576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문장당 평균 길이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80576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96,592문장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26,498행 · 96,592문장 기준 실측 · 문서당 평균 3.65문장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데이터 통계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라벨별 등장 빈도 (표집 3,000건 기준)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858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관찰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719072"/>
          <a:ext cx="3840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606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불균형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20종에 집중.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HOSPITALNAME·HEIGHT 각 1행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 라벨 부재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ACCOUNTNUM 12행 · BANKNAME 20행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사내 계좌번호 항목 커버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행당 PII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표집 15.99 vs 전체 7.15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(2.2배)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47,957 / 47,957 전건 정합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4206240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FDF3E7"/>
          </a:solidFill>
          <a:ln w="12700">
            <a:solidFill>
              <a:srgbClr val="F0D9B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55280" y="4343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대응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955280" y="4645152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계좌번호는 원본 12건뿐 → 금융 문맥 문서에 가명 계좌번호를 신규 주입하여 항목 커버리지 확보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72400" y="6126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표집은 라벨 다양성 기준이라 다중 PII 밀집 문서에 편중. 희소 라벨 16종은 배율 3.95로 전량 포함, GIVENNAME 0.78 · TIME 0.79 · DATE 0.87은 과소표집.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26,498행 기준 라벨 종류는 36종 · 표집분에서도 동일하게 36종 관측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핵심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실물 형식 부합도 진단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라벨명과 실제 값 형식이 어긋나 있고, 한국 고유 식별자 형식은 대부분 재현되지 않았습니다. 변환 없이 그대로 쓰면 OPF 성능을 잘못 측정하게 됩니다.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828800"/>
                <a:gridCol w="265176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실물 형식 정규식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관측 형식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^\d{6}-[1-4]\d{6}$ (주민등록번호)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4,962 / 4,962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 형식 100%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라벨명 오류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 (전량 불일치)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하이픈 없는 10자리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^[A-Z]\d{8}$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4,020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2자리 + 숫자 7자리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DRIVERLICENSENUM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^\d{2}-\d{2}-\d{6}-\d{2}$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5,077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 영숫자 10자 (703종)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TELEPHONENUM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^01[016789][- ]?\d{3,4}[- ]?\d{4}$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 / 10,594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국제 임의 형식 다수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생성 흔적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90288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 어순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GIVENNAME 라틴 4,623 / 22,725 · SURNAME 라틴 3,458 / 17,062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한국식 성과 서구식 성이 혼재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템플릿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"은(는)" 등 잔존 1,736 / 26,498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ko인데 한글 비율 30% 미만 1,289 / 26,498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오라벨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 값 뒤가 % 인 사례 292 / 9,733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이번 과제의 구조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309360" y="4590288"/>
            <a:ext cx="5303520" cy="1664208"/>
          </a:xfrm>
          <a:prstGeom prst="roundRect">
            <a:avLst>
              <a:gd name="adj" fmla="val 3297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4754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openpii ko = 문맥(캐리어 텍스트) 공급원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 Step 2·3에서 한국 형식 가명값으로 전량 교체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지시 원문의 "①한국어 ②가명처리에 맞게 변환"이 곧 이 작업입니다. 값을 그대로 쓰면 변환 단계 자체가 성립하지 않습니다.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한국어 서브셋 전체 26,498행 기준 실측값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한국어 전환 및 변환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3단 매핑 — openpii 36종 → 사내 11항목 → OPF 8라벨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874520"/>
                <a:gridCol w="3520440"/>
                <a:gridCol w="1874520"/>
                <a:gridCol w="10058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openpii 원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스팬 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 · IDCARDNUM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3,320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재해석 매핑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 (+주입)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재배정 + 주입 245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1,283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DRIVERLICENSENUM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row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TITLE+GIVENNAME+SURNAME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스팬 병합 + 어순 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(라틴문자 분기)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로마자 가명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TELEPHONENUM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private_phone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 형식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ACCOUNTNUM (+주입)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주입 803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private_email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CITY+STREET+BUILDINGNUM+ZIPCODE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private_address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6,423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4분할 병합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CREDITCARDNUMBER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Luhn 무효화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70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항목 전부 커버. account_number 로 6개 항목이 수렴하므로 OPF 단독으로는 고유식별정보 세부 구분이 불가하며, 항목 단위 성능은 사내 매핑 기준으로 별도 집계해야 합니다.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캐리어 문구 정규화 병행: "세금 식별 번호"→"주민등록번호", "사회보장 번호"→"외국인등록번호" 등 (문맥 단서 ↔ 값 형식 ↔ 라벨 일치)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한국어 전환 및 변환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파이프라인 6단계 및 난이도 케이스 주입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08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캐리어 문구 정규화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단서를 한국 실무 표현으로 교체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751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3단 매핑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openpii 36 → 사내 11 → OPF 8, 이중 라벨 보존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551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42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스팬 병합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27614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성명 3분할·주소 4분할을 사내 항목 단위로 통합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값 치환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33284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규칙 적용, 문서 내 일관성 유지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685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6758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케이스 주입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97280" y="3895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결합 · 경칭 · 한영 혼용 · 과탐지 유도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251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2428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오프셋 재계산 및 검증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7280" y="4462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text[start:end] == value 전건 확인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케이스 주입 결과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19072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증권계좌번호는 977-18-990201-98이며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경칭 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PB 김소율 수석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한영 혼용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김소율 수석(SOYUL KIM)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과탐지 유도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주문번호 20260509-586297, 종목코드 207940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(정답 스팬 없음)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309360" y="39319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0" y="4069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과탐지 유도 케이스의 목적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492240" y="43708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OPF의 account_number 는 계좌 전용이 아니라 "식별자 형태의 번호" 포괄 라벨입니다. 종목코드·주문번호처럼 정답이 아닌 고엔트로피 문자열을 넣어, 증권 업무 문서에서의 오탐 발생 여부를 측정합니다.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 스팬은 전량 injected=true 로 표기되어 원본 유래분과 분리 집계 가능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 가명처리 조사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· 마스킹 · 익명처리의 구분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  <a:gridCol w="1828800"/>
                <a:gridCol w="3931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재식별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과제에서의 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정보 없이는 특정 개인을 알아볼 수 없도록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정보 결합 시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데이터 값 생성 원칙 — 본 과제가 적용한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"개인정보 일부 또는 전부 대체" 대분류 아래 삭제기술의 세부기술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범위에 따라 상이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OPF가 수행하는 처리 — 검증 대상 기능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익명처리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시간·비용·기술을 합리적으로 고려할 때 다른 정보를 사용하여도 개인을 알아볼 수 없도록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 범위 밖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75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텍스트정보 가명처리 기법 6종 중 OPF의 위치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규칙 기반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77440" y="406908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스크러빙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406908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062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정규표현식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636008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636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주석달기(NER)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377440" y="4636008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4636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AI 기반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06240" y="4636008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4636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테이블 변환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5303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가이드라인은 ⑤ AI 기반 기법에 CRFs를 열거하고 있습니다. OPF는 토큰 분류 + 선형 체인 Viterbi 디코딩 구조이므로 제도상 ⑤에 해당합니다.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3675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사용 주의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06908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지양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가이드라인 용어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휴리스틱 가명화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무작위화 — 토큰화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교환(swapping)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무작위화 — 순열(치환)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범주화 (본 과제)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미적용 — 마스킹 대상이 소실되어 테스트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40080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두 용어는 2016년 폐지된 가이드라인의 표현으로, 2026.3 개정본에는 존재하지 않습니다.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개인정보보호위원회, 「가명정보 처리 가이드라인」 2026.03. · 기법 분류 각주 출처는 EU ENISA(2018, 2019)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 가명처리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값 생성 규칙 및 검증 결과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형식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무효화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######-[1-4]######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검증번호 의도적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######-[5-8]######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검증번호 의도적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M########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발급 대역 회피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##-##-######-##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지역·연도 코드 임의 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####-####-####-####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Luhn 체크섬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###-##-######-##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증권계좌 형식, 실계좌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010-####-#### 외 2종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통신사 대역 무관 임의값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· 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Nemotron 실측 분포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(성씨 40 · 이름 300)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성명 세트 일관 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 + 시군구 + 도로명 + 건물번호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실주소 대응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로마자성명+숫자@일반도메인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실계정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371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원칙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19072"/>
          <a:ext cx="4663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4747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자릿수·구분자·접두 규칙을 실물과 동일하게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무효화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검증번호·Luhn을 의도적으로 어긋나게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일관 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문서 내 동일 원본값 → 동일 가명값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범주화 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"30대" 식 일반화 시 마스킹 대상이 사라짐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949440" y="3840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949440" y="420624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오프셋 정합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00584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28,420 / 28,420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49440" y="470916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0" y="4709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주민·외국인등록번호 검증 통과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05840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4,900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949440" y="521208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32320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카드번호 Luhn 통과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058400" y="5212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1,788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949440" y="571500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32320" y="5715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적용률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0058400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28,420 / 28,420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검증번호·Luhn 통과 건수 0 = 형식은 유효하되 실제로는 존재할 수 없는 값임을 확인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항목 — 원문에서 가명처리 결과까지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(openpii ko)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금융 자산 정보를 수집하기 위해 신분증 번호(V49P0Z6KRN), 운전면허 번호(EO0IG1R95Z), 사회보장 번호(8297093187), 세금 식별 번호(181021-3417261), 여권 번호(KL2351072), 신용카드 번호(345592533243376)를 제출해 주시기 바랍니다.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0" y="1280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결과 (본 과제 산출물)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72768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금융 자산 정보를 수집하기 위해 주민등록번호(740321-2603058), 운전면허 번호(27-88-153236-98), 외국인등록번호(920609-6089674), 주민등록번호(870212-1060318), 여권 번호(M25338709), 신용카드 번호(4100-6754-5401-9991)를 제출해 주시기 바랍니다.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468880"/>
                <a:gridCol w="18288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181021-3417261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740321-2603058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8297093187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920609-6089674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EO0IG1R95Z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DRIVERLICENSENUM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27-88-153236-98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KL2351072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M25338709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345592533243376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CREDITCARDNUMBER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4100-6754-5401-9991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gun 시연 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TITLE+GIVENNAME+SURNAME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TAEYOON JANG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977-18-990201-98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표기된 값은 전량 가명처리 후 값 · 원본 데이터셋 자체도 완전 합성이므로 실재 개인정보는 포함되지 않음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검토한 데이터셋과 채택 여부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1645920"/>
                <a:gridCol w="3383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여부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KDPII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(연세대 · 개인정보위/KISA 과제)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네이티브 대화 코퍼스. 문장 50,011 · PII 22,411 · 라벨 33종.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고유식별번호 4종 각 200건 확보. 다만 전 53,778문장 중 증권 1건 · 펀드 1건 · 주식 15건으로 증권 문맥이 사실상 부재하고, 일상 대화(회비 정산·친구 간 송금) 중심.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미채택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방법론만 승계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라벨 정의를 TTAK.KO-10.0852에 근거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주석자 간 일치도 공개 관행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희소 항목 최소 건수 확보 원칙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정형/비정형 분리 보고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Nemotron-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Personas-Korea (NVIDIA)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KOSIS·대법원·건강보험공단 통계 기반 한국인 페르소나. PII 라벨 데이터셋이 아니므로 테스트셋으로는 사용 불가.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6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실물 반입 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6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 건 표집 → 고유 성명 30,612개에서 성씨 40종 · 이름 300종 추출, 실측 빈도를 가중치로 반영.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로마자 표기 컬럼 부재 → 관용 표기 39개 유지 + 국어의 로마자 표기법 제3장 제4항에 따른 음절 단위 전자 301개 보충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PII-Masking-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financial-pfi-400k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금융·보험 특화 라벨 약 20종 추가. 게이트 적용 데이터셋으로 별도 계약 필요.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증권 문맥 보강이 필요할 경우의 차기 후보. 라이선스 협의 선행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성명을 임의로 지어내면 "가명처리 원칙에 따라 만들어진 값"이라는 요건을 충족하지 못합니다. 공식 통계에 근거한 값 공급원을 설계에 명시한 이유입니다.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KDPII 논문은 CC BY-NC-ND 4.0으로 표 전재 불가 · 재구성 및 출처 명시 방식으로만 인용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및 다음 단계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39496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ss_pii_testset_ko_v1.json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정본. 문서별 본문·마스킹본·스팬(3단 라벨·주입 여부·가명처리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문서 / 28,420 스팬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ss_pii_testset_ko_v1_opf.jsonl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평가 입력 포맷. id · text · spans(start/end/label)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pseudonym_pool.json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값 풀. Nemotron 실측 분포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성씨 40 · 이름 300 · 로마자 340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openpii_ko_label_dictionary.json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36종 정의·값 패턴·사내 항목 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36종 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nemotron_names.json · build_dataset.py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성명 원천 / 재현 스크립트 (시드 고정)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 성명 30,612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75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405993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4041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추론 실행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42611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항목별 P / R / F1 산출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459028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4590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4572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성능 분리 보고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4791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account_number 수렴 6개 항목을 사내 기준으로 재집계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512064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5120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51023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과탐지 측정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5321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종목코드·주문번호 오탐률 별도 집계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565099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5650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51560" y="56327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운영점 조정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" y="5852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Viterbi transition bias 6종 튜닝 후 재측정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09360" y="3675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필요 항목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309360" y="4041648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FDF3E7"/>
          </a:solidFill>
          <a:ln w="12700">
            <a:solidFill>
              <a:srgbClr val="F0D9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4187952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OPF 실효 참조 범위 257토큰 대비 입력 분할 방식 결정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문서 평균 181.3자 / 문장 평균 48.9자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해소 완료 6건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언어별 분포 · 문장 단위 길이 · 라벨 36종 정의표 · 전체 기준 통계 · Nemotron 실물 반입 · 표집 편향 정량화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실측값 · 표집 기준과 전체 기준을 구분 표기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STEP 1-4 언어 구성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A1 — 언어별 데이터 분포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30개 언어 / 37개 지역. 한국어는 Asia Pacific 확장분으로, 전체 1,636,375행 중 26,498행을 차지합니다.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한국어(ko · KR · Hang)  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26,498 / 1,636,375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language × region × script 조합 40종 중 1종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언어별 전체 건수 표는 Claude Code 산출 결과(B1)를 그대로 옮겨 붙일 것 — 30개 언어 전수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37개 (region 기준)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language × region × script 40종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표기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language=ko · region=KR · script=Hang · source_dataset=asia-pacific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비중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26,498 / 1,636,375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PII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189,429건 · 라벨 36종 · 오프셋 정합 189,429 / 189,429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ai4privacy/pii-masking-openpii-1.5m · CC BY 4.0 · 원격 Parquet 집계 결과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STEP 1-3 라벨 종류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A2 — PII 라벨 36종 및 사내 항목 대응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237744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대응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빈도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 row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146,437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 · IDCARDNUM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4,962 · 약 12,000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11,800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 · DRIVERLICENSENUM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4,020 · 5,077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 · 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GIVENNAME · SURNAME · TITLE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22,725 · 17,062 · 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성명 · 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TELEPHONENUM · EMAIL · CREDITCARDNUMBER · ACCOUNTNUM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10,594 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 · 이메일 · 카드번호 · 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CITY · STREET · BUILDINGNUM · ZIPCODE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 (4분할 병합)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42,992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 · AGE · GENDER · SEX · TIME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21,077 · 9,733 · 5,433 · 4,551 · 1,964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ORGANISATION 외 15종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 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스팬 없음 → OPF가 탐지하면 전량 오탐(FP)으로 계산. 과탐지 관찰 대상으로 설계에 반영됨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라벨별 정의·값 패턴·대표 예시(패턴화)는 openpii_ko_label_dictionary.json 에 36종 전수 수록.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56692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146,437 / 189,429   ·   미대응 42,992 / 189,429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서브셋 전체 26,498행 기준 실측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2026-08-14T03:17:34Z</dcterms:created>
  <dcterms:modified xsi:type="dcterms:W3CDTF">2026-08-14T03:17:34Z</dcterms:modified>
</cp:coreProperties>
</file>