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부록입니다. 본편에서 언급한 정의·사양·근거를 모두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매칭 규칙과 입력 처리 근거입니다. 재현율은 정답이 예측에 포함되면 탐지로 보고, 정밀도는 반대입니다. 이 비대칭이 뒤에 정밀도가 낮게 나오는 이유와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지표 정의입니다. 도식이 중요한데, 예측이 정답보다 넓으면 재현율은 통과하고 정밀도는 실패합니다. 이 비대칭이 뒤의 정밀도 수치를 해석하는 열쇠입니다.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테스트셋 사양입니다. 전량 합성이고, 주민·외국인·카드 모두 검증식을 통과하지 못하도록 무효화했습니다. 실존 가능한 식별번호가 들어가지 않았다는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라벨 매핑입니다. 중요한 건 OPF가 주민번호, 여권, 운전면허를 구분하지 않고 전부 account_number로 처리한다는 점입니다. 그래서 항목별 성능은 우리 정답 라벨 기준으로 역산했습니다.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난이도 계층입니다. 여기서 하나 정직하게 말씀드릴 게 있습니다. 경칭 결합과 한영 혼용의 값이 네 개 모두 동일합니다. 우연일 확률은 사실상 없어서, 태깅 스크립트가 두 케이스에 같은 문서 집합을 배정했을 가능성이 높다고 보고 재검증 대상으로 분류했습니다. 그래서 이 계층 결과는 판정 근거로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프로브셋 사양입니다. 세 가지 변형 규칙으로 만들었고, 상담 STT에서 실제로 관찰되는 패턴을 참고했습니다.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프로브셋이 자의적이지 않다는 근거를 정리했습니다. 제작사 자신이 같은 계열의 적대적 변형을 평가 축으로 쓰고 있고, 거기서도 성능이 떨어집니다. 다만 우리 프로브셋은 합성이므로 판정 기준에서는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항목별 EM 상세입니다. 여권·주소·국문성명·이메일·영문성명 다섯 항목이 EM 10% 미만입니다. 재현율은 높은데 경계가 안 맞는다는 뜻이고, 주소는 부분 노출이 429건으로 실제 노출로 이어졌습니다.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규칙 레이어 상세입니다. 정규식으로 후보를 잡고 검증식으로 확인한 뒤, 두 결과를 구간 합집합으로 병합합니다. 모델은 건드리지 않습니다. 잔여 8건은 병합 규칙 때문이고 원인은 특정했습니다.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모델카드 원문 대조 결과입니다. 가장 중요한 건 한국어가 언어별 벤치마크에 아예 포함되어 있지 않다는 점입니다. F1 0.960은 한국어 수치가 아닙니다. 한국어는 별도 합성 평가에서만 나오고, 거기서 재현율 0.887인데 우리 실측 86.17%와 근접합니다.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모델카드가 명시한 제약 사항입니다. 강조드릴 점은, 우리가 발견한 약점이 전부 모델카드에 이미 적혀 있는 실패 모드라는 것입니다. 예상 밖의 결함이 아니고, 그래서 대응 방향도 제작사가 제시한 경로와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컴플라이언스 근거입니다. 기준 출처와 그 성격, 그리고 우리가 어떻게 적용했는지를 정리했습니다. 표본검수 시트는 10% 요건에 맞춰 층화 배분으로 300건 생성했는데, 인간 검수 자체는 아직 못 했습니다. 이건 정직하게 미실시로 보고드립니다.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Viterbi 후속 제안입니다. 먼저 왜 이번에 안 했는지를 분명히 밝힙니다. 가중치 반입 경로와 파라미터 미공개 문제이고, 현재 argmax 구현은 타당한 선택이었습니다. 제안 핵심은 이미 만들어 둔 config 3종을 보수·기본·적극 운영점으로 써서 같은 정본에 재평가하면, 스크립트 수정 없이 세 운영점의 곡선을 얻을 수 있다는 것입니다. 다만 개선은 아직 가설이므로 단정하지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오픈소스 대안 검토입니다. 반입이 안 돼서 실측은 못 했고, 후보군과 평가 축만 정리했습니다. 여기서 중요한 건 아래쪽입니다. 비교할 때 고정할 축을 미리 정해 두면, 모델이 늘어날 때마다 같은 조건으로 비교할 수 있고 모델카드 서식에 그대로 쌓입니다. 팀장님이 말씀하신 자산화와 직접 연결되는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한계와 미해결 항목을 전부 공개하는 장입니다. 1주차에 제가 만든 데이터셋에서 166건 결함을 자체 발견해 보완했고, 과탐 3분해는 수치가 안 맞아서 발표에서 뺐습니다. 하이브리드 8건, bias 정밀도, 난이도 계층, 표본검수 모두 현재 상태 그대로 적었습니다. 숨기지 않는 게 신뢰의 근거라고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고지입니다. 배포하실 때 필요한 문구를 그대로 넣어 뒀습니다. 표현 사용 원칙도 밝혀 뒀는데, 검증 안 된 단정 표현은 쓰지 않았다는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9479B"/>
          </a:solidFill>
          <a:ln w="12700">
            <a:solidFill>
              <a:srgbClr val="39479B"/>
            </a:solidFill>
            <a:prstDash val="solid"/>
          </a:ln>
        </p:spPr>
      </p:sp>
      <p:sp>
        <p:nvSpPr>
          <p:cNvPr id="3" name="Text 1"/>
          <p:cNvSpPr/>
          <p:nvPr/>
        </p:nvSpPr>
        <p:spPr>
          <a:xfrm>
            <a:off x="1051560" y="2103120"/>
            <a:ext cx="10058400" cy="786384"/>
          </a:xfrm>
          <a:prstGeom prst="rect">
            <a:avLst/>
          </a:prstGeom>
          <a:noFill/>
          <a:ln/>
        </p:spPr>
        <p:txBody>
          <a:bodyPr wrap="square" lIns="0" tIns="0" rIns="0" bIns="0" rtlCol="0" anchor="ctr"/>
          <a:lstStyle/>
          <a:p>
            <a:pPr algn="l" indent="0" marL="0">
              <a:buNone/>
            </a:pPr>
            <a:r>
              <a:rPr lang="en-US" sz="4400" b="1" spc="300" kern="0" dirty="0">
                <a:solidFill>
                  <a:srgbClr val="FFFFFF"/>
                </a:solidFill>
                <a:latin typeface="Malgun Gothic" pitchFamily="34" charset="0"/>
                <a:ea typeface="Malgun Gothic" pitchFamily="34" charset="-122"/>
                <a:cs typeface="Malgun Gothic" pitchFamily="34" charset="-120"/>
              </a:rPr>
              <a:t>APPENDIX</a:t>
            </a:r>
            <a:endParaRPr lang="en-US" sz="4400" dirty="0"/>
          </a:p>
        </p:txBody>
      </p:sp>
      <p:sp>
        <p:nvSpPr>
          <p:cNvPr id="4" name="Text 2"/>
          <p:cNvSpPr/>
          <p:nvPr/>
        </p:nvSpPr>
        <p:spPr>
          <a:xfrm>
            <a:off x="1051560" y="2926080"/>
            <a:ext cx="10058400" cy="457200"/>
          </a:xfrm>
          <a:prstGeom prst="rect">
            <a:avLst/>
          </a:prstGeom>
          <a:noFill/>
          <a:ln/>
        </p:spPr>
        <p:txBody>
          <a:bodyPr wrap="square" lIns="0" tIns="0" rIns="0" bIns="0" rtlCol="0" anchor="ctr"/>
          <a:lstStyle/>
          <a:p>
            <a:pPr algn="l" indent="0" marL="0">
              <a:buNone/>
            </a:pPr>
            <a:r>
              <a:rPr lang="en-US" sz="1600" dirty="0">
                <a:solidFill>
                  <a:srgbClr val="CADCFC"/>
                </a:solidFill>
                <a:latin typeface="Malgun Gothic" pitchFamily="34" charset="0"/>
                <a:ea typeface="Malgun Gothic" pitchFamily="34" charset="-122"/>
                <a:cs typeface="Malgun Gothic" pitchFamily="34" charset="-120"/>
              </a:rPr>
              <a:t>OPF 한국어 PII 탐지 성능 평가 — 부록</a:t>
            </a:r>
            <a:endParaRPr lang="en-US" sz="1600" dirty="0"/>
          </a:p>
        </p:txBody>
      </p:sp>
      <p:sp>
        <p:nvSpPr>
          <p:cNvPr id="5" name="Text 3"/>
          <p:cNvSpPr/>
          <p:nvPr/>
        </p:nvSpPr>
        <p:spPr>
          <a:xfrm>
            <a:off x="1051560" y="3840480"/>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A1  매칭 규칙 및 입력 처리</a:t>
            </a:r>
            <a:endParaRPr lang="en-US" sz="1000" dirty="0"/>
          </a:p>
        </p:txBody>
      </p:sp>
      <p:sp>
        <p:nvSpPr>
          <p:cNvPr id="6" name="Text 4"/>
          <p:cNvSpPr/>
          <p:nvPr/>
        </p:nvSpPr>
        <p:spPr>
          <a:xfrm>
            <a:off x="3657600" y="3840480"/>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A2  지표 정의</a:t>
            </a:r>
            <a:endParaRPr lang="en-US" sz="1000" dirty="0"/>
          </a:p>
        </p:txBody>
      </p:sp>
      <p:sp>
        <p:nvSpPr>
          <p:cNvPr id="7" name="Text 5"/>
          <p:cNvSpPr/>
          <p:nvPr/>
        </p:nvSpPr>
        <p:spPr>
          <a:xfrm>
            <a:off x="6263640" y="3840480"/>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A3  테스트셋 사양</a:t>
            </a:r>
            <a:endParaRPr lang="en-US" sz="1000" dirty="0"/>
          </a:p>
        </p:txBody>
      </p:sp>
      <p:sp>
        <p:nvSpPr>
          <p:cNvPr id="8" name="Text 6"/>
          <p:cNvSpPr/>
          <p:nvPr/>
        </p:nvSpPr>
        <p:spPr>
          <a:xfrm>
            <a:off x="8869680" y="3840480"/>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A4  라벨 매핑</a:t>
            </a:r>
            <a:endParaRPr lang="en-US" sz="1000" dirty="0"/>
          </a:p>
        </p:txBody>
      </p:sp>
      <p:sp>
        <p:nvSpPr>
          <p:cNvPr id="9" name="Text 7"/>
          <p:cNvSpPr/>
          <p:nvPr/>
        </p:nvSpPr>
        <p:spPr>
          <a:xfrm>
            <a:off x="1051560" y="4224528"/>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A5  난이도 · 길이 계층</a:t>
            </a:r>
            <a:endParaRPr lang="en-US" sz="1000" dirty="0"/>
          </a:p>
        </p:txBody>
      </p:sp>
      <p:sp>
        <p:nvSpPr>
          <p:cNvPr id="10" name="Text 8"/>
          <p:cNvSpPr/>
          <p:nvPr/>
        </p:nvSpPr>
        <p:spPr>
          <a:xfrm>
            <a:off x="3657600" y="4224528"/>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A6  프로브셋 사양 · 예시</a:t>
            </a:r>
            <a:endParaRPr lang="en-US" sz="1000" dirty="0"/>
          </a:p>
        </p:txBody>
      </p:sp>
      <p:sp>
        <p:nvSpPr>
          <p:cNvPr id="11" name="Text 9"/>
          <p:cNvSpPr/>
          <p:nvPr/>
        </p:nvSpPr>
        <p:spPr>
          <a:xfrm>
            <a:off x="6263640" y="4224528"/>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A7  프로브셋 타당성 검토</a:t>
            </a:r>
            <a:endParaRPr lang="en-US" sz="1000" dirty="0"/>
          </a:p>
        </p:txBody>
      </p:sp>
      <p:sp>
        <p:nvSpPr>
          <p:cNvPr id="12" name="Text 10"/>
          <p:cNvSpPr/>
          <p:nvPr/>
        </p:nvSpPr>
        <p:spPr>
          <a:xfrm>
            <a:off x="8869680" y="4224528"/>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A8  항목별 상세</a:t>
            </a:r>
            <a:endParaRPr lang="en-US" sz="1000" dirty="0"/>
          </a:p>
        </p:txBody>
      </p:sp>
      <p:sp>
        <p:nvSpPr>
          <p:cNvPr id="13" name="Text 11"/>
          <p:cNvSpPr/>
          <p:nvPr/>
        </p:nvSpPr>
        <p:spPr>
          <a:xfrm>
            <a:off x="1051560" y="4608576"/>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A9  규칙 레이어 상세</a:t>
            </a:r>
            <a:endParaRPr lang="en-US" sz="1000" dirty="0"/>
          </a:p>
        </p:txBody>
      </p:sp>
      <p:sp>
        <p:nvSpPr>
          <p:cNvPr id="14" name="Text 12"/>
          <p:cNvSpPr/>
          <p:nvPr/>
        </p:nvSpPr>
        <p:spPr>
          <a:xfrm>
            <a:off x="3657600" y="4608576"/>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A10  모델카드 ① 구조 · 성능</a:t>
            </a:r>
            <a:endParaRPr lang="en-US" sz="1000" dirty="0"/>
          </a:p>
        </p:txBody>
      </p:sp>
      <p:sp>
        <p:nvSpPr>
          <p:cNvPr id="15" name="Text 13"/>
          <p:cNvSpPr/>
          <p:nvPr/>
        </p:nvSpPr>
        <p:spPr>
          <a:xfrm>
            <a:off x="6263640" y="4608576"/>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A11  모델카드 ② 제약 · 리스크</a:t>
            </a:r>
            <a:endParaRPr lang="en-US" sz="1000" dirty="0"/>
          </a:p>
        </p:txBody>
      </p:sp>
      <p:sp>
        <p:nvSpPr>
          <p:cNvPr id="16" name="Text 14"/>
          <p:cNvSpPr/>
          <p:nvPr/>
        </p:nvSpPr>
        <p:spPr>
          <a:xfrm>
            <a:off x="8869680" y="4608576"/>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A12  컴플라이언스 근거</a:t>
            </a:r>
            <a:endParaRPr lang="en-US" sz="1000" dirty="0"/>
          </a:p>
        </p:txBody>
      </p:sp>
      <p:sp>
        <p:nvSpPr>
          <p:cNvPr id="17" name="Text 15"/>
          <p:cNvSpPr/>
          <p:nvPr/>
        </p:nvSpPr>
        <p:spPr>
          <a:xfrm>
            <a:off x="1051560" y="4992624"/>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A13  디코딩 구성 후속 제안</a:t>
            </a:r>
            <a:endParaRPr lang="en-US" sz="1000" dirty="0"/>
          </a:p>
        </p:txBody>
      </p:sp>
      <p:sp>
        <p:nvSpPr>
          <p:cNvPr id="18" name="Text 16"/>
          <p:cNvSpPr/>
          <p:nvPr/>
        </p:nvSpPr>
        <p:spPr>
          <a:xfrm>
            <a:off x="3657600" y="4992624"/>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A14  오픈소스 대안 검토</a:t>
            </a:r>
            <a:endParaRPr lang="en-US" sz="1000" dirty="0"/>
          </a:p>
        </p:txBody>
      </p:sp>
      <p:sp>
        <p:nvSpPr>
          <p:cNvPr id="19" name="Text 17"/>
          <p:cNvSpPr/>
          <p:nvPr/>
        </p:nvSpPr>
        <p:spPr>
          <a:xfrm>
            <a:off x="6263640" y="4992624"/>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A15  한계 및 재현 절차</a:t>
            </a:r>
            <a:endParaRPr lang="en-US" sz="1000" dirty="0"/>
          </a:p>
        </p:txBody>
      </p:sp>
      <p:sp>
        <p:nvSpPr>
          <p:cNvPr id="20" name="Text 18"/>
          <p:cNvSpPr/>
          <p:nvPr/>
        </p:nvSpPr>
        <p:spPr>
          <a:xfrm>
            <a:off x="8869680" y="4992624"/>
            <a:ext cx="2560320" cy="329184"/>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A16  출처 · 고지</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A1</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매칭 규칙 및 입력 처리</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A1</a:t>
            </a:r>
            <a:endParaRPr lang="en-US" sz="1000" dirty="0"/>
          </a:p>
        </p:txBody>
      </p:sp>
      <p:sp>
        <p:nvSpPr>
          <p:cNvPr id="5" name="Shape 3"/>
          <p:cNvSpPr/>
          <p:nvPr/>
        </p:nvSpPr>
        <p:spPr>
          <a:xfrm>
            <a:off x="566928" y="950976"/>
            <a:ext cx="5391760" cy="2505456"/>
          </a:xfrm>
          <a:prstGeom prst="roundRect">
            <a:avLst>
              <a:gd name="adj" fmla="val 2190"/>
            </a:avLst>
          </a:prstGeom>
          <a:solidFill>
            <a:srgbClr val="F7F8FB"/>
          </a:solidFill>
          <a:ln w="9525">
            <a:solidFill>
              <a:srgbClr val="DFE3EC"/>
            </a:solidFill>
            <a:prstDash val="solid"/>
          </a:ln>
        </p:spPr>
      </p:sp>
      <p:sp>
        <p:nvSpPr>
          <p:cNvPr id="6" name="Shape 4"/>
          <p:cNvSpPr/>
          <p:nvPr/>
        </p:nvSpPr>
        <p:spPr>
          <a:xfrm>
            <a:off x="731520" y="1078992"/>
            <a:ext cx="2011680" cy="274320"/>
          </a:xfrm>
          <a:prstGeom prst="roundRect">
            <a:avLst>
              <a:gd name="adj" fmla="val 16667"/>
            </a:avLst>
          </a:prstGeom>
          <a:solidFill>
            <a:srgbClr val="1E2761"/>
          </a:solidFill>
          <a:ln w="6350">
            <a:solidFill>
              <a:srgbClr val="1E2761"/>
            </a:solidFill>
            <a:prstDash val="solid"/>
          </a:ln>
        </p:spPr>
      </p:sp>
      <p:sp>
        <p:nvSpPr>
          <p:cNvPr id="7" name="Text 5"/>
          <p:cNvSpPr/>
          <p:nvPr/>
        </p:nvSpPr>
        <p:spPr>
          <a:xfrm>
            <a:off x="731520" y="107899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스팬 매칭 규칙</a:t>
            </a:r>
            <a:endParaRPr lang="en-US" sz="1050" dirty="0"/>
          </a:p>
        </p:txBody>
      </p:sp>
      <p:sp>
        <p:nvSpPr>
          <p:cNvPr id="8" name="Text 6"/>
          <p:cNvSpPr/>
          <p:nvPr/>
        </p:nvSpPr>
        <p:spPr>
          <a:xfrm>
            <a:off x="749808" y="1499616"/>
            <a:ext cx="155448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재현율 판정</a:t>
            </a:r>
            <a:endParaRPr lang="en-US" sz="950" dirty="0"/>
          </a:p>
        </p:txBody>
      </p:sp>
      <p:sp>
        <p:nvSpPr>
          <p:cNvPr id="9" name="Text 7"/>
          <p:cNvSpPr/>
          <p:nvPr/>
        </p:nvSpPr>
        <p:spPr>
          <a:xfrm>
            <a:off x="2304288" y="1499616"/>
            <a:ext cx="347152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스팬의 모든 문자가 예측 스팬에 포함되면 탐지</a:t>
            </a:r>
            <a:endParaRPr lang="en-US" sz="950" dirty="0"/>
          </a:p>
        </p:txBody>
      </p:sp>
      <p:sp>
        <p:nvSpPr>
          <p:cNvPr id="10" name="Text 8"/>
          <p:cNvSpPr/>
          <p:nvPr/>
        </p:nvSpPr>
        <p:spPr>
          <a:xfrm>
            <a:off x="749808" y="1796796"/>
            <a:ext cx="155448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정밀도 판정</a:t>
            </a:r>
            <a:endParaRPr lang="en-US" sz="950" dirty="0"/>
          </a:p>
        </p:txBody>
      </p:sp>
      <p:sp>
        <p:nvSpPr>
          <p:cNvPr id="11" name="Text 9"/>
          <p:cNvSpPr/>
          <p:nvPr/>
        </p:nvSpPr>
        <p:spPr>
          <a:xfrm>
            <a:off x="2304288" y="1796796"/>
            <a:ext cx="347152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예측 스팬의 모든 문자가 정답 스팬에 포함되면 정탐</a:t>
            </a:r>
            <a:endParaRPr lang="en-US" sz="950" dirty="0"/>
          </a:p>
        </p:txBody>
      </p:sp>
      <p:sp>
        <p:nvSpPr>
          <p:cNvPr id="12" name="Text 10"/>
          <p:cNvSpPr/>
          <p:nvPr/>
        </p:nvSpPr>
        <p:spPr>
          <a:xfrm>
            <a:off x="749808" y="2093976"/>
            <a:ext cx="155448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부분 노출</a:t>
            </a:r>
            <a:endParaRPr lang="en-US" sz="950" dirty="0"/>
          </a:p>
        </p:txBody>
      </p:sp>
      <p:sp>
        <p:nvSpPr>
          <p:cNvPr id="13" name="Text 11"/>
          <p:cNvSpPr/>
          <p:nvPr/>
        </p:nvSpPr>
        <p:spPr>
          <a:xfrm>
            <a:off x="2304288" y="2093976"/>
            <a:ext cx="347152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일부만 덮여 나머지 문자가 남은 경우</a:t>
            </a:r>
            <a:endParaRPr lang="en-US" sz="950" dirty="0"/>
          </a:p>
        </p:txBody>
      </p:sp>
      <p:sp>
        <p:nvSpPr>
          <p:cNvPr id="14" name="Text 12"/>
          <p:cNvSpPr/>
          <p:nvPr/>
        </p:nvSpPr>
        <p:spPr>
          <a:xfrm>
            <a:off x="749808" y="2391156"/>
            <a:ext cx="155448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분할 피복</a:t>
            </a:r>
            <a:endParaRPr lang="en-US" sz="950" dirty="0"/>
          </a:p>
        </p:txBody>
      </p:sp>
      <p:sp>
        <p:nvSpPr>
          <p:cNvPr id="15" name="Text 13"/>
          <p:cNvSpPr/>
          <p:nvPr/>
        </p:nvSpPr>
        <p:spPr>
          <a:xfrm>
            <a:off x="2304288" y="2391156"/>
            <a:ext cx="347152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복수 예측이 정답 하나를 나눠 덮은 경우</a:t>
            </a:r>
            <a:endParaRPr lang="en-US" sz="950" dirty="0"/>
          </a:p>
        </p:txBody>
      </p:sp>
      <p:sp>
        <p:nvSpPr>
          <p:cNvPr id="16" name="Text 14"/>
          <p:cNvSpPr/>
          <p:nvPr/>
        </p:nvSpPr>
        <p:spPr>
          <a:xfrm>
            <a:off x="749808" y="2688336"/>
            <a:ext cx="155448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EM</a:t>
            </a:r>
            <a:endParaRPr lang="en-US" sz="950" dirty="0"/>
          </a:p>
        </p:txBody>
      </p:sp>
      <p:sp>
        <p:nvSpPr>
          <p:cNvPr id="17" name="Text 15"/>
          <p:cNvSpPr/>
          <p:nvPr/>
        </p:nvSpPr>
        <p:spPr>
          <a:xfrm>
            <a:off x="2304288" y="2688336"/>
            <a:ext cx="347152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정답과 예측의 시작·종료 오프셋이 정확히 일치</a:t>
            </a:r>
            <a:endParaRPr lang="en-US" sz="950" dirty="0"/>
          </a:p>
        </p:txBody>
      </p:sp>
      <p:sp>
        <p:nvSpPr>
          <p:cNvPr id="18" name="Text 16"/>
          <p:cNvSpPr/>
          <p:nvPr/>
        </p:nvSpPr>
        <p:spPr>
          <a:xfrm>
            <a:off x="749808" y="2985516"/>
            <a:ext cx="155448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단위</a:t>
            </a:r>
            <a:endParaRPr lang="en-US" sz="950" dirty="0"/>
          </a:p>
        </p:txBody>
      </p:sp>
      <p:sp>
        <p:nvSpPr>
          <p:cNvPr id="19" name="Text 17"/>
          <p:cNvSpPr/>
          <p:nvPr/>
        </p:nvSpPr>
        <p:spPr>
          <a:xfrm>
            <a:off x="2304288" y="2985516"/>
            <a:ext cx="347152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문자 오프셋 기준 (토큰 아님)</a:t>
            </a:r>
            <a:endParaRPr lang="en-US" sz="950" dirty="0"/>
          </a:p>
        </p:txBody>
      </p:sp>
      <p:sp>
        <p:nvSpPr>
          <p:cNvPr id="20" name="Shape 18"/>
          <p:cNvSpPr/>
          <p:nvPr/>
        </p:nvSpPr>
        <p:spPr>
          <a:xfrm>
            <a:off x="6233008" y="950976"/>
            <a:ext cx="5391760" cy="2505456"/>
          </a:xfrm>
          <a:prstGeom prst="roundRect">
            <a:avLst>
              <a:gd name="adj" fmla="val 2190"/>
            </a:avLst>
          </a:prstGeom>
          <a:solidFill>
            <a:srgbClr val="EDF3FD"/>
          </a:solidFill>
          <a:ln w="9525">
            <a:solidFill>
              <a:srgbClr val="D0DEF6"/>
            </a:solidFill>
            <a:prstDash val="solid"/>
          </a:ln>
        </p:spPr>
      </p:sp>
      <p:sp>
        <p:nvSpPr>
          <p:cNvPr id="21" name="Shape 19"/>
          <p:cNvSpPr/>
          <p:nvPr/>
        </p:nvSpPr>
        <p:spPr>
          <a:xfrm>
            <a:off x="6397600" y="1078992"/>
            <a:ext cx="2377440" cy="274320"/>
          </a:xfrm>
          <a:prstGeom prst="roundRect">
            <a:avLst>
              <a:gd name="adj" fmla="val 16667"/>
            </a:avLst>
          </a:prstGeom>
          <a:solidFill>
            <a:srgbClr val="1E2761"/>
          </a:solidFill>
          <a:ln w="6350">
            <a:solidFill>
              <a:srgbClr val="1E2761"/>
            </a:solidFill>
            <a:prstDash val="solid"/>
          </a:ln>
        </p:spPr>
      </p:sp>
      <p:sp>
        <p:nvSpPr>
          <p:cNvPr id="22" name="Text 20"/>
          <p:cNvSpPr/>
          <p:nvPr/>
        </p:nvSpPr>
        <p:spPr>
          <a:xfrm>
            <a:off x="6397600" y="1078992"/>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토큰 통계 (실측)</a:t>
            </a:r>
            <a:endParaRPr lang="en-US" sz="1050" dirty="0"/>
          </a:p>
        </p:txBody>
      </p:sp>
      <p:sp>
        <p:nvSpPr>
          <p:cNvPr id="23" name="Text 21"/>
          <p:cNvSpPr/>
          <p:nvPr/>
        </p:nvSpPr>
        <p:spPr>
          <a:xfrm>
            <a:off x="6415888" y="1499616"/>
            <a:ext cx="192024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총 토큰</a:t>
            </a:r>
            <a:endParaRPr lang="en-US" sz="950" dirty="0"/>
          </a:p>
        </p:txBody>
      </p:sp>
      <p:sp>
        <p:nvSpPr>
          <p:cNvPr id="24" name="Text 22"/>
          <p:cNvSpPr/>
          <p:nvPr/>
        </p:nvSpPr>
        <p:spPr>
          <a:xfrm>
            <a:off x="8336128" y="1499616"/>
            <a:ext cx="310576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767,313</a:t>
            </a:r>
            <a:endParaRPr lang="en-US" sz="950" dirty="0"/>
          </a:p>
        </p:txBody>
      </p:sp>
      <p:sp>
        <p:nvSpPr>
          <p:cNvPr id="25" name="Text 23"/>
          <p:cNvSpPr/>
          <p:nvPr/>
        </p:nvSpPr>
        <p:spPr>
          <a:xfrm>
            <a:off x="6415888" y="1796796"/>
            <a:ext cx="192024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최소 / 중앙 / 평균</a:t>
            </a:r>
            <a:endParaRPr lang="en-US" sz="950" dirty="0"/>
          </a:p>
        </p:txBody>
      </p:sp>
      <p:sp>
        <p:nvSpPr>
          <p:cNvPr id="26" name="Text 24"/>
          <p:cNvSpPr/>
          <p:nvPr/>
        </p:nvSpPr>
        <p:spPr>
          <a:xfrm>
            <a:off x="8336128" y="1796796"/>
            <a:ext cx="310576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34 / 244 / 256</a:t>
            </a:r>
            <a:endParaRPr lang="en-US" sz="950" dirty="0"/>
          </a:p>
        </p:txBody>
      </p:sp>
      <p:sp>
        <p:nvSpPr>
          <p:cNvPr id="27" name="Text 25"/>
          <p:cNvSpPr/>
          <p:nvPr/>
        </p:nvSpPr>
        <p:spPr>
          <a:xfrm>
            <a:off x="6415888" y="2093976"/>
            <a:ext cx="192024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최대</a:t>
            </a:r>
            <a:endParaRPr lang="en-US" sz="950" dirty="0"/>
          </a:p>
        </p:txBody>
      </p:sp>
      <p:sp>
        <p:nvSpPr>
          <p:cNvPr id="28" name="Text 26"/>
          <p:cNvSpPr/>
          <p:nvPr/>
        </p:nvSpPr>
        <p:spPr>
          <a:xfrm>
            <a:off x="8336128" y="2093976"/>
            <a:ext cx="310576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736</a:t>
            </a:r>
            <a:endParaRPr lang="en-US" sz="950" dirty="0"/>
          </a:p>
        </p:txBody>
      </p:sp>
      <p:sp>
        <p:nvSpPr>
          <p:cNvPr id="29" name="Text 27"/>
          <p:cNvSpPr/>
          <p:nvPr/>
        </p:nvSpPr>
        <p:spPr>
          <a:xfrm>
            <a:off x="6415888" y="2391156"/>
            <a:ext cx="192024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p90 / p95 / p99</a:t>
            </a:r>
            <a:endParaRPr lang="en-US" sz="950" dirty="0"/>
          </a:p>
        </p:txBody>
      </p:sp>
      <p:sp>
        <p:nvSpPr>
          <p:cNvPr id="30" name="Text 28"/>
          <p:cNvSpPr/>
          <p:nvPr/>
        </p:nvSpPr>
        <p:spPr>
          <a:xfrm>
            <a:off x="8336128" y="2391156"/>
            <a:ext cx="310576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391 / 438 / 537</a:t>
            </a:r>
            <a:endParaRPr lang="en-US" sz="950" dirty="0"/>
          </a:p>
        </p:txBody>
      </p:sp>
      <p:sp>
        <p:nvSpPr>
          <p:cNvPr id="31" name="Text 29"/>
          <p:cNvSpPr/>
          <p:nvPr/>
        </p:nvSpPr>
        <p:spPr>
          <a:xfrm>
            <a:off x="6415888" y="2688336"/>
            <a:ext cx="192024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문서 길이 (문자)</a:t>
            </a:r>
            <a:endParaRPr lang="en-US" sz="950" dirty="0"/>
          </a:p>
        </p:txBody>
      </p:sp>
      <p:sp>
        <p:nvSpPr>
          <p:cNvPr id="32" name="Text 30"/>
          <p:cNvSpPr/>
          <p:nvPr/>
        </p:nvSpPr>
        <p:spPr>
          <a:xfrm>
            <a:off x="8336128" y="2688336"/>
            <a:ext cx="310576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평균 464 · 중앙 441 · 최대 1,280</a:t>
            </a:r>
            <a:endParaRPr lang="en-US" sz="950" dirty="0"/>
          </a:p>
        </p:txBody>
      </p:sp>
      <p:sp>
        <p:nvSpPr>
          <p:cNvPr id="33" name="Text 31"/>
          <p:cNvSpPr/>
          <p:nvPr/>
        </p:nvSpPr>
        <p:spPr>
          <a:xfrm>
            <a:off x="6415888" y="2985516"/>
            <a:ext cx="1920240" cy="297180"/>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한국어 환산</a:t>
            </a:r>
            <a:endParaRPr lang="en-US" sz="950" dirty="0"/>
          </a:p>
        </p:txBody>
      </p:sp>
      <p:sp>
        <p:nvSpPr>
          <p:cNvPr id="34" name="Text 32"/>
          <p:cNvSpPr/>
          <p:nvPr/>
        </p:nvSpPr>
        <p:spPr>
          <a:xfrm>
            <a:off x="8336128" y="2985516"/>
            <a:ext cx="3105760" cy="297180"/>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약 1.8자 / 토큰</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3621024"/>
          <a:ext cx="11057839" cy="914400"/>
        </p:xfrm>
        <a:graphic>
          <a:graphicData uri="http://schemas.openxmlformats.org/drawingml/2006/table">
            <a:tbl>
              <a:tblPr/>
              <a:tblGrid>
                <a:gridCol w="1737360"/>
                <a:gridCol w="1463040"/>
                <a:gridCol w="914400"/>
                <a:gridCol w="6943039"/>
              </a:tblGrid>
              <a:tr h="292608">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구간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문서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의미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92608">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257토큰 초과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1,347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44.90%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실효 어텐션 창(257토큰)을 넘어 양 끝 토큰이 서로를 참조하지 못함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92608">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512토큰 초과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47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장문 소수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92608">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1,024토큰 초과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기본 n_ctx에서 잘리는 문서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36" name="Shape 33"/>
          <p:cNvSpPr/>
          <p:nvPr/>
        </p:nvSpPr>
        <p:spPr>
          <a:xfrm>
            <a:off x="566928" y="4956048"/>
            <a:ext cx="11057839" cy="822960"/>
          </a:xfrm>
          <a:prstGeom prst="roundRect">
            <a:avLst>
              <a:gd name="adj" fmla="val 6667"/>
            </a:avLst>
          </a:prstGeom>
          <a:solidFill>
            <a:srgbClr val="EDF3FD"/>
          </a:solidFill>
          <a:ln w="9525">
            <a:solidFill>
              <a:srgbClr val="EDF3FD"/>
            </a:solidFill>
            <a:prstDash val="solid"/>
          </a:ln>
        </p:spPr>
      </p:sp>
      <p:sp>
        <p:nvSpPr>
          <p:cNvPr id="37" name="Text 34"/>
          <p:cNvSpPr/>
          <p:nvPr/>
        </p:nvSpPr>
        <p:spPr>
          <a:xfrm>
            <a:off x="713232" y="4992624"/>
            <a:ext cx="10765231" cy="749808"/>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입력 분할을 적용하지 않은 근거 — 최대 문서가 736토큰으로 기본 n_ctx(128,000)에 크게 못 미쳐 절단이 발생하지 않으며, 임의 분할은 오히려 스팬을 경계에서 끊어 미탐을 유발합니다. 다만 문서의 44.90%가 실효 어텐션 창 257토큰을 초과하므로, 문서 앞부분에서 정의된 참조를 뒷부분에서 해석해야 하는 유형은 구조적으로 탐지 범위 밖입니다.</a:t>
            </a:r>
            <a:endParaRPr lang="en-US" sz="950" dirty="0"/>
          </a:p>
        </p:txBody>
      </p:sp>
      <p:sp>
        <p:nvSpPr>
          <p:cNvPr id="38" name="Text 35"/>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실효 어텐션 창 : 밴드 어텐션 band size 128 → 좌 128 + 우 128 + 자기 자신 1 = 257토큰 (Model Card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A2</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지표 정의</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A2</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2011680"/>
                <a:gridCol w="3566160"/>
                <a:gridCol w="2103120"/>
                <a:gridCol w="3376879"/>
              </a:tblGrid>
              <a:tr h="283464">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정의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계산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본 보고 값</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 (Recall)</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스팬 중 예측이 덮은 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TP / (TP + FN)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24,489 / 28,420 (86.17%)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정밀도 (Precision)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예측 스팬 중 정답에 귀속된 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TP / (TP + FP)</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14,784 / 34,658 (42.66%)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정밀도·재현율 조화평균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2PR / (P + R)</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0.5706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 가중 조화평균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5PR / (4P + R)</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0.7157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경계 오프셋 정확 일치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완전일치 / 정답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11,084 / 28,420 (39.00%)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문서 단위 미탐률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 건이라도 미탐·부분노출이 있는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해당문서 / 전체문서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2,040 / 3,000 (68.00%)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과잉 마스킹</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정답이 아닌데 마스킹된 문자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문자 단위 집계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5C6273"/>
                          </a:solidFill>
                          <a:latin typeface="Malgun Gothic" pitchFamily="34" charset="0"/>
                          <a:ea typeface="Malgun Gothic" pitchFamily="34" charset="-122"/>
                          <a:cs typeface="Malgun Gothic" pitchFamily="34" charset="-120"/>
                        </a:rPr>
                        <a:t>117,746 / 1,392,067 (8.46%)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3364992"/>
            <a:ext cx="11057839" cy="1627632"/>
          </a:xfrm>
          <a:prstGeom prst="roundRect">
            <a:avLst>
              <a:gd name="adj" fmla="val 3371"/>
            </a:avLst>
          </a:prstGeom>
          <a:solidFill>
            <a:srgbClr val="EDF3FD"/>
          </a:solidFill>
          <a:ln w="9525">
            <a:solidFill>
              <a:srgbClr val="D0DEF6"/>
            </a:solidFill>
            <a:prstDash val="solid"/>
          </a:ln>
        </p:spPr>
      </p:sp>
      <p:sp>
        <p:nvSpPr>
          <p:cNvPr id="7" name="Shape 4"/>
          <p:cNvSpPr/>
          <p:nvPr/>
        </p:nvSpPr>
        <p:spPr>
          <a:xfrm>
            <a:off x="731520" y="3474720"/>
            <a:ext cx="3291840" cy="274320"/>
          </a:xfrm>
          <a:prstGeom prst="roundRect">
            <a:avLst>
              <a:gd name="adj" fmla="val 16667"/>
            </a:avLst>
          </a:prstGeom>
          <a:solidFill>
            <a:srgbClr val="1E2761"/>
          </a:solidFill>
          <a:ln w="6350">
            <a:solidFill>
              <a:srgbClr val="1E2761"/>
            </a:solidFill>
            <a:prstDash val="solid"/>
          </a:ln>
        </p:spPr>
      </p:sp>
      <p:sp>
        <p:nvSpPr>
          <p:cNvPr id="8" name="Text 5"/>
          <p:cNvSpPr/>
          <p:nvPr/>
        </p:nvSpPr>
        <p:spPr>
          <a:xfrm>
            <a:off x="731520" y="3474720"/>
            <a:ext cx="32918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재현율·정밀도 비대칭 도식</a:t>
            </a:r>
            <a:endParaRPr lang="en-US" sz="1050" dirty="0"/>
          </a:p>
        </p:txBody>
      </p:sp>
      <p:sp>
        <p:nvSpPr>
          <p:cNvPr id="9" name="Text 6"/>
          <p:cNvSpPr/>
          <p:nvPr/>
        </p:nvSpPr>
        <p:spPr>
          <a:xfrm>
            <a:off x="786384" y="3858768"/>
            <a:ext cx="2103120" cy="292608"/>
          </a:xfrm>
          <a:prstGeom prst="rect">
            <a:avLst/>
          </a:prstGeom>
          <a:noFill/>
          <a:ln/>
        </p:spPr>
        <p:txBody>
          <a:bodyPr wrap="square" lIns="0" tIns="0" rIns="0" bIns="0" rtlCol="0" anchor="ctr"/>
          <a:lstStyle/>
          <a:p>
            <a:pPr algn="l" indent="0" marL="0">
              <a:buNone/>
            </a:pPr>
            <a:r>
              <a:rPr lang="en-US" sz="1000" dirty="0">
                <a:solidFill>
                  <a:srgbClr val="5C6273"/>
                </a:solidFill>
                <a:latin typeface="Malgun Gothic" pitchFamily="34" charset="0"/>
                <a:ea typeface="Malgun Gothic" pitchFamily="34" charset="-122"/>
                <a:cs typeface="Malgun Gothic" pitchFamily="34" charset="-120"/>
              </a:rPr>
              <a:t>정답 스팬</a:t>
            </a:r>
            <a:endParaRPr lang="en-US" sz="1000" dirty="0"/>
          </a:p>
        </p:txBody>
      </p:sp>
      <p:sp>
        <p:nvSpPr>
          <p:cNvPr id="10" name="Text 7"/>
          <p:cNvSpPr/>
          <p:nvPr/>
        </p:nvSpPr>
        <p:spPr>
          <a:xfrm>
            <a:off x="2944368" y="3858768"/>
            <a:ext cx="7772400" cy="292608"/>
          </a:xfrm>
          <a:prstGeom prst="rect">
            <a:avLst/>
          </a:prstGeom>
          <a:noFill/>
          <a:ln/>
        </p:spPr>
        <p:txBody>
          <a:bodyPr wrap="square" lIns="0" tIns="0" rIns="0" bIns="0" rtlCol="0" anchor="ctr"/>
          <a:lstStyle/>
          <a:p>
            <a:pPr algn="l" indent="0" marL="0">
              <a:buNone/>
            </a:pPr>
            <a:r>
              <a:rPr lang="en-US" sz="1100" b="1" dirty="0">
                <a:solidFill>
                  <a:srgbClr val="1E2761"/>
                </a:solidFill>
                <a:latin typeface="Consolas" pitchFamily="34" charset="0"/>
                <a:ea typeface="Consolas" pitchFamily="34" charset="-122"/>
                <a:cs typeface="Consolas" pitchFamily="34" charset="-120"/>
              </a:rPr>
              <a:t>홍길동</a:t>
            </a:r>
            <a:endParaRPr lang="en-US" sz="1100" dirty="0"/>
          </a:p>
        </p:txBody>
      </p:sp>
      <p:sp>
        <p:nvSpPr>
          <p:cNvPr id="11" name="Text 8"/>
          <p:cNvSpPr/>
          <p:nvPr/>
        </p:nvSpPr>
        <p:spPr>
          <a:xfrm>
            <a:off x="786384" y="4206240"/>
            <a:ext cx="2103120" cy="292608"/>
          </a:xfrm>
          <a:prstGeom prst="rect">
            <a:avLst/>
          </a:prstGeom>
          <a:noFill/>
          <a:ln/>
        </p:spPr>
        <p:txBody>
          <a:bodyPr wrap="square" lIns="0" tIns="0" rIns="0" bIns="0" rtlCol="0" anchor="ctr"/>
          <a:lstStyle/>
          <a:p>
            <a:pPr algn="l" indent="0" marL="0">
              <a:buNone/>
            </a:pPr>
            <a:r>
              <a:rPr lang="en-US" sz="1000" dirty="0">
                <a:solidFill>
                  <a:srgbClr val="5C6273"/>
                </a:solidFill>
                <a:latin typeface="Malgun Gothic" pitchFamily="34" charset="0"/>
                <a:ea typeface="Malgun Gothic" pitchFamily="34" charset="-122"/>
                <a:cs typeface="Malgun Gothic" pitchFamily="34" charset="-120"/>
              </a:rPr>
              <a:t>예측이 더 넓은 경우</a:t>
            </a:r>
            <a:endParaRPr lang="en-US" sz="1000" dirty="0"/>
          </a:p>
        </p:txBody>
      </p:sp>
      <p:sp>
        <p:nvSpPr>
          <p:cNvPr id="12" name="Text 9"/>
          <p:cNvSpPr/>
          <p:nvPr/>
        </p:nvSpPr>
        <p:spPr>
          <a:xfrm>
            <a:off x="2944368" y="4206240"/>
            <a:ext cx="7772400" cy="292608"/>
          </a:xfrm>
          <a:prstGeom prst="rect">
            <a:avLst/>
          </a:prstGeom>
          <a:noFill/>
          <a:ln/>
        </p:spPr>
        <p:txBody>
          <a:bodyPr wrap="square" lIns="0" tIns="0" rIns="0" bIns="0" rtlCol="0" anchor="ctr"/>
          <a:lstStyle/>
          <a:p>
            <a:pPr algn="l" indent="0" marL="0">
              <a:buNone/>
            </a:pPr>
            <a:r>
              <a:rPr lang="en-US" sz="1100" b="1" dirty="0">
                <a:solidFill>
                  <a:srgbClr val="39479B"/>
                </a:solidFill>
                <a:latin typeface="Consolas" pitchFamily="34" charset="0"/>
                <a:ea typeface="Consolas" pitchFamily="34" charset="-122"/>
                <a:cs typeface="Consolas" pitchFamily="34" charset="-120"/>
              </a:rPr>
              <a:t>홍길동 고객님</a:t>
            </a:r>
            <a:endParaRPr lang="en-US" sz="1100" dirty="0"/>
          </a:p>
        </p:txBody>
      </p:sp>
      <p:sp>
        <p:nvSpPr>
          <p:cNvPr id="13" name="Text 10"/>
          <p:cNvSpPr/>
          <p:nvPr/>
        </p:nvSpPr>
        <p:spPr>
          <a:xfrm>
            <a:off x="786384" y="4553712"/>
            <a:ext cx="2103120" cy="292608"/>
          </a:xfrm>
          <a:prstGeom prst="rect">
            <a:avLst/>
          </a:prstGeom>
          <a:noFill/>
          <a:ln/>
        </p:spPr>
        <p:txBody>
          <a:bodyPr wrap="square" lIns="0" tIns="0" rIns="0" bIns="0" rtlCol="0" anchor="ctr"/>
          <a:lstStyle/>
          <a:p>
            <a:pPr algn="l" indent="0" marL="0">
              <a:buNone/>
            </a:pPr>
            <a:r>
              <a:rPr lang="en-US" sz="1000" dirty="0">
                <a:solidFill>
                  <a:srgbClr val="5C6273"/>
                </a:solidFill>
                <a:latin typeface="Malgun Gothic" pitchFamily="34" charset="0"/>
                <a:ea typeface="Malgun Gothic" pitchFamily="34" charset="-122"/>
                <a:cs typeface="Malgun Gothic" pitchFamily="34" charset="-120"/>
              </a:rPr>
              <a:t>판정</a:t>
            </a:r>
            <a:endParaRPr lang="en-US" sz="1000" dirty="0"/>
          </a:p>
        </p:txBody>
      </p:sp>
      <p:sp>
        <p:nvSpPr>
          <p:cNvPr id="14" name="Text 11"/>
          <p:cNvSpPr/>
          <p:nvPr/>
        </p:nvSpPr>
        <p:spPr>
          <a:xfrm>
            <a:off x="2944368" y="4553712"/>
            <a:ext cx="7772400" cy="292608"/>
          </a:xfrm>
          <a:prstGeom prst="rect">
            <a:avLst/>
          </a:prstGeom>
          <a:noFill/>
          <a:ln/>
        </p:spPr>
        <p:txBody>
          <a:bodyPr wrap="square" lIns="0" tIns="0" rIns="0" bIns="0" rtlCol="0" anchor="ctr"/>
          <a:lstStyle/>
          <a:p>
            <a:pPr algn="l" indent="0" marL="0">
              <a:buNone/>
            </a:pPr>
            <a:r>
              <a:rPr lang="en-US" sz="1000" b="1" dirty="0">
                <a:solidFill>
                  <a:srgbClr val="8E2420"/>
                </a:solidFill>
                <a:latin typeface="Malgun Gothic" pitchFamily="34" charset="0"/>
                <a:ea typeface="Malgun Gothic" pitchFamily="34" charset="-122"/>
                <a:cs typeface="Malgun Gothic" pitchFamily="34" charset="-120"/>
              </a:rPr>
              <a:t>재현율 통과 · 정밀도 실패 · EM 실패</a:t>
            </a:r>
            <a:endParaRPr lang="en-US" sz="1000" dirty="0"/>
          </a:p>
        </p:txBody>
      </p:sp>
      <p:sp>
        <p:nvSpPr>
          <p:cNvPr id="15" name="Shape 12"/>
          <p:cNvSpPr/>
          <p:nvPr/>
        </p:nvSpPr>
        <p:spPr>
          <a:xfrm>
            <a:off x="566928" y="5120640"/>
            <a:ext cx="11057839" cy="658368"/>
          </a:xfrm>
          <a:prstGeom prst="roundRect">
            <a:avLst>
              <a:gd name="adj" fmla="val 8333"/>
            </a:avLst>
          </a:prstGeom>
          <a:solidFill>
            <a:srgbClr val="EDF3FD"/>
          </a:solidFill>
          <a:ln w="9525">
            <a:solidFill>
              <a:srgbClr val="EDF3FD"/>
            </a:solidFill>
            <a:prstDash val="solid"/>
          </a:ln>
        </p:spPr>
      </p:sp>
      <p:sp>
        <p:nvSpPr>
          <p:cNvPr id="16" name="Text 13"/>
          <p:cNvSpPr/>
          <p:nvPr/>
        </p:nvSpPr>
        <p:spPr>
          <a:xfrm>
            <a:off x="713232" y="5157216"/>
            <a:ext cx="10765231" cy="585216"/>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이 규칙 때문에 경계를 넓게 잡는 모델은 재현율이 높고 정밀도가 낮게 나옵니다. 이메일(재현율 99.84% / 정밀도 6.91%)과 국문 성명(60.55% / 6.68%)이 그 예입니다. 본 보고는 컴플라이언스 관점에서 재현율을 우선하므로 이 비대칭을 그대로 두고 해석했습니다.</a:t>
            </a:r>
            <a:endParaRPr lang="en-US" sz="950" dirty="0"/>
          </a:p>
        </p:txBody>
      </p:sp>
      <p:sp>
        <p:nvSpPr>
          <p:cNvPr id="17" name="Text 14"/>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Accuracy는 배경 문자가 전체의 91.5%를 차지해 변별력이 없어 제외 (참고값 1,253,836 / 1,392,067)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A3</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테스트셋 사양</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A3</a:t>
            </a:r>
            <a:endParaRPr lang="en-US" sz="1000" dirty="0"/>
          </a:p>
        </p:txBody>
      </p:sp>
      <p:sp>
        <p:nvSpPr>
          <p:cNvPr id="5" name="Shape 3"/>
          <p:cNvSpPr/>
          <p:nvPr/>
        </p:nvSpPr>
        <p:spPr>
          <a:xfrm>
            <a:off x="566928" y="950976"/>
            <a:ext cx="5391760" cy="2340864"/>
          </a:xfrm>
          <a:prstGeom prst="roundRect">
            <a:avLst>
              <a:gd name="adj" fmla="val 2344"/>
            </a:avLst>
          </a:prstGeom>
          <a:solidFill>
            <a:srgbClr val="F7F8FB"/>
          </a:solidFill>
          <a:ln w="9525">
            <a:solidFill>
              <a:srgbClr val="DFE3EC"/>
            </a:solidFill>
            <a:prstDash val="solid"/>
          </a:ln>
        </p:spPr>
      </p:sp>
      <p:sp>
        <p:nvSpPr>
          <p:cNvPr id="6" name="Shape 4"/>
          <p:cNvSpPr/>
          <p:nvPr/>
        </p:nvSpPr>
        <p:spPr>
          <a:xfrm>
            <a:off x="731520" y="1078992"/>
            <a:ext cx="2011680" cy="274320"/>
          </a:xfrm>
          <a:prstGeom prst="roundRect">
            <a:avLst>
              <a:gd name="adj" fmla="val 16667"/>
            </a:avLst>
          </a:prstGeom>
          <a:solidFill>
            <a:srgbClr val="1E2761"/>
          </a:solidFill>
          <a:ln w="6350">
            <a:solidFill>
              <a:srgbClr val="1E2761"/>
            </a:solidFill>
            <a:prstDash val="solid"/>
          </a:ln>
        </p:spPr>
      </p:sp>
      <p:sp>
        <p:nvSpPr>
          <p:cNvPr id="7" name="Text 5"/>
          <p:cNvSpPr/>
          <p:nvPr/>
        </p:nvSpPr>
        <p:spPr>
          <a:xfrm>
            <a:off x="731520" y="107899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구성</a:t>
            </a:r>
            <a:endParaRPr lang="en-US" sz="1050" dirty="0"/>
          </a:p>
        </p:txBody>
      </p:sp>
      <p:sp>
        <p:nvSpPr>
          <p:cNvPr id="8" name="Text 6"/>
          <p:cNvSpPr/>
          <p:nvPr/>
        </p:nvSpPr>
        <p:spPr>
          <a:xfrm>
            <a:off x="749808" y="1481328"/>
            <a:ext cx="169164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원본</a:t>
            </a:r>
            <a:endParaRPr lang="en-US" sz="950" dirty="0"/>
          </a:p>
        </p:txBody>
      </p:sp>
      <p:sp>
        <p:nvSpPr>
          <p:cNvPr id="9" name="Text 7"/>
          <p:cNvSpPr/>
          <p:nvPr/>
        </p:nvSpPr>
        <p:spPr>
          <a:xfrm>
            <a:off x="2441448" y="1481328"/>
            <a:ext cx="333436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ai4privacy / pii-masking-openpii-1.5m 한국어 서브셋</a:t>
            </a:r>
            <a:endParaRPr lang="en-US" sz="950" dirty="0"/>
          </a:p>
        </p:txBody>
      </p:sp>
      <p:sp>
        <p:nvSpPr>
          <p:cNvPr id="10" name="Text 8"/>
          <p:cNvSpPr/>
          <p:nvPr/>
        </p:nvSpPr>
        <p:spPr>
          <a:xfrm>
            <a:off x="749808" y="1760220"/>
            <a:ext cx="169164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라이선스</a:t>
            </a:r>
            <a:endParaRPr lang="en-US" sz="950" dirty="0"/>
          </a:p>
        </p:txBody>
      </p:sp>
      <p:sp>
        <p:nvSpPr>
          <p:cNvPr id="11" name="Text 9"/>
          <p:cNvSpPr/>
          <p:nvPr/>
        </p:nvSpPr>
        <p:spPr>
          <a:xfrm>
            <a:off x="2441448" y="1760220"/>
            <a:ext cx="333436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CC BY 4.0 · 완전 합성 데이터</a:t>
            </a:r>
            <a:endParaRPr lang="en-US" sz="950" dirty="0"/>
          </a:p>
        </p:txBody>
      </p:sp>
      <p:sp>
        <p:nvSpPr>
          <p:cNvPr id="12" name="Text 10"/>
          <p:cNvSpPr/>
          <p:nvPr/>
        </p:nvSpPr>
        <p:spPr>
          <a:xfrm>
            <a:off x="749808" y="2039112"/>
            <a:ext cx="169164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규모</a:t>
            </a:r>
            <a:endParaRPr lang="en-US" sz="950" dirty="0"/>
          </a:p>
        </p:txBody>
      </p:sp>
      <p:sp>
        <p:nvSpPr>
          <p:cNvPr id="13" name="Text 11"/>
          <p:cNvSpPr/>
          <p:nvPr/>
        </p:nvSpPr>
        <p:spPr>
          <a:xfrm>
            <a:off x="2441448" y="2039112"/>
            <a:ext cx="333436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3,000문서 / 28,420스팬 (주입 2,048 포함)</a:t>
            </a:r>
            <a:endParaRPr lang="en-US" sz="950" dirty="0"/>
          </a:p>
        </p:txBody>
      </p:sp>
      <p:sp>
        <p:nvSpPr>
          <p:cNvPr id="14" name="Text 12"/>
          <p:cNvSpPr/>
          <p:nvPr/>
        </p:nvSpPr>
        <p:spPr>
          <a:xfrm>
            <a:off x="749808" y="2318004"/>
            <a:ext cx="169164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오프셋 정합</a:t>
            </a:r>
            <a:endParaRPr lang="en-US" sz="950" dirty="0"/>
          </a:p>
        </p:txBody>
      </p:sp>
      <p:sp>
        <p:nvSpPr>
          <p:cNvPr id="15" name="Text 13"/>
          <p:cNvSpPr/>
          <p:nvPr/>
        </p:nvSpPr>
        <p:spPr>
          <a:xfrm>
            <a:off x="2441448" y="2318004"/>
            <a:ext cx="333436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28,420 / 28,420 (100.00%)</a:t>
            </a:r>
            <a:endParaRPr lang="en-US" sz="950" dirty="0"/>
          </a:p>
        </p:txBody>
      </p:sp>
      <p:sp>
        <p:nvSpPr>
          <p:cNvPr id="16" name="Text 14"/>
          <p:cNvSpPr/>
          <p:nvPr/>
        </p:nvSpPr>
        <p:spPr>
          <a:xfrm>
            <a:off x="749808" y="2596896"/>
            <a:ext cx="169164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금융 문맥 문서</a:t>
            </a:r>
            <a:endParaRPr lang="en-US" sz="950" dirty="0"/>
          </a:p>
        </p:txBody>
      </p:sp>
      <p:sp>
        <p:nvSpPr>
          <p:cNvPr id="17" name="Text 15"/>
          <p:cNvSpPr/>
          <p:nvPr/>
        </p:nvSpPr>
        <p:spPr>
          <a:xfrm>
            <a:off x="2441448" y="2596896"/>
            <a:ext cx="333436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1,569 / 3,000 (52.30%)</a:t>
            </a:r>
            <a:endParaRPr lang="en-US" sz="950" dirty="0"/>
          </a:p>
        </p:txBody>
      </p:sp>
      <p:sp>
        <p:nvSpPr>
          <p:cNvPr id="18" name="Text 16"/>
          <p:cNvSpPr/>
          <p:nvPr/>
        </p:nvSpPr>
        <p:spPr>
          <a:xfrm>
            <a:off x="749808" y="2875788"/>
            <a:ext cx="169164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문서 길이</a:t>
            </a:r>
            <a:endParaRPr lang="en-US" sz="950" dirty="0"/>
          </a:p>
        </p:txBody>
      </p:sp>
      <p:sp>
        <p:nvSpPr>
          <p:cNvPr id="19" name="Text 17"/>
          <p:cNvSpPr/>
          <p:nvPr/>
        </p:nvSpPr>
        <p:spPr>
          <a:xfrm>
            <a:off x="2441448" y="2875788"/>
            <a:ext cx="333436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평균 464자 · 중앙 441자 · 최대 1,280자</a:t>
            </a:r>
            <a:endParaRPr lang="en-US" sz="950" dirty="0"/>
          </a:p>
        </p:txBody>
      </p:sp>
      <p:sp>
        <p:nvSpPr>
          <p:cNvPr id="20" name="Shape 18"/>
          <p:cNvSpPr/>
          <p:nvPr/>
        </p:nvSpPr>
        <p:spPr>
          <a:xfrm>
            <a:off x="6233008" y="950976"/>
            <a:ext cx="5391760" cy="2340864"/>
          </a:xfrm>
          <a:prstGeom prst="roundRect">
            <a:avLst>
              <a:gd name="adj" fmla="val 2344"/>
            </a:avLst>
          </a:prstGeom>
          <a:solidFill>
            <a:srgbClr val="EDF3FD"/>
          </a:solidFill>
          <a:ln w="9525">
            <a:solidFill>
              <a:srgbClr val="D0DEF6"/>
            </a:solidFill>
            <a:prstDash val="solid"/>
          </a:ln>
        </p:spPr>
      </p:sp>
      <p:sp>
        <p:nvSpPr>
          <p:cNvPr id="21" name="Shape 19"/>
          <p:cNvSpPr/>
          <p:nvPr/>
        </p:nvSpPr>
        <p:spPr>
          <a:xfrm>
            <a:off x="6397600" y="1078992"/>
            <a:ext cx="2377440" cy="274320"/>
          </a:xfrm>
          <a:prstGeom prst="roundRect">
            <a:avLst>
              <a:gd name="adj" fmla="val 16667"/>
            </a:avLst>
          </a:prstGeom>
          <a:solidFill>
            <a:srgbClr val="1E2761"/>
          </a:solidFill>
          <a:ln w="6350">
            <a:solidFill>
              <a:srgbClr val="1E2761"/>
            </a:solidFill>
            <a:prstDash val="solid"/>
          </a:ln>
        </p:spPr>
      </p:sp>
      <p:sp>
        <p:nvSpPr>
          <p:cNvPr id="22" name="Text 20"/>
          <p:cNvSpPr/>
          <p:nvPr/>
        </p:nvSpPr>
        <p:spPr>
          <a:xfrm>
            <a:off x="6397600" y="1078992"/>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실제성 무효화 검증</a:t>
            </a:r>
            <a:endParaRPr lang="en-US" sz="1050" dirty="0"/>
          </a:p>
        </p:txBody>
      </p:sp>
      <p:sp>
        <p:nvSpPr>
          <p:cNvPr id="23" name="Text 21"/>
          <p:cNvSpPr/>
          <p:nvPr/>
        </p:nvSpPr>
        <p:spPr>
          <a:xfrm>
            <a:off x="6415888" y="1481328"/>
            <a:ext cx="22860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주민등록번호 검증식</a:t>
            </a:r>
            <a:endParaRPr lang="en-US" sz="950" dirty="0"/>
          </a:p>
        </p:txBody>
      </p:sp>
      <p:sp>
        <p:nvSpPr>
          <p:cNvPr id="24" name="Text 22"/>
          <p:cNvSpPr/>
          <p:nvPr/>
        </p:nvSpPr>
        <p:spPr>
          <a:xfrm>
            <a:off x="8701888" y="1481328"/>
            <a:ext cx="27400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0 / 3,320 (0.00%) 통과</a:t>
            </a:r>
            <a:endParaRPr lang="en-US" sz="950" dirty="0"/>
          </a:p>
        </p:txBody>
      </p:sp>
      <p:sp>
        <p:nvSpPr>
          <p:cNvPr id="25" name="Text 23"/>
          <p:cNvSpPr/>
          <p:nvPr/>
        </p:nvSpPr>
        <p:spPr>
          <a:xfrm>
            <a:off x="6415888" y="1760220"/>
            <a:ext cx="22860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외국인등록번호 (주민식)</a:t>
            </a:r>
            <a:endParaRPr lang="en-US" sz="950" dirty="0"/>
          </a:p>
        </p:txBody>
      </p:sp>
      <p:sp>
        <p:nvSpPr>
          <p:cNvPr id="26" name="Text 24"/>
          <p:cNvSpPr/>
          <p:nvPr/>
        </p:nvSpPr>
        <p:spPr>
          <a:xfrm>
            <a:off x="8701888" y="1760220"/>
            <a:ext cx="27400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0 / 1,580 (0.00%) 통과</a:t>
            </a:r>
            <a:endParaRPr lang="en-US" sz="950" dirty="0"/>
          </a:p>
        </p:txBody>
      </p:sp>
      <p:sp>
        <p:nvSpPr>
          <p:cNvPr id="27" name="Text 25"/>
          <p:cNvSpPr/>
          <p:nvPr/>
        </p:nvSpPr>
        <p:spPr>
          <a:xfrm>
            <a:off x="6415888" y="2039112"/>
            <a:ext cx="22860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외국인등록번호 (구 외국인식)</a:t>
            </a:r>
            <a:endParaRPr lang="en-US" sz="950" dirty="0"/>
          </a:p>
        </p:txBody>
      </p:sp>
      <p:sp>
        <p:nvSpPr>
          <p:cNvPr id="28" name="Text 26"/>
          <p:cNvSpPr/>
          <p:nvPr/>
        </p:nvSpPr>
        <p:spPr>
          <a:xfrm>
            <a:off x="8701888" y="2039112"/>
            <a:ext cx="27400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0 / 1,580 (0.00%) 통과</a:t>
            </a:r>
            <a:endParaRPr lang="en-US" sz="950" dirty="0"/>
          </a:p>
        </p:txBody>
      </p:sp>
      <p:sp>
        <p:nvSpPr>
          <p:cNvPr id="29" name="Text 27"/>
          <p:cNvSpPr/>
          <p:nvPr/>
        </p:nvSpPr>
        <p:spPr>
          <a:xfrm>
            <a:off x="6415888" y="2318004"/>
            <a:ext cx="22860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카드번호 Luhn</a:t>
            </a:r>
            <a:endParaRPr lang="en-US" sz="950" dirty="0"/>
          </a:p>
        </p:txBody>
      </p:sp>
      <p:sp>
        <p:nvSpPr>
          <p:cNvPr id="30" name="Text 28"/>
          <p:cNvSpPr/>
          <p:nvPr/>
        </p:nvSpPr>
        <p:spPr>
          <a:xfrm>
            <a:off x="8701888" y="2318004"/>
            <a:ext cx="27400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0 / 1,788 (0.00%) 통과</a:t>
            </a:r>
            <a:endParaRPr lang="en-US" sz="950" dirty="0"/>
          </a:p>
        </p:txBody>
      </p:sp>
      <p:sp>
        <p:nvSpPr>
          <p:cNvPr id="31" name="Text 29"/>
          <p:cNvSpPr/>
          <p:nvPr/>
        </p:nvSpPr>
        <p:spPr>
          <a:xfrm>
            <a:off x="6415888" y="2596896"/>
            <a:ext cx="22860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결론</a:t>
            </a:r>
            <a:endParaRPr lang="en-US" sz="950" dirty="0"/>
          </a:p>
        </p:txBody>
      </p:sp>
      <p:sp>
        <p:nvSpPr>
          <p:cNvPr id="32" name="Text 30"/>
          <p:cNvSpPr/>
          <p:nvPr/>
        </p:nvSpPr>
        <p:spPr>
          <a:xfrm>
            <a:off x="8701888" y="2596896"/>
            <a:ext cx="27400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실존 가능한 식별번호가 포함되지 않음</a:t>
            </a:r>
            <a:endParaRPr lang="en-US" sz="950" dirty="0"/>
          </a:p>
        </p:txBody>
      </p:sp>
      <p:sp>
        <p:nvSpPr>
          <p:cNvPr id="33" name="Text 31"/>
          <p:cNvSpPr/>
          <p:nvPr/>
        </p:nvSpPr>
        <p:spPr>
          <a:xfrm>
            <a:off x="6415888" y="2875788"/>
            <a:ext cx="22860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근거</a:t>
            </a:r>
            <a:endParaRPr lang="en-US" sz="950" dirty="0"/>
          </a:p>
        </p:txBody>
      </p:sp>
      <p:sp>
        <p:nvSpPr>
          <p:cNvPr id="34" name="Text 32"/>
          <p:cNvSpPr/>
          <p:nvPr/>
        </p:nvSpPr>
        <p:spPr>
          <a:xfrm>
            <a:off x="8701888" y="2875788"/>
            <a:ext cx="27400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합성 데이터이며 검증식 전량 무효화 확인</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3493008"/>
          <a:ext cx="11057839" cy="914400"/>
        </p:xfrm>
        <a:graphic>
          <a:graphicData uri="http://schemas.openxmlformats.org/drawingml/2006/table">
            <a:tbl>
              <a:tblPr/>
              <a:tblGrid>
                <a:gridCol w="1920240"/>
                <a:gridCol w="1280160"/>
                <a:gridCol w="1920240"/>
                <a:gridCol w="1280160"/>
                <a:gridCol w="1920240"/>
                <a:gridCol w="2736799"/>
              </a:tblGrid>
              <a:tr h="27432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정답 스팬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정답 스팬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난이도 케이스</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문서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6,423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영문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2,512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경칭 결합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카드번호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1,788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한영 혼용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국문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3,295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조사 결합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999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이메일 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과탐지 유도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401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연락처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2,803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해당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계좌번호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815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5C6273"/>
                          </a:solidFill>
                          <a:latin typeface="Malgun Gothic" pitchFamily="34" charset="0"/>
                          <a:ea typeface="Malgun Gothic" pitchFamily="34" charset="-122"/>
                          <a:cs typeface="Malgun Gothic" pitchFamily="34" charset="-120"/>
                        </a:rPr>
                        <a:t>28,420 스팬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36" name="Text 33"/>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난이도 케이스는 문서당 복수 태깅이 가능하므로 합계가 문서 수와 일치하지 않음  |  1주차 자체 발견 결함 및 보완 내역은 부록 A15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A4</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라벨 매핑 — 자체 11항목 → OPF 8라벨</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A4</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1920240"/>
                <a:gridCol w="4206240"/>
                <a:gridCol w="1051560"/>
                <a:gridCol w="960120"/>
                <a:gridCol w="2919679"/>
              </a:tblGrid>
              <a:tr h="288036">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OPF 라벨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귀속된 자체 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스팬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비중</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비고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88036">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account_number</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 3,320 · 카드번호 1,788 · 외국인등록번호 1,580 · 운전면허번호 1,506 · 여권번호 1,283 · 계좌번호 815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10,292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36.21%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고유식별 4종이 모두 이 라벨로 귀속</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private_address</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주소 6,423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6,423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22.60%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private_person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국문 성명 3,295 · 영문 성명 2,512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5,807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20.43%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private_email</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이메일 주소 3,095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10.89%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private_phone</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연락처 2,803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2,803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9.86%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private_url</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해당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5C6273"/>
                          </a:solidFill>
                          <a:latin typeface="Malgun Gothic" pitchFamily="34" charset="0"/>
                          <a:ea typeface="Malgun Gothic" pitchFamily="34" charset="-122"/>
                          <a:cs typeface="Malgun Gothic" pitchFamily="34" charset="-120"/>
                        </a:rPr>
                        <a:t>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5C6273"/>
                          </a:solidFill>
                          <a:latin typeface="Malgun Gothic" pitchFamily="34" charset="0"/>
                          <a:ea typeface="Malgun Gothic" pitchFamily="34" charset="-122"/>
                          <a:cs typeface="Malgun Gothic" pitchFamily="34" charset="-120"/>
                        </a:rPr>
                        <a:t>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본 테스트셋 미포함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private_date</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해당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5C6273"/>
                          </a:solidFill>
                          <a:latin typeface="Malgun Gothic" pitchFamily="34" charset="0"/>
                          <a:ea typeface="Malgun Gothic" pitchFamily="34" charset="-122"/>
                          <a:cs typeface="Malgun Gothic" pitchFamily="34" charset="-120"/>
                        </a:rPr>
                        <a:t>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5C6273"/>
                          </a:solidFill>
                          <a:latin typeface="Malgun Gothic" pitchFamily="34" charset="0"/>
                          <a:ea typeface="Malgun Gothic" pitchFamily="34" charset="-122"/>
                          <a:cs typeface="Malgun Gothic" pitchFamily="34" charset="-120"/>
                        </a:rPr>
                        <a:t>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본 테스트셋 미포함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secret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해당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5C6273"/>
                          </a:solidFill>
                          <a:latin typeface="Malgun Gothic" pitchFamily="34" charset="0"/>
                          <a:ea typeface="Malgun Gothic" pitchFamily="34" charset="-122"/>
                          <a:cs typeface="Malgun Gothic" pitchFamily="34" charset="-120"/>
                        </a:rPr>
                        <a:t>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5C6273"/>
                          </a:solidFill>
                          <a:latin typeface="Malgun Gothic" pitchFamily="34" charset="0"/>
                          <a:ea typeface="Malgun Gothic" pitchFamily="34" charset="-122"/>
                          <a:cs typeface="Malgun Gothic" pitchFamily="34" charset="-120"/>
                        </a:rPr>
                        <a:t>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본 테스트셋 미포함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11개 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정합 확인 완료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6" name="Shape 3"/>
          <p:cNvSpPr/>
          <p:nvPr/>
        </p:nvSpPr>
        <p:spPr>
          <a:xfrm>
            <a:off x="566928" y="4114800"/>
            <a:ext cx="11057839" cy="694944"/>
          </a:xfrm>
          <a:prstGeom prst="roundRect">
            <a:avLst>
              <a:gd name="adj" fmla="val 7895"/>
            </a:avLst>
          </a:prstGeom>
          <a:solidFill>
            <a:srgbClr val="FBF4E4"/>
          </a:solidFill>
          <a:ln w="9525">
            <a:solidFill>
              <a:srgbClr val="FBF4E4"/>
            </a:solidFill>
            <a:prstDash val="solid"/>
          </a:ln>
        </p:spPr>
      </p:sp>
      <p:sp>
        <p:nvSpPr>
          <p:cNvPr id="7" name="Text 4"/>
          <p:cNvSpPr/>
          <p:nvPr/>
        </p:nvSpPr>
        <p:spPr>
          <a:xfrm>
            <a:off x="713232" y="4151376"/>
            <a:ext cx="10765231" cy="621792"/>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라벨 체계 차이로 인한 유의점 — OPF는 주민등록번호·여권번호·운전면허번호를 별도 라벨로 구분하지 않고 모두 account_number로 처리합니다. 따라서 OPF 출력만으로는 '어떤 종류의 고유식별정보를 탐지했는가'를 알 수 없으며, 항목별 성능은 자체 정답 라벨을 기준으로 역산했습니다.</a:t>
            </a:r>
            <a:endParaRPr lang="en-US" sz="950" dirty="0"/>
          </a:p>
        </p:txBody>
      </p:sp>
      <p:sp>
        <p:nvSpPr>
          <p:cNvPr id="8" name="Shape 5"/>
          <p:cNvSpPr/>
          <p:nvPr/>
        </p:nvSpPr>
        <p:spPr>
          <a:xfrm>
            <a:off x="566928" y="4974336"/>
            <a:ext cx="11057839" cy="566928"/>
          </a:xfrm>
          <a:prstGeom prst="roundRect">
            <a:avLst>
              <a:gd name="adj" fmla="val 9677"/>
            </a:avLst>
          </a:prstGeom>
          <a:solidFill>
            <a:srgbClr val="EDF3FD"/>
          </a:solidFill>
          <a:ln w="9525">
            <a:solidFill>
              <a:srgbClr val="EDF3FD"/>
            </a:solidFill>
            <a:prstDash val="solid"/>
          </a:ln>
        </p:spPr>
      </p:sp>
      <p:sp>
        <p:nvSpPr>
          <p:cNvPr id="9" name="Text 6"/>
          <p:cNvSpPr/>
          <p:nvPr/>
        </p:nvSpPr>
        <p:spPr>
          <a:xfrm>
            <a:off x="713232" y="5010912"/>
            <a:ext cx="10765231" cy="493776"/>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모델카드 §7.2.1에서도 PII-Masking-300k의 socialnumber · passport · driverlicense · idcard · taxnum 등을 모두 account_number로 매핑하고 있어, 본 매핑은 제작사 기준과 동일한 방식입니다.</a:t>
            </a:r>
            <a:endParaRPr lang="en-US" sz="950" dirty="0"/>
          </a:p>
        </p:txBody>
      </p:sp>
      <p:sp>
        <p:nvSpPr>
          <p:cNvPr id="10" name="Text 7"/>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OPF 라벨 정책은 런타임 변경 불가 — 정책 변경은 파인튜닝이 필요 (Model Card §4.2)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A5</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난이도 · 길이 계층별 성능</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A5</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1920240"/>
                <a:gridCol w="1463040"/>
                <a:gridCol w="2011680"/>
                <a:gridCol w="1188720"/>
                <a:gridCol w="1188720"/>
                <a:gridCol w="1280160"/>
                <a:gridCol w="2005279"/>
              </a:tblGrid>
              <a:tr h="283464">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난이도 케이스</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정답 스팬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 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경칭 결합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8,656 / 10,087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85.81%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0.6970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3,631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36.00%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한영 혼용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8,656 / 10,087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85.81%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0.6970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3,631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36.00%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조사 결합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10,468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9,148 / 10,468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87.39%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0.7330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4,622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44.15%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과탐지 유도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4,400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3,859 / 4,400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87.70%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0.7206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1,994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45.32%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해당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11,553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9,860 / 11,553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85.35%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0.7161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4,359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37.73%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2761488"/>
            <a:ext cx="11057839" cy="694944"/>
          </a:xfrm>
          <a:prstGeom prst="roundRect">
            <a:avLst>
              <a:gd name="adj" fmla="val 7895"/>
            </a:avLst>
          </a:prstGeom>
          <a:solidFill>
            <a:srgbClr val="FBEDEC"/>
          </a:solidFill>
          <a:ln w="9525">
            <a:solidFill>
              <a:srgbClr val="FBEDEC"/>
            </a:solidFill>
            <a:prstDash val="solid"/>
          </a:ln>
        </p:spPr>
      </p:sp>
      <p:sp>
        <p:nvSpPr>
          <p:cNvPr id="7" name="Text 4"/>
          <p:cNvSpPr/>
          <p:nvPr/>
        </p:nvSpPr>
        <p:spPr>
          <a:xfrm>
            <a:off x="713232" y="2798064"/>
            <a:ext cx="10765231" cy="621792"/>
          </a:xfrm>
          <a:prstGeom prst="rect">
            <a:avLst/>
          </a:prstGeom>
          <a:noFill/>
          <a:ln/>
        </p:spPr>
        <p:txBody>
          <a:bodyPr wrap="square" lIns="0" tIns="0" rIns="0" bIns="0" rtlCol="0" anchor="ctr"/>
          <a:lstStyle/>
          <a:p>
            <a:pPr algn="l" indent="0" marL="0">
              <a:lnSpc>
                <a:spcPct val="115000"/>
              </a:lnSpc>
              <a:buNone/>
            </a:pPr>
            <a:r>
              <a:rPr lang="en-US" sz="950" dirty="0">
                <a:solidFill>
                  <a:srgbClr val="8E2420"/>
                </a:solidFill>
                <a:latin typeface="Malgun Gothic" pitchFamily="34" charset="0"/>
                <a:ea typeface="Malgun Gothic" pitchFamily="34" charset="-122"/>
                <a:cs typeface="Malgun Gothic" pitchFamily="34" charset="-120"/>
              </a:rPr>
              <a:t>⚠ 재검증 대상 — 경칭 결합과 한영 혼용의 정답 스팬 수 · 재현율 · F2 · EM이 네 값 모두 동일합니다. 계층 태깅 스크립트가 두 케이스에 동일한 문서 집합을 배정했을 가능성이 있어, 발표 시점 기준 재검증 대상으로 분류합니다. 본 계층 결과는 참고용이며 판정 근거로 사용하지 않았습니다.</a:t>
            </a:r>
            <a:endParaRPr lang="en-US" sz="9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66928" y="3621024"/>
          <a:ext cx="11057839" cy="914400"/>
        </p:xfrm>
        <a:graphic>
          <a:graphicData uri="http://schemas.openxmlformats.org/drawingml/2006/table">
            <a:tbl>
              <a:tblPr/>
              <a:tblGrid>
                <a:gridCol w="1188720"/>
                <a:gridCol w="1737360"/>
                <a:gridCol w="1554480"/>
                <a:gridCol w="2011680"/>
                <a:gridCol w="1188720"/>
                <a:gridCol w="1280160"/>
                <a:gridCol w="2096719"/>
              </a:tblGrid>
              <a:tr h="283464">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길이 계층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범위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정답 스팬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 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T1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366자 미만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6,705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5,824 / 6,705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86.86%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2,433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36.29%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T2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366 ~ 521자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9,395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8,178 / 9,395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87.05%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3,622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38.55%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T3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522자 이상</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10,487 / 12,320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85.12%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5,029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40.82%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9" name="Shape 5"/>
          <p:cNvSpPr/>
          <p:nvPr/>
        </p:nvSpPr>
        <p:spPr>
          <a:xfrm>
            <a:off x="566928" y="4864608"/>
            <a:ext cx="11057839" cy="694944"/>
          </a:xfrm>
          <a:prstGeom prst="roundRect">
            <a:avLst>
              <a:gd name="adj" fmla="val 7895"/>
            </a:avLst>
          </a:prstGeom>
          <a:solidFill>
            <a:srgbClr val="EDF3FD"/>
          </a:solidFill>
          <a:ln w="9525">
            <a:solidFill>
              <a:srgbClr val="EDF3FD"/>
            </a:solidFill>
            <a:prstDash val="solid"/>
          </a:ln>
        </p:spPr>
      </p:sp>
      <p:sp>
        <p:nvSpPr>
          <p:cNvPr id="10" name="Text 6"/>
          <p:cNvSpPr/>
          <p:nvPr/>
        </p:nvSpPr>
        <p:spPr>
          <a:xfrm>
            <a:off x="713232" y="4901184"/>
            <a:ext cx="10765231" cy="621792"/>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길이 계층 해석 — T1에서 T3까지 재현율 차이가 1.93%p에 그칩니다. 문서가 길어져도 성능이 급격히 떨어지지 않는다는 의미이며, 최대 문서가 736토큰으로 실효 어텐션 창 대비 크게 벗어나지 않는 범위에 있기 때문으로 보입니다. 더 긴 문서에서의 거동은 본 테스트셋으로 확인할 수 없습니다.</a:t>
            </a:r>
            <a:endParaRPr lang="en-US" sz="950" dirty="0"/>
          </a:p>
        </p:txBody>
      </p:sp>
      <p:sp>
        <p:nvSpPr>
          <p:cNvPr id="11" name="Text 7"/>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F2는 조화평균이므로 분수 환원이 불가하여 소수로 표기</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A6</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부분 발화 프로브셋 — 사양 및 예시</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A6</a:t>
            </a:r>
            <a:endParaRPr lang="en-US" sz="1000" dirty="0"/>
          </a:p>
        </p:txBody>
      </p:sp>
      <p:sp>
        <p:nvSpPr>
          <p:cNvPr id="5" name="Shape 3"/>
          <p:cNvSpPr/>
          <p:nvPr/>
        </p:nvSpPr>
        <p:spPr>
          <a:xfrm>
            <a:off x="566928" y="950976"/>
            <a:ext cx="3533546" cy="1700784"/>
          </a:xfrm>
          <a:prstGeom prst="roundRect">
            <a:avLst>
              <a:gd name="adj" fmla="val 3226"/>
            </a:avLst>
          </a:prstGeom>
          <a:solidFill>
            <a:srgbClr val="F7F8FB"/>
          </a:solidFill>
          <a:ln w="9525">
            <a:solidFill>
              <a:srgbClr val="DFE3EC"/>
            </a:solidFill>
            <a:prstDash val="solid"/>
          </a:ln>
        </p:spPr>
      </p:sp>
      <p:sp>
        <p:nvSpPr>
          <p:cNvPr id="6" name="Shape 4"/>
          <p:cNvSpPr/>
          <p:nvPr/>
        </p:nvSpPr>
        <p:spPr>
          <a:xfrm>
            <a:off x="713232" y="1078992"/>
            <a:ext cx="2011680" cy="274320"/>
          </a:xfrm>
          <a:prstGeom prst="roundRect">
            <a:avLst>
              <a:gd name="adj" fmla="val 16667"/>
            </a:avLst>
          </a:prstGeom>
          <a:solidFill>
            <a:srgbClr val="1E2761"/>
          </a:solidFill>
          <a:ln w="6350">
            <a:solidFill>
              <a:srgbClr val="1E2761"/>
            </a:solidFill>
            <a:prstDash val="solid"/>
          </a:ln>
        </p:spPr>
      </p:sp>
      <p:sp>
        <p:nvSpPr>
          <p:cNvPr id="7" name="Text 5"/>
          <p:cNvSpPr/>
          <p:nvPr/>
        </p:nvSpPr>
        <p:spPr>
          <a:xfrm>
            <a:off x="713232" y="107899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P1 · 절단형</a:t>
            </a:r>
            <a:endParaRPr lang="en-US" sz="1050" dirty="0"/>
          </a:p>
        </p:txBody>
      </p:sp>
      <p:sp>
        <p:nvSpPr>
          <p:cNvPr id="8" name="Text 6"/>
          <p:cNvSpPr/>
          <p:nvPr/>
        </p:nvSpPr>
        <p:spPr>
          <a:xfrm>
            <a:off x="731520" y="1463040"/>
            <a:ext cx="3204362" cy="457200"/>
          </a:xfrm>
          <a:prstGeom prst="rect">
            <a:avLst/>
          </a:prstGeom>
          <a:noFill/>
          <a:ln/>
        </p:spPr>
        <p:txBody>
          <a:bodyPr wrap="square" lIns="0" tIns="0" rIns="0" bIns="0" rtlCol="0" anchor="t"/>
          <a:lstStyle/>
          <a:p>
            <a:pPr algn="l" indent="0" marL="0">
              <a:lnSpc>
                <a:spcPct val="120000"/>
              </a:lnSpc>
              <a:buNone/>
            </a:pPr>
            <a:r>
              <a:rPr lang="en-US" sz="1000" dirty="0">
                <a:solidFill>
                  <a:srgbClr val="16181D"/>
                </a:solidFill>
                <a:latin typeface="Malgun Gothic" pitchFamily="34" charset="0"/>
                <a:ea typeface="Malgun Gothic" pitchFamily="34" charset="-122"/>
                <a:cs typeface="Malgun Gothic" pitchFamily="34" charset="-120"/>
              </a:rPr>
              <a:t>값이 중간에서 끊기거나 일부만 발화된 형태</a:t>
            </a:r>
            <a:endParaRPr lang="en-US" sz="1000" dirty="0"/>
          </a:p>
        </p:txBody>
      </p:sp>
      <p:sp>
        <p:nvSpPr>
          <p:cNvPr id="9" name="Text 7"/>
          <p:cNvSpPr/>
          <p:nvPr/>
        </p:nvSpPr>
        <p:spPr>
          <a:xfrm>
            <a:off x="731520" y="1993392"/>
            <a:ext cx="3204362" cy="548640"/>
          </a:xfrm>
          <a:prstGeom prst="rect">
            <a:avLst/>
          </a:prstGeom>
          <a:noFill/>
          <a:ln/>
        </p:spPr>
        <p:txBody>
          <a:bodyPr wrap="square" lIns="0" tIns="0" rIns="0" bIns="0" rtlCol="0" anchor="t"/>
          <a:lstStyle/>
          <a:p>
            <a:pPr algn="l" indent="0" marL="0">
              <a:lnSpc>
                <a:spcPct val="120000"/>
              </a:lnSpc>
              <a:buNone/>
            </a:pPr>
            <a:r>
              <a:rPr lang="en-US" sz="950" dirty="0">
                <a:solidFill>
                  <a:srgbClr val="1E2761"/>
                </a:solidFill>
                <a:latin typeface="Consolas" pitchFamily="34" charset="0"/>
                <a:ea typeface="Consolas" pitchFamily="34" charset="-122"/>
                <a:cs typeface="Consolas" pitchFamily="34" charset="-120"/>
              </a:rPr>
              <a:t>366 다시 27 다시 979337 다시 84</a:t>
            </a:r>
            <a:endParaRPr lang="en-US" sz="950" dirty="0"/>
          </a:p>
        </p:txBody>
      </p:sp>
      <p:sp>
        <p:nvSpPr>
          <p:cNvPr id="10" name="Shape 8"/>
          <p:cNvSpPr/>
          <p:nvPr/>
        </p:nvSpPr>
        <p:spPr>
          <a:xfrm>
            <a:off x="4329074" y="950976"/>
            <a:ext cx="3533546" cy="1700784"/>
          </a:xfrm>
          <a:prstGeom prst="roundRect">
            <a:avLst>
              <a:gd name="adj" fmla="val 3226"/>
            </a:avLst>
          </a:prstGeom>
          <a:solidFill>
            <a:srgbClr val="F7F8FB"/>
          </a:solidFill>
          <a:ln w="9525">
            <a:solidFill>
              <a:srgbClr val="DFE3EC"/>
            </a:solidFill>
            <a:prstDash val="solid"/>
          </a:ln>
        </p:spPr>
      </p:sp>
      <p:sp>
        <p:nvSpPr>
          <p:cNvPr id="11" name="Shape 9"/>
          <p:cNvSpPr/>
          <p:nvPr/>
        </p:nvSpPr>
        <p:spPr>
          <a:xfrm>
            <a:off x="4475378" y="1078992"/>
            <a:ext cx="2011680" cy="274320"/>
          </a:xfrm>
          <a:prstGeom prst="roundRect">
            <a:avLst>
              <a:gd name="adj" fmla="val 16667"/>
            </a:avLst>
          </a:prstGeom>
          <a:solidFill>
            <a:srgbClr val="1E2761"/>
          </a:solidFill>
          <a:ln w="6350">
            <a:solidFill>
              <a:srgbClr val="1E2761"/>
            </a:solidFill>
            <a:prstDash val="solid"/>
          </a:ln>
        </p:spPr>
      </p:sp>
      <p:sp>
        <p:nvSpPr>
          <p:cNvPr id="12" name="Text 10"/>
          <p:cNvSpPr/>
          <p:nvPr/>
        </p:nvSpPr>
        <p:spPr>
          <a:xfrm>
            <a:off x="4475378" y="107899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P2 · 구어체 삽입</a:t>
            </a:r>
            <a:endParaRPr lang="en-US" sz="1050" dirty="0"/>
          </a:p>
        </p:txBody>
      </p:sp>
      <p:sp>
        <p:nvSpPr>
          <p:cNvPr id="13" name="Text 11"/>
          <p:cNvSpPr/>
          <p:nvPr/>
        </p:nvSpPr>
        <p:spPr>
          <a:xfrm>
            <a:off x="4493666" y="1463040"/>
            <a:ext cx="3204362" cy="457200"/>
          </a:xfrm>
          <a:prstGeom prst="rect">
            <a:avLst/>
          </a:prstGeom>
          <a:noFill/>
          <a:ln/>
        </p:spPr>
        <p:txBody>
          <a:bodyPr wrap="square" lIns="0" tIns="0" rIns="0" bIns="0" rtlCol="0" anchor="t"/>
          <a:lstStyle/>
          <a:p>
            <a:pPr algn="l" indent="0" marL="0">
              <a:lnSpc>
                <a:spcPct val="120000"/>
              </a:lnSpc>
              <a:buNone/>
            </a:pPr>
            <a:r>
              <a:rPr lang="en-US" sz="1000" dirty="0">
                <a:solidFill>
                  <a:srgbClr val="16181D"/>
                </a:solidFill>
                <a:latin typeface="Malgun Gothic" pitchFamily="34" charset="0"/>
                <a:ea typeface="Malgun Gothic" pitchFamily="34" charset="-122"/>
                <a:cs typeface="Malgun Gothic" pitchFamily="34" charset="-120"/>
              </a:rPr>
              <a:t>숫자 사이에 구어 표현이 끼어드는 형태</a:t>
            </a:r>
            <a:endParaRPr lang="en-US" sz="1000" dirty="0"/>
          </a:p>
        </p:txBody>
      </p:sp>
      <p:sp>
        <p:nvSpPr>
          <p:cNvPr id="14" name="Text 12"/>
          <p:cNvSpPr/>
          <p:nvPr/>
        </p:nvSpPr>
        <p:spPr>
          <a:xfrm>
            <a:off x="4493666" y="1993392"/>
            <a:ext cx="3204362" cy="548640"/>
          </a:xfrm>
          <a:prstGeom prst="rect">
            <a:avLst/>
          </a:prstGeom>
          <a:noFill/>
          <a:ln/>
        </p:spPr>
        <p:txBody>
          <a:bodyPr wrap="square" lIns="0" tIns="0" rIns="0" bIns="0" rtlCol="0" anchor="t"/>
          <a:lstStyle/>
          <a:p>
            <a:pPr algn="l" indent="0" marL="0">
              <a:lnSpc>
                <a:spcPct val="120000"/>
              </a:lnSpc>
              <a:buNone/>
            </a:pPr>
            <a:r>
              <a:rPr lang="en-US" sz="950" dirty="0">
                <a:solidFill>
                  <a:srgbClr val="1E2761"/>
                </a:solidFill>
                <a:latin typeface="Consolas" pitchFamily="34" charset="0"/>
                <a:ea typeface="Consolas" pitchFamily="34" charset="-122"/>
                <a:cs typeface="Consolas" pitchFamily="34" charset="-120"/>
              </a:rPr>
              <a:t>4732이랑 3555이랑 5909이랑 9013</a:t>
            </a:r>
            <a:endParaRPr lang="en-US" sz="950" dirty="0"/>
          </a:p>
        </p:txBody>
      </p:sp>
      <p:sp>
        <p:nvSpPr>
          <p:cNvPr id="15" name="Shape 13"/>
          <p:cNvSpPr/>
          <p:nvPr/>
        </p:nvSpPr>
        <p:spPr>
          <a:xfrm>
            <a:off x="8091221" y="950976"/>
            <a:ext cx="3533546" cy="1700784"/>
          </a:xfrm>
          <a:prstGeom prst="roundRect">
            <a:avLst>
              <a:gd name="adj" fmla="val 3226"/>
            </a:avLst>
          </a:prstGeom>
          <a:solidFill>
            <a:srgbClr val="F7F8FB"/>
          </a:solidFill>
          <a:ln w="9525">
            <a:solidFill>
              <a:srgbClr val="DFE3EC"/>
            </a:solidFill>
            <a:prstDash val="solid"/>
          </a:ln>
        </p:spPr>
      </p:sp>
      <p:sp>
        <p:nvSpPr>
          <p:cNvPr id="16" name="Shape 14"/>
          <p:cNvSpPr/>
          <p:nvPr/>
        </p:nvSpPr>
        <p:spPr>
          <a:xfrm>
            <a:off x="8237525" y="1078992"/>
            <a:ext cx="2011680" cy="274320"/>
          </a:xfrm>
          <a:prstGeom prst="roundRect">
            <a:avLst>
              <a:gd name="adj" fmla="val 16667"/>
            </a:avLst>
          </a:prstGeom>
          <a:solidFill>
            <a:srgbClr val="1E2761"/>
          </a:solidFill>
          <a:ln w="6350">
            <a:solidFill>
              <a:srgbClr val="1E2761"/>
            </a:solidFill>
            <a:prstDash val="solid"/>
          </a:ln>
        </p:spPr>
      </p:sp>
      <p:sp>
        <p:nvSpPr>
          <p:cNvPr id="17" name="Text 15"/>
          <p:cNvSpPr/>
          <p:nvPr/>
        </p:nvSpPr>
        <p:spPr>
          <a:xfrm>
            <a:off x="8237525" y="107899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P3 · 띄어쓰기 파괴</a:t>
            </a:r>
            <a:endParaRPr lang="en-US" sz="1050" dirty="0"/>
          </a:p>
        </p:txBody>
      </p:sp>
      <p:sp>
        <p:nvSpPr>
          <p:cNvPr id="18" name="Text 16"/>
          <p:cNvSpPr/>
          <p:nvPr/>
        </p:nvSpPr>
        <p:spPr>
          <a:xfrm>
            <a:off x="8255813" y="1463040"/>
            <a:ext cx="3204362" cy="457200"/>
          </a:xfrm>
          <a:prstGeom prst="rect">
            <a:avLst/>
          </a:prstGeom>
          <a:noFill/>
          <a:ln/>
        </p:spPr>
        <p:txBody>
          <a:bodyPr wrap="square" lIns="0" tIns="0" rIns="0" bIns="0" rtlCol="0" anchor="t"/>
          <a:lstStyle/>
          <a:p>
            <a:pPr algn="l" indent="0" marL="0">
              <a:lnSpc>
                <a:spcPct val="120000"/>
              </a:lnSpc>
              <a:buNone/>
            </a:pPr>
            <a:r>
              <a:rPr lang="en-US" sz="1000" dirty="0">
                <a:solidFill>
                  <a:srgbClr val="16181D"/>
                </a:solidFill>
                <a:latin typeface="Malgun Gothic" pitchFamily="34" charset="0"/>
                <a:ea typeface="Malgun Gothic" pitchFamily="34" charset="-122"/>
                <a:cs typeface="Malgun Gothic" pitchFamily="34" charset="-120"/>
              </a:rPr>
              <a:t>구분자가 한국어 조사·어절로 치환된 형태</a:t>
            </a:r>
            <a:endParaRPr lang="en-US" sz="1000" dirty="0"/>
          </a:p>
        </p:txBody>
      </p:sp>
      <p:sp>
        <p:nvSpPr>
          <p:cNvPr id="19" name="Text 17"/>
          <p:cNvSpPr/>
          <p:nvPr/>
        </p:nvSpPr>
        <p:spPr>
          <a:xfrm>
            <a:off x="8255813" y="1993392"/>
            <a:ext cx="3204362" cy="548640"/>
          </a:xfrm>
          <a:prstGeom prst="rect">
            <a:avLst/>
          </a:prstGeom>
          <a:noFill/>
          <a:ln/>
        </p:spPr>
        <p:txBody>
          <a:bodyPr wrap="square" lIns="0" tIns="0" rIns="0" bIns="0" rtlCol="0" anchor="t"/>
          <a:lstStyle/>
          <a:p>
            <a:pPr algn="l" indent="0" marL="0">
              <a:lnSpc>
                <a:spcPct val="120000"/>
              </a:lnSpc>
              <a:buNone/>
            </a:pPr>
            <a:r>
              <a:rPr lang="en-US" sz="950" dirty="0">
                <a:solidFill>
                  <a:srgbClr val="1E2761"/>
                </a:solidFill>
                <a:latin typeface="Consolas" pitchFamily="34" charset="0"/>
                <a:ea typeface="Consolas" pitchFamily="34" charset="-122"/>
                <a:cs typeface="Consolas" pitchFamily="34" charset="-120"/>
              </a:rPr>
              <a:t>eunsu에 cho32@kakao에 com</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798064"/>
          <a:ext cx="11057839" cy="914400"/>
        </p:xfrm>
        <a:graphic>
          <a:graphicData uri="http://schemas.openxmlformats.org/drawingml/2006/table">
            <a:tbl>
              <a:tblPr/>
              <a:tblGrid>
                <a:gridCol w="1371600"/>
                <a:gridCol w="4114800"/>
                <a:gridCol w="1463040"/>
                <a:gridCol w="4108399"/>
              </a:tblGrid>
              <a:tr h="310896">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값</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값</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규모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300문서 / 300스팬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처리 시간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300건 1.5초</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생성 방식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기준선 테스트셋 값을 3가지 변형 규칙으로 재작성</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과잉 마스킹</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229자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라벨 구성</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account_number 180 · private_phone 65 · private_person 25 · private_email 20 · private_address 10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노출 3분류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완전피복 205 / 부분노출 40 (326자) / 완전미탐 55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길이 계층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T1 97 · T2 96 · T3 107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규칙 레이어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 4종 0 / 0 — 정규식 매칭 불성립</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21" name="Shape 18"/>
          <p:cNvSpPr/>
          <p:nvPr/>
        </p:nvSpPr>
        <p:spPr>
          <a:xfrm>
            <a:off x="566928" y="4590288"/>
            <a:ext cx="11057839" cy="1280160"/>
          </a:xfrm>
          <a:prstGeom prst="roundRect">
            <a:avLst>
              <a:gd name="adj" fmla="val 4286"/>
            </a:avLst>
          </a:prstGeom>
          <a:solidFill>
            <a:srgbClr val="F7F8FB"/>
          </a:solidFill>
          <a:ln w="9525">
            <a:solidFill>
              <a:srgbClr val="DFE3EC"/>
            </a:solidFill>
            <a:prstDash val="solid"/>
          </a:ln>
        </p:spPr>
      </p:sp>
      <p:sp>
        <p:nvSpPr>
          <p:cNvPr id="22" name="Shape 19"/>
          <p:cNvSpPr/>
          <p:nvPr/>
        </p:nvSpPr>
        <p:spPr>
          <a:xfrm>
            <a:off x="731520" y="4718304"/>
            <a:ext cx="2377440" cy="274320"/>
          </a:xfrm>
          <a:prstGeom prst="roundRect">
            <a:avLst>
              <a:gd name="adj" fmla="val 16667"/>
            </a:avLst>
          </a:prstGeom>
          <a:solidFill>
            <a:srgbClr val="1E2761"/>
          </a:solidFill>
          <a:ln w="6350">
            <a:solidFill>
              <a:srgbClr val="1E2761"/>
            </a:solidFill>
            <a:prstDash val="solid"/>
          </a:ln>
        </p:spPr>
      </p:sp>
      <p:sp>
        <p:nvSpPr>
          <p:cNvPr id="23" name="Text 20"/>
          <p:cNvSpPr/>
          <p:nvPr/>
        </p:nvSpPr>
        <p:spPr>
          <a:xfrm>
            <a:off x="731520" y="4718304"/>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대표 미탐 사례 (실측)</a:t>
            </a:r>
            <a:endParaRPr lang="en-US" sz="1050" dirty="0"/>
          </a:p>
        </p:txBody>
      </p:sp>
      <p:sp>
        <p:nvSpPr>
          <p:cNvPr id="24" name="Text 21"/>
          <p:cNvSpPr/>
          <p:nvPr/>
        </p:nvSpPr>
        <p:spPr>
          <a:xfrm>
            <a:off x="749808" y="5102352"/>
            <a:ext cx="4023360" cy="219456"/>
          </a:xfrm>
          <a:prstGeom prst="rect">
            <a:avLst/>
          </a:prstGeom>
          <a:noFill/>
          <a:ln/>
        </p:spPr>
        <p:txBody>
          <a:bodyPr wrap="square" lIns="0" tIns="0" rIns="0" bIns="0" rtlCol="0" anchor="ctr"/>
          <a:lstStyle/>
          <a:p>
            <a:pPr algn="l" indent="0" marL="0">
              <a:buNone/>
            </a:pPr>
            <a:r>
              <a:rPr lang="en-US" sz="900" dirty="0">
                <a:solidFill>
                  <a:srgbClr val="16181D"/>
                </a:solidFill>
                <a:latin typeface="Consolas" pitchFamily="34" charset="0"/>
                <a:ea typeface="Consolas" pitchFamily="34" charset="-122"/>
                <a:cs typeface="Consolas" pitchFamily="34" charset="-120"/>
              </a:rPr>
              <a:t>366 다시 27 다시 979337 다시 84</a:t>
            </a:r>
            <a:endParaRPr lang="en-US" sz="900" dirty="0"/>
          </a:p>
        </p:txBody>
      </p:sp>
      <p:sp>
        <p:nvSpPr>
          <p:cNvPr id="25" name="Text 22"/>
          <p:cNvSpPr/>
          <p:nvPr/>
        </p:nvSpPr>
        <p:spPr>
          <a:xfrm>
            <a:off x="4864608" y="5102352"/>
            <a:ext cx="64008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「366」 · 남은 문자 22자</a:t>
            </a:r>
            <a:endParaRPr lang="en-US" sz="900" dirty="0"/>
          </a:p>
        </p:txBody>
      </p:sp>
      <p:sp>
        <p:nvSpPr>
          <p:cNvPr id="26" name="Text 23"/>
          <p:cNvSpPr/>
          <p:nvPr/>
        </p:nvSpPr>
        <p:spPr>
          <a:xfrm>
            <a:off x="749808" y="5340096"/>
            <a:ext cx="4023360" cy="219456"/>
          </a:xfrm>
          <a:prstGeom prst="rect">
            <a:avLst/>
          </a:prstGeom>
          <a:noFill/>
          <a:ln/>
        </p:spPr>
        <p:txBody>
          <a:bodyPr wrap="square" lIns="0" tIns="0" rIns="0" bIns="0" rtlCol="0" anchor="ctr"/>
          <a:lstStyle/>
          <a:p>
            <a:pPr algn="l" indent="0" marL="0">
              <a:buNone/>
            </a:pPr>
            <a:r>
              <a:rPr lang="en-US" sz="900" dirty="0">
                <a:solidFill>
                  <a:srgbClr val="16181D"/>
                </a:solidFill>
                <a:latin typeface="Consolas" pitchFamily="34" charset="0"/>
                <a:ea typeface="Consolas" pitchFamily="34" charset="-122"/>
                <a:cs typeface="Consolas" pitchFamily="34" charset="-120"/>
              </a:rPr>
              <a:t>4732이랑 3555이랑 5909이랑 9013</a:t>
            </a:r>
            <a:endParaRPr lang="en-US" sz="900" dirty="0"/>
          </a:p>
        </p:txBody>
      </p:sp>
      <p:sp>
        <p:nvSpPr>
          <p:cNvPr id="27" name="Text 24"/>
          <p:cNvSpPr/>
          <p:nvPr/>
        </p:nvSpPr>
        <p:spPr>
          <a:xfrm>
            <a:off x="4864608" y="5340096"/>
            <a:ext cx="64008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「9013」 · 남은 문자 21자</a:t>
            </a:r>
            <a:endParaRPr lang="en-US" sz="900" dirty="0"/>
          </a:p>
        </p:txBody>
      </p:sp>
      <p:sp>
        <p:nvSpPr>
          <p:cNvPr id="28" name="Text 25"/>
          <p:cNvSpPr/>
          <p:nvPr/>
        </p:nvSpPr>
        <p:spPr>
          <a:xfrm>
            <a:off x="749808" y="5577840"/>
            <a:ext cx="4023360" cy="219456"/>
          </a:xfrm>
          <a:prstGeom prst="rect">
            <a:avLst/>
          </a:prstGeom>
          <a:noFill/>
          <a:ln/>
        </p:spPr>
        <p:txBody>
          <a:bodyPr wrap="square" lIns="0" tIns="0" rIns="0" bIns="0" rtlCol="0" anchor="ctr"/>
          <a:lstStyle/>
          <a:p>
            <a:pPr algn="l" indent="0" marL="0">
              <a:buNone/>
            </a:pPr>
            <a:r>
              <a:rPr lang="en-US" sz="900" dirty="0">
                <a:solidFill>
                  <a:srgbClr val="16181D"/>
                </a:solidFill>
                <a:latin typeface="Consolas" pitchFamily="34" charset="0"/>
                <a:ea typeface="Consolas" pitchFamily="34" charset="-122"/>
                <a:cs typeface="Consolas" pitchFamily="34" charset="-120"/>
              </a:rPr>
              <a:t>eunsu에 cho32@kakao에 com</a:t>
            </a:r>
            <a:endParaRPr lang="en-US" sz="900" dirty="0"/>
          </a:p>
        </p:txBody>
      </p:sp>
      <p:sp>
        <p:nvSpPr>
          <p:cNvPr id="29" name="Text 26"/>
          <p:cNvSpPr/>
          <p:nvPr/>
        </p:nvSpPr>
        <p:spPr>
          <a:xfrm>
            <a:off x="4864608" y="5577840"/>
            <a:ext cx="64008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「eunsu에 cho32@kakao」 · 「에 com」 노출</a:t>
            </a:r>
            <a:endParaRPr lang="en-US" sz="900" dirty="0"/>
          </a:p>
        </p:txBody>
      </p:sp>
      <p:sp>
        <p:nvSpPr>
          <p:cNvPr id="30" name="Text 27"/>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프로브셋은 합격 판정 기준에서 제외 — 타당성 검토는 부록 A7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A7</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프로브셋 타당성 검토</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A7</a:t>
            </a:r>
            <a:endParaRPr lang="en-US" sz="1000" dirty="0"/>
          </a:p>
        </p:txBody>
      </p:sp>
      <p:sp>
        <p:nvSpPr>
          <p:cNvPr id="5" name="Shape 3"/>
          <p:cNvSpPr/>
          <p:nvPr/>
        </p:nvSpPr>
        <p:spPr>
          <a:xfrm>
            <a:off x="566928" y="950976"/>
            <a:ext cx="5391760" cy="2432304"/>
          </a:xfrm>
          <a:prstGeom prst="roundRect">
            <a:avLst>
              <a:gd name="adj" fmla="val 2256"/>
            </a:avLst>
          </a:prstGeom>
          <a:solidFill>
            <a:srgbClr val="EDF3FD"/>
          </a:solidFill>
          <a:ln w="9525">
            <a:solidFill>
              <a:srgbClr val="D0DEF6"/>
            </a:solidFill>
            <a:prstDash val="solid"/>
          </a:ln>
        </p:spPr>
      </p:sp>
      <p:sp>
        <p:nvSpPr>
          <p:cNvPr id="6" name="Shape 4"/>
          <p:cNvSpPr/>
          <p:nvPr/>
        </p:nvSpPr>
        <p:spPr>
          <a:xfrm>
            <a:off x="731520" y="1078992"/>
            <a:ext cx="2377440" cy="274320"/>
          </a:xfrm>
          <a:prstGeom prst="roundRect">
            <a:avLst>
              <a:gd name="adj" fmla="val 16667"/>
            </a:avLst>
          </a:prstGeom>
          <a:solidFill>
            <a:srgbClr val="1E2761"/>
          </a:solidFill>
          <a:ln w="6350">
            <a:solidFill>
              <a:srgbClr val="1E2761"/>
            </a:solidFill>
            <a:prstDash val="solid"/>
          </a:ln>
        </p:spPr>
      </p:sp>
      <p:sp>
        <p:nvSpPr>
          <p:cNvPr id="7" name="Text 5"/>
          <p:cNvSpPr/>
          <p:nvPr/>
        </p:nvSpPr>
        <p:spPr>
          <a:xfrm>
            <a:off x="731520" y="1078992"/>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타당하다고 보는 근거</a:t>
            </a:r>
            <a:endParaRPr lang="en-US" sz="1050" dirty="0"/>
          </a:p>
        </p:txBody>
      </p:sp>
      <p:sp>
        <p:nvSpPr>
          <p:cNvPr id="8" name="Text 6"/>
          <p:cNvSpPr/>
          <p:nvPr/>
        </p:nvSpPr>
        <p:spPr>
          <a:xfrm>
            <a:off x="768096" y="1481328"/>
            <a:ext cx="4989424" cy="1792224"/>
          </a:xfrm>
          <a:prstGeom prst="rect">
            <a:avLst/>
          </a:prstGeom>
          <a:noFill/>
          <a:ln/>
        </p:spPr>
        <p:txBody>
          <a:bodyPr wrap="square" lIns="0" tIns="0" rIns="0" bIns="0" rtlCol="0" anchor="t"/>
          <a:lstStyle/>
          <a:p>
            <a:pPr algn="l" marL="342900" indent="-342900">
              <a:spcAft>
                <a:spcPts val="6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상담 음성의 STT 결과에서 숫자 낭독 시 구어 삽입·절단이 실제로 발생합니다.</a:t>
            </a:r>
            <a:endParaRPr lang="en-US" sz="1000" dirty="0"/>
          </a:p>
          <a:p>
            <a:pPr algn="l" marL="342900" indent="-342900">
              <a:spcAft>
                <a:spcPts val="6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모델카드 §7.5.4가 동일 계열의 적대적 변형(digit_words · spacing · line_breaks · at_dot_obfuscation)을 자체 평가 축으로 채택하고 있습니다.</a:t>
            </a:r>
            <a:endParaRPr lang="en-US" sz="1000" dirty="0"/>
          </a:p>
          <a:p>
            <a:pPr algn="l" marL="342900" indent="-342900">
              <a:spcAft>
                <a:spcPts val="6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모델카드 §4.3이 혼합 포맷에서 경계가 조각나거나 이동하는 현상을 알려진 실패 모드로 명시합니다.</a:t>
            </a:r>
            <a:endParaRPr lang="en-US" sz="1000" dirty="0"/>
          </a:p>
          <a:p>
            <a:pPr algn="l" marL="342900" indent="-342900">
              <a:spcAft>
                <a:spcPts val="6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기준선과 동일한 값·동일한 파이프라인을 사용해 변형 요인만 분리했습니다.</a:t>
            </a:r>
            <a:endParaRPr lang="en-US" sz="1000" dirty="0"/>
          </a:p>
        </p:txBody>
      </p:sp>
      <p:sp>
        <p:nvSpPr>
          <p:cNvPr id="9" name="Shape 7"/>
          <p:cNvSpPr/>
          <p:nvPr/>
        </p:nvSpPr>
        <p:spPr>
          <a:xfrm>
            <a:off x="6233008" y="950976"/>
            <a:ext cx="5391760" cy="2432304"/>
          </a:xfrm>
          <a:prstGeom prst="roundRect">
            <a:avLst>
              <a:gd name="adj" fmla="val 2256"/>
            </a:avLst>
          </a:prstGeom>
          <a:solidFill>
            <a:srgbClr val="FBEDEC"/>
          </a:solidFill>
          <a:ln w="9525">
            <a:solidFill>
              <a:srgbClr val="EFD4D2"/>
            </a:solidFill>
            <a:prstDash val="solid"/>
          </a:ln>
        </p:spPr>
      </p:sp>
      <p:sp>
        <p:nvSpPr>
          <p:cNvPr id="10" name="Shape 8"/>
          <p:cNvSpPr/>
          <p:nvPr/>
        </p:nvSpPr>
        <p:spPr>
          <a:xfrm>
            <a:off x="6397600" y="1078992"/>
            <a:ext cx="2377440" cy="274320"/>
          </a:xfrm>
          <a:prstGeom prst="roundRect">
            <a:avLst>
              <a:gd name="adj" fmla="val 16667"/>
            </a:avLst>
          </a:prstGeom>
          <a:solidFill>
            <a:srgbClr val="8E2420"/>
          </a:solidFill>
          <a:ln w="6350">
            <a:solidFill>
              <a:srgbClr val="8E2420"/>
            </a:solidFill>
            <a:prstDash val="solid"/>
          </a:ln>
        </p:spPr>
      </p:sp>
      <p:sp>
        <p:nvSpPr>
          <p:cNvPr id="11" name="Text 9"/>
          <p:cNvSpPr/>
          <p:nvPr/>
        </p:nvSpPr>
        <p:spPr>
          <a:xfrm>
            <a:off x="6397600" y="1078992"/>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한계 — 판정 기준 제외 사유</a:t>
            </a:r>
            <a:endParaRPr lang="en-US" sz="1050" dirty="0"/>
          </a:p>
        </p:txBody>
      </p:sp>
      <p:sp>
        <p:nvSpPr>
          <p:cNvPr id="12" name="Text 10"/>
          <p:cNvSpPr/>
          <p:nvPr/>
        </p:nvSpPr>
        <p:spPr>
          <a:xfrm>
            <a:off x="6434176" y="1481328"/>
            <a:ext cx="4989424" cy="1792224"/>
          </a:xfrm>
          <a:prstGeom prst="rect">
            <a:avLst/>
          </a:prstGeom>
          <a:noFill/>
          <a:ln/>
        </p:spPr>
        <p:txBody>
          <a:bodyPr wrap="square" lIns="0" tIns="0" rIns="0" bIns="0" rtlCol="0" anchor="t"/>
          <a:lstStyle/>
          <a:p>
            <a:pPr algn="l" marL="342900" indent="-342900">
              <a:spcAft>
                <a:spcPts val="600"/>
              </a:spcAft>
              <a:buSzPct val="100000"/>
              <a:buChar char="•"/>
            </a:pPr>
            <a:r>
              <a:rPr lang="en-US" sz="1000" dirty="0">
                <a:solidFill>
                  <a:srgbClr val="8E2420"/>
                </a:solidFill>
                <a:latin typeface="Malgun Gothic" pitchFamily="34" charset="0"/>
                <a:ea typeface="Malgun Gothic" pitchFamily="34" charset="-122"/>
                <a:cs typeface="Malgun Gothic" pitchFamily="34" charset="-120"/>
              </a:rPr>
              <a:t>실제 상담 로그가 아니라 합성 변형입니다. 실제 STT 오류 분포와 일치한다는 근거가 없습니다.</a:t>
            </a:r>
            <a:endParaRPr lang="en-US" sz="1000" dirty="0"/>
          </a:p>
          <a:p>
            <a:pPr algn="l" marL="342900" indent="-342900">
              <a:spcAft>
                <a:spcPts val="600"/>
              </a:spcAft>
              <a:buSzPct val="100000"/>
              <a:buChar char="•"/>
            </a:pPr>
            <a:r>
              <a:rPr lang="en-US" sz="1000" dirty="0">
                <a:solidFill>
                  <a:srgbClr val="8E2420"/>
                </a:solidFill>
                <a:latin typeface="Malgun Gothic" pitchFamily="34" charset="0"/>
                <a:ea typeface="Malgun Gothic" pitchFamily="34" charset="-122"/>
                <a:cs typeface="Malgun Gothic" pitchFamily="34" charset="-120"/>
              </a:rPr>
              <a:t>변형 규칙 3종은 자체 설계이며 외부 검증을 거치지 않았습니다.</a:t>
            </a:r>
            <a:endParaRPr lang="en-US" sz="1000" dirty="0"/>
          </a:p>
          <a:p>
            <a:pPr algn="l" marL="342900" indent="-342900">
              <a:spcAft>
                <a:spcPts val="600"/>
              </a:spcAft>
              <a:buSzPct val="100000"/>
              <a:buChar char="•"/>
            </a:pPr>
            <a:r>
              <a:rPr lang="en-US" sz="1000" dirty="0">
                <a:solidFill>
                  <a:srgbClr val="8E2420"/>
                </a:solidFill>
                <a:latin typeface="Malgun Gothic" pitchFamily="34" charset="0"/>
                <a:ea typeface="Malgun Gothic" pitchFamily="34" charset="-122"/>
                <a:cs typeface="Malgun Gothic" pitchFamily="34" charset="-120"/>
              </a:rPr>
              <a:t>표본이 300건으로, 라벨별로는 private_address가 10건에 그쳐 통계적 신뢰구간이 넓습니다.</a:t>
            </a:r>
            <a:endParaRPr lang="en-US" sz="1000" dirty="0"/>
          </a:p>
          <a:p>
            <a:pPr algn="l" marL="342900" indent="-342900">
              <a:spcAft>
                <a:spcPts val="600"/>
              </a:spcAft>
              <a:buSzPct val="100000"/>
              <a:buChar char="•"/>
            </a:pPr>
            <a:r>
              <a:rPr lang="en-US" sz="1000" dirty="0">
                <a:solidFill>
                  <a:srgbClr val="8E2420"/>
                </a:solidFill>
                <a:latin typeface="Malgun Gothic" pitchFamily="34" charset="0"/>
                <a:ea typeface="Malgun Gothic" pitchFamily="34" charset="-122"/>
                <a:cs typeface="Malgun Gothic" pitchFamily="34" charset="-120"/>
              </a:rPr>
              <a:t>따라서 본 결과는 참고 지표이며 합격·불합격 판정 근거로 사용하지 않았습니다.</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3584448"/>
          <a:ext cx="11057839" cy="914400"/>
        </p:xfrm>
        <a:graphic>
          <a:graphicData uri="http://schemas.openxmlformats.org/drawingml/2006/table">
            <a:tbl>
              <a:tblPr/>
              <a:tblGrid>
                <a:gridCol w="3657600"/>
                <a:gridCol w="1280160"/>
                <a:gridCol w="1280160"/>
                <a:gridCol w="4839919"/>
              </a:tblGrid>
              <a:tr h="288036">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모델카드 적대적 평가 축 (§7.5.4)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Precision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Recall</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본 프로브셋과의 대응</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8803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spacing (비정상 띄어쓰기)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0.699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0.631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P3 띄어쓰기 파괴에 대응</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digit_words (숫자 문자화)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0.715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0.674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P2 구어체 삽입과 유사 계열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at_dot_obfuscation (구분자 치환)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0.561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0.976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P3 이메일 변형에 대응</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line_breaks (줄바꿈 삽입)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0.453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0.812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본 프로브셋 미포함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14" name="Shape 11"/>
          <p:cNvSpPr/>
          <p:nvPr/>
        </p:nvSpPr>
        <p:spPr>
          <a:xfrm>
            <a:off x="566928" y="5175504"/>
            <a:ext cx="11057839" cy="566928"/>
          </a:xfrm>
          <a:prstGeom prst="roundRect">
            <a:avLst>
              <a:gd name="adj" fmla="val 9677"/>
            </a:avLst>
          </a:prstGeom>
          <a:solidFill>
            <a:srgbClr val="EDF3FD"/>
          </a:solidFill>
          <a:ln w="9525">
            <a:solidFill>
              <a:srgbClr val="EDF3FD"/>
            </a:solidFill>
            <a:prstDash val="solid"/>
          </a:ln>
        </p:spPr>
      </p:sp>
      <p:sp>
        <p:nvSpPr>
          <p:cNvPr id="15" name="Text 12"/>
          <p:cNvSpPr/>
          <p:nvPr/>
        </p:nvSpPr>
        <p:spPr>
          <a:xfrm>
            <a:off x="713232" y="5212080"/>
            <a:ext cx="10765231" cy="493776"/>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제작사 자체 평가에서도 형식 변형 축에서 정밀도가 0.45 ~ 0.72 수준으로 하락합니다. 본 프로브셋의 재현율 하락(86.17% → 65.67%)은 이와 같은 방향의 관찰이며, 모델 고유의 특성에 부합합니다.</a:t>
            </a:r>
            <a:endParaRPr lang="en-US" sz="950" dirty="0"/>
          </a:p>
        </p:txBody>
      </p:sp>
      <p:sp>
        <p:nvSpPr>
          <p:cNvPr id="16" name="Text 13"/>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모델카드 Table 11 인용 — 평가 데이터·매칭 규칙이 상이하므로 수치 직접 비교는 불가</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A8</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항목별 상세 — EM 및 부분 노출</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A8</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7589520" cy="914400"/>
        </p:xfrm>
        <a:graphic>
          <a:graphicData uri="http://schemas.openxmlformats.org/drawingml/2006/table">
            <a:tbl>
              <a:tblPr/>
              <a:tblGrid>
                <a:gridCol w="1691640"/>
                <a:gridCol w="2240280"/>
                <a:gridCol w="2194560"/>
                <a:gridCol w="731520"/>
                <a:gridCol w="731520"/>
              </a:tblGrid>
              <a:tr h="27432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 (경계 정확 일치)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부분 노출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계좌번호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814 / 815 (99.88%)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812 / 815 (99.63%)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연락처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2,676 / 2,803 (95.47%)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2,618 / 2,803 (93.40%)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1,459 / 1,580 (92.34%)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1,398 / 1,580 (88.48%)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3,017 / 3,320 (90.87%)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2,909 / 3,320 (87.62%)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카드번호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1,575 / 1,788 (88.09%)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1,515 / 1,788 (84.73%)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213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1,259 / 1,506 (83.60%)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1,202 / 1,506 (79.81%)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영문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1,864 / 2,512 (74.20%)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221 / 2,512 (8.80%)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이메일 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3,090 / 3,095 (99.84%)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208 / 3,095 (6.72%)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5,535 / 6,423 (86.17%)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103 / 6,423 (1.60%)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429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국문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1,995 / 3,295 (60.55%)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80 / 3,295 (2.43%)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1,205 / 1,283 (93.92%)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18 / 1,283 (1.40%)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24,489 / 28,420 (86.17%)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11,084 / 28,420 (39.00%)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705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3,931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6" name="Shape 3"/>
          <p:cNvSpPr/>
          <p:nvPr/>
        </p:nvSpPr>
        <p:spPr>
          <a:xfrm>
            <a:off x="8385048" y="950976"/>
            <a:ext cx="3239719" cy="2139696"/>
          </a:xfrm>
          <a:prstGeom prst="roundRect">
            <a:avLst>
              <a:gd name="adj" fmla="val 2564"/>
            </a:avLst>
          </a:prstGeom>
          <a:solidFill>
            <a:srgbClr val="FBEDEC"/>
          </a:solidFill>
          <a:ln w="9525">
            <a:solidFill>
              <a:srgbClr val="EFD4D2"/>
            </a:solidFill>
            <a:prstDash val="solid"/>
          </a:ln>
        </p:spPr>
      </p:sp>
      <p:sp>
        <p:nvSpPr>
          <p:cNvPr id="7" name="Shape 4"/>
          <p:cNvSpPr/>
          <p:nvPr/>
        </p:nvSpPr>
        <p:spPr>
          <a:xfrm>
            <a:off x="8549640" y="1078992"/>
            <a:ext cx="2377440" cy="274320"/>
          </a:xfrm>
          <a:prstGeom prst="roundRect">
            <a:avLst>
              <a:gd name="adj" fmla="val 16667"/>
            </a:avLst>
          </a:prstGeom>
          <a:solidFill>
            <a:srgbClr val="8E2420"/>
          </a:solidFill>
          <a:ln w="6350">
            <a:solidFill>
              <a:srgbClr val="8E2420"/>
            </a:solidFill>
            <a:prstDash val="solid"/>
          </a:ln>
        </p:spPr>
      </p:sp>
      <p:sp>
        <p:nvSpPr>
          <p:cNvPr id="8" name="Text 5"/>
          <p:cNvSpPr/>
          <p:nvPr/>
        </p:nvSpPr>
        <p:spPr>
          <a:xfrm>
            <a:off x="8549640" y="1078992"/>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EM 저하 항목군</a:t>
            </a:r>
            <a:endParaRPr lang="en-US" sz="1050" dirty="0"/>
          </a:p>
        </p:txBody>
      </p:sp>
      <p:sp>
        <p:nvSpPr>
          <p:cNvPr id="9" name="Text 6"/>
          <p:cNvSpPr/>
          <p:nvPr/>
        </p:nvSpPr>
        <p:spPr>
          <a:xfrm>
            <a:off x="8567928" y="1481328"/>
            <a:ext cx="2873959" cy="1481328"/>
          </a:xfrm>
          <a:prstGeom prst="rect">
            <a:avLst/>
          </a:prstGeom>
          <a:noFill/>
          <a:ln/>
        </p:spPr>
        <p:txBody>
          <a:bodyPr wrap="square" lIns="0" tIns="0" rIns="0" bIns="0" rtlCol="0" anchor="t"/>
          <a:lstStyle/>
          <a:p>
            <a:pPr algn="l" indent="0" marL="0">
              <a:lnSpc>
                <a:spcPct val="120000"/>
              </a:lnSpc>
              <a:spcAft>
                <a:spcPts val="300"/>
              </a:spcAft>
              <a:buNone/>
            </a:pPr>
            <a:r>
              <a:rPr lang="en-US" sz="950" b="1" dirty="0">
                <a:solidFill>
                  <a:srgbClr val="8E2420"/>
                </a:solidFill>
                <a:latin typeface="Malgun Gothic" pitchFamily="34" charset="0"/>
                <a:ea typeface="Malgun Gothic" pitchFamily="34" charset="-122"/>
                <a:cs typeface="Malgun Gothic" pitchFamily="34" charset="-120"/>
              </a:rPr>
              <a:t>여권번호 1.40% · 주소 1.60% · 국문 성명 2.43% · 이메일 6.72% · 영문 성명 8.80%</a:t>
            </a:r>
            <a:endParaRPr lang="en-US" sz="950" dirty="0"/>
          </a:p>
          <a:p>
            <a:pPr algn="l" indent="0" marL="0">
              <a:lnSpc>
                <a:spcPct val="120000"/>
              </a:lnSpc>
              <a:spcAft>
                <a:spcPts val="300"/>
              </a:spcAft>
              <a:buNone/>
            </a:pPr>
            <a:endParaRPr lang="en-US" sz="950" dirty="0"/>
          </a:p>
          <a:p>
            <a:pPr algn="l" indent="0" marL="0">
              <a:lnSpc>
                <a:spcPct val="120000"/>
              </a:lnSpc>
              <a:spcAft>
                <a:spcPts val="300"/>
              </a:spcAft>
              <a:buNone/>
            </a:pPr>
            <a:r>
              <a:rPr lang="en-US" sz="950" dirty="0">
                <a:solidFill>
                  <a:srgbClr val="8E2420"/>
                </a:solidFill>
                <a:latin typeface="Malgun Gothic" pitchFamily="34" charset="0"/>
                <a:ea typeface="Malgun Gothic" pitchFamily="34" charset="-122"/>
                <a:cs typeface="Malgun Gothic" pitchFamily="34" charset="-120"/>
              </a:rPr>
              <a:t>이 다섯 항목은 재현율이 높아도 경계가 거의 일치하지 않습니다. 값은 덮이지만 앞뒤로 불필요한 문자가 함께 마스킹되거나, 구간이 조각나 있음을 뜻합니다.</a:t>
            </a:r>
            <a:endParaRPr lang="en-US" sz="950" dirty="0"/>
          </a:p>
        </p:txBody>
      </p:sp>
      <p:sp>
        <p:nvSpPr>
          <p:cNvPr id="10" name="Shape 7"/>
          <p:cNvSpPr/>
          <p:nvPr/>
        </p:nvSpPr>
        <p:spPr>
          <a:xfrm>
            <a:off x="8385048" y="3236976"/>
            <a:ext cx="3239719" cy="2212848"/>
          </a:xfrm>
          <a:prstGeom prst="roundRect">
            <a:avLst>
              <a:gd name="adj" fmla="val 2479"/>
            </a:avLst>
          </a:prstGeom>
          <a:solidFill>
            <a:srgbClr val="F7F8FB"/>
          </a:solidFill>
          <a:ln w="9525">
            <a:solidFill>
              <a:srgbClr val="DFE3EC"/>
            </a:solidFill>
            <a:prstDash val="solid"/>
          </a:ln>
        </p:spPr>
      </p:sp>
      <p:sp>
        <p:nvSpPr>
          <p:cNvPr id="11" name="Shape 8"/>
          <p:cNvSpPr/>
          <p:nvPr/>
        </p:nvSpPr>
        <p:spPr>
          <a:xfrm>
            <a:off x="8549640" y="3364992"/>
            <a:ext cx="2377440" cy="274320"/>
          </a:xfrm>
          <a:prstGeom prst="roundRect">
            <a:avLst>
              <a:gd name="adj" fmla="val 16667"/>
            </a:avLst>
          </a:prstGeom>
          <a:solidFill>
            <a:srgbClr val="1E2761"/>
          </a:solidFill>
          <a:ln w="6350">
            <a:solidFill>
              <a:srgbClr val="1E2761"/>
            </a:solidFill>
            <a:prstDash val="solid"/>
          </a:ln>
        </p:spPr>
      </p:sp>
      <p:sp>
        <p:nvSpPr>
          <p:cNvPr id="12" name="Text 9"/>
          <p:cNvSpPr/>
          <p:nvPr/>
        </p:nvSpPr>
        <p:spPr>
          <a:xfrm>
            <a:off x="8549640" y="3364992"/>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운영상 시사점</a:t>
            </a:r>
            <a:endParaRPr lang="en-US" sz="1050" dirty="0"/>
          </a:p>
        </p:txBody>
      </p:sp>
      <p:sp>
        <p:nvSpPr>
          <p:cNvPr id="13" name="Text 10"/>
          <p:cNvSpPr/>
          <p:nvPr/>
        </p:nvSpPr>
        <p:spPr>
          <a:xfrm>
            <a:off x="8586216" y="3767328"/>
            <a:ext cx="2837383" cy="1572768"/>
          </a:xfrm>
          <a:prstGeom prst="rect">
            <a:avLst/>
          </a:prstGeom>
          <a:noFill/>
          <a:ln/>
        </p:spPr>
        <p:txBody>
          <a:bodyPr wrap="square" lIns="0" tIns="0" rIns="0" bIns="0" rtlCol="0" anchor="t"/>
          <a:lstStyle/>
          <a:p>
            <a:pPr algn="l" marL="342900" indent="-342900">
              <a:spcAft>
                <a:spcPts val="500"/>
              </a:spcAft>
              <a:buSzPct val="100000"/>
              <a:buChar char="•"/>
            </a:pPr>
            <a:r>
              <a:rPr lang="en-US" sz="950" dirty="0">
                <a:solidFill>
                  <a:srgbClr val="16181D"/>
                </a:solidFill>
                <a:latin typeface="Malgun Gothic" pitchFamily="34" charset="0"/>
                <a:ea typeface="Malgun Gothic" pitchFamily="34" charset="-122"/>
                <a:cs typeface="Malgun Gothic" pitchFamily="34" charset="-120"/>
              </a:rPr>
              <a:t>EM은 합격 기준이 아니라 진단 지표입니다.</a:t>
            </a:r>
            <a:endParaRPr lang="en-US" sz="950" dirty="0"/>
          </a:p>
          <a:p>
            <a:pPr algn="l" marL="342900" indent="-342900">
              <a:spcAft>
                <a:spcPts val="500"/>
              </a:spcAft>
              <a:buSzPct val="100000"/>
              <a:buChar char="•"/>
            </a:pPr>
            <a:r>
              <a:rPr lang="en-US" sz="950" dirty="0">
                <a:solidFill>
                  <a:srgbClr val="16181D"/>
                </a:solidFill>
                <a:latin typeface="Malgun Gothic" pitchFamily="34" charset="0"/>
                <a:ea typeface="Malgun Gothic" pitchFamily="34" charset="-122"/>
                <a:cs typeface="Malgun Gothic" pitchFamily="34" charset="-120"/>
              </a:rPr>
              <a:t>EM이 낮고 재현율이 높으면 → 과잉 마스킹 경향</a:t>
            </a:r>
            <a:endParaRPr lang="en-US" sz="950" dirty="0"/>
          </a:p>
          <a:p>
            <a:pPr algn="l" marL="342900" indent="-342900">
              <a:spcAft>
                <a:spcPts val="500"/>
              </a:spcAft>
              <a:buSzPct val="100000"/>
              <a:buChar char="•"/>
            </a:pPr>
            <a:r>
              <a:rPr lang="en-US" sz="950" dirty="0">
                <a:solidFill>
                  <a:srgbClr val="16181D"/>
                </a:solidFill>
                <a:latin typeface="Malgun Gothic" pitchFamily="34" charset="0"/>
                <a:ea typeface="Malgun Gothic" pitchFamily="34" charset="-122"/>
                <a:cs typeface="Malgun Gothic" pitchFamily="34" charset="-120"/>
              </a:rPr>
              <a:t>EM이 낮고 부분 노출이 많으면 → 경계 절단 (주소 429건)</a:t>
            </a:r>
            <a:endParaRPr lang="en-US" sz="950" dirty="0"/>
          </a:p>
          <a:p>
            <a:pPr algn="l" marL="342900" indent="-342900">
              <a:spcAft>
                <a:spcPts val="500"/>
              </a:spcAft>
              <a:buSzPct val="100000"/>
              <a:buChar char="•"/>
            </a:pPr>
            <a:r>
              <a:rPr lang="en-US" sz="950" dirty="0">
                <a:solidFill>
                  <a:srgbClr val="16181D"/>
                </a:solidFill>
                <a:latin typeface="Malgun Gothic" pitchFamily="34" charset="0"/>
                <a:ea typeface="Malgun Gothic" pitchFamily="34" charset="-122"/>
                <a:cs typeface="Malgun Gothic" pitchFamily="34" charset="-120"/>
              </a:rPr>
              <a:t>경계 안정성 개선은 디코딩 구성과 직결되며 부록 A13에서 다룹니다.</a:t>
            </a:r>
            <a:endParaRPr lang="en-US" sz="950" dirty="0"/>
          </a:p>
        </p:txBody>
      </p:sp>
      <p:sp>
        <p:nvSpPr>
          <p:cNvPr id="14" name="Text 11"/>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부분 노출 705건 · 노출 문자 3,827자  |  미탐 대사 : 완전 미탐 2,139 + 부분 노출 705 + 분할 피복 1,087 = 3,931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A9</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규칙 레이어 상세</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A9</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1828800"/>
                <a:gridCol w="3108960"/>
                <a:gridCol w="2377440"/>
                <a:gridCol w="2377440"/>
                <a:gridCol w="1365199"/>
              </a:tblGrid>
              <a:tr h="288036">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탐지 방식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형식 검증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기준선 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구제한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8803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정규식 (6자리-7자리 패턴)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검증번호 계산식 적용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3,320 / 3,320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정규식 (주민식·구 외국인식 병행)</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검증번호 계산식 적용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1,580 / 1,580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정규식 (문자+숫자 조합 패턴)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형식 길이·접두 문자 확인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1,283 / 1,283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정규식 (지역코드-연도-일련-검증)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구분자·자릿수 확인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1,506 / 1,506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8036">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4개 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7,689 / 7,689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741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6" name="Shape 3"/>
          <p:cNvSpPr/>
          <p:nvPr/>
        </p:nvSpPr>
        <p:spPr>
          <a:xfrm>
            <a:off x="566928" y="2798064"/>
            <a:ext cx="5391760" cy="1737360"/>
          </a:xfrm>
          <a:prstGeom prst="roundRect">
            <a:avLst>
              <a:gd name="adj" fmla="val 3158"/>
            </a:avLst>
          </a:prstGeom>
          <a:solidFill>
            <a:srgbClr val="F7F8FB"/>
          </a:solidFill>
          <a:ln w="9525">
            <a:solidFill>
              <a:srgbClr val="DFE3EC"/>
            </a:solidFill>
            <a:prstDash val="solid"/>
          </a:ln>
        </p:spPr>
      </p:sp>
      <p:sp>
        <p:nvSpPr>
          <p:cNvPr id="7" name="Shape 4"/>
          <p:cNvSpPr/>
          <p:nvPr/>
        </p:nvSpPr>
        <p:spPr>
          <a:xfrm>
            <a:off x="731520" y="2926080"/>
            <a:ext cx="2194560" cy="274320"/>
          </a:xfrm>
          <a:prstGeom prst="roundRect">
            <a:avLst>
              <a:gd name="adj" fmla="val 16667"/>
            </a:avLst>
          </a:prstGeom>
          <a:solidFill>
            <a:srgbClr val="1E2761"/>
          </a:solidFill>
          <a:ln w="6350">
            <a:solidFill>
              <a:srgbClr val="1E2761"/>
            </a:solidFill>
            <a:prstDash val="solid"/>
          </a:ln>
        </p:spPr>
      </p:sp>
      <p:sp>
        <p:nvSpPr>
          <p:cNvPr id="8" name="Text 5"/>
          <p:cNvSpPr/>
          <p:nvPr/>
        </p:nvSpPr>
        <p:spPr>
          <a:xfrm>
            <a:off x="731520" y="2926080"/>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병합 알고리즘</a:t>
            </a:r>
            <a:endParaRPr lang="en-US" sz="1050" dirty="0"/>
          </a:p>
        </p:txBody>
      </p:sp>
      <p:sp>
        <p:nvSpPr>
          <p:cNvPr id="9" name="Text 6"/>
          <p:cNvSpPr/>
          <p:nvPr/>
        </p:nvSpPr>
        <p:spPr>
          <a:xfrm>
            <a:off x="768096" y="3328416"/>
            <a:ext cx="4989424" cy="1133856"/>
          </a:xfrm>
          <a:prstGeom prst="rect">
            <a:avLst/>
          </a:prstGeom>
          <a:noFill/>
          <a:ln/>
        </p:spPr>
        <p:txBody>
          <a:bodyPr wrap="square" lIns="0" tIns="0" rIns="0" bIns="0" rtlCol="0" anchor="t"/>
          <a:lstStyle/>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① 동일 텍스트에 OPF와 규칙 검출기를 각각 독립 실행</a:t>
            </a:r>
            <a:endParaRPr lang="en-US" sz="950" dirty="0"/>
          </a:p>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② 규칙 후보에 형식 검증을 적용해 오탐 제거</a:t>
            </a:r>
            <a:endParaRPr lang="en-US" sz="950" dirty="0"/>
          </a:p>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③ 두 결과의 문자 구간을 병합 — 어느 한쪽만 잡아도 마스킹</a:t>
            </a:r>
            <a:endParaRPr lang="en-US" sz="950" dirty="0"/>
          </a:p>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④ 모델 가중치는 수정하지 않음 — 롤백은 규칙 비활성화로 가능</a:t>
            </a:r>
            <a:endParaRPr lang="en-US" sz="950" dirty="0"/>
          </a:p>
        </p:txBody>
      </p:sp>
      <p:sp>
        <p:nvSpPr>
          <p:cNvPr id="10" name="Shape 7"/>
          <p:cNvSpPr/>
          <p:nvPr/>
        </p:nvSpPr>
        <p:spPr>
          <a:xfrm>
            <a:off x="6233008" y="2798064"/>
            <a:ext cx="5391760" cy="1737360"/>
          </a:xfrm>
          <a:prstGeom prst="roundRect">
            <a:avLst>
              <a:gd name="adj" fmla="val 3158"/>
            </a:avLst>
          </a:prstGeom>
          <a:solidFill>
            <a:srgbClr val="FBF4E4"/>
          </a:solidFill>
          <a:ln w="9525">
            <a:solidFill>
              <a:srgbClr val="EFE1C4"/>
            </a:solidFill>
            <a:prstDash val="solid"/>
          </a:ln>
        </p:spPr>
      </p:sp>
      <p:sp>
        <p:nvSpPr>
          <p:cNvPr id="11" name="Shape 8"/>
          <p:cNvSpPr/>
          <p:nvPr/>
        </p:nvSpPr>
        <p:spPr>
          <a:xfrm>
            <a:off x="6397600" y="2926080"/>
            <a:ext cx="2926080" cy="274320"/>
          </a:xfrm>
          <a:prstGeom prst="roundRect">
            <a:avLst>
              <a:gd name="adj" fmla="val 16667"/>
            </a:avLst>
          </a:prstGeom>
          <a:solidFill>
            <a:srgbClr val="8A6410"/>
          </a:solidFill>
          <a:ln w="6350">
            <a:solidFill>
              <a:srgbClr val="8A6410"/>
            </a:solidFill>
            <a:prstDash val="solid"/>
          </a:ln>
        </p:spPr>
      </p:sp>
      <p:sp>
        <p:nvSpPr>
          <p:cNvPr id="12" name="Text 9"/>
          <p:cNvSpPr/>
          <p:nvPr/>
        </p:nvSpPr>
        <p:spPr>
          <a:xfrm>
            <a:off x="6397600" y="2926080"/>
            <a:ext cx="2926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잔여 미탐 8건 — 원인 및 조치안</a:t>
            </a:r>
            <a:endParaRPr lang="en-US" sz="1050" dirty="0"/>
          </a:p>
        </p:txBody>
      </p:sp>
      <p:sp>
        <p:nvSpPr>
          <p:cNvPr id="13" name="Text 10"/>
          <p:cNvSpPr/>
          <p:nvPr/>
        </p:nvSpPr>
        <p:spPr>
          <a:xfrm>
            <a:off x="6434176" y="3328416"/>
            <a:ext cx="4989424" cy="1133856"/>
          </a:xfrm>
          <a:prstGeom prst="rect">
            <a:avLst/>
          </a:prstGeom>
          <a:noFill/>
          <a:ln/>
        </p:spPr>
        <p:txBody>
          <a:bodyPr wrap="square" lIns="0" tIns="0" rIns="0" bIns="0" rtlCol="0" anchor="t"/>
          <a:lstStyle/>
          <a:p>
            <a:pPr algn="l" indent="0" marL="0">
              <a:lnSpc>
                <a:spcPct val="115000"/>
              </a:lnSpc>
              <a:spcAft>
                <a:spcPts val="300"/>
              </a:spcAft>
              <a:buNone/>
            </a:pPr>
            <a:r>
              <a:rPr lang="en-US" sz="900" dirty="0">
                <a:solidFill>
                  <a:srgbClr val="8A6410"/>
                </a:solidFill>
                <a:latin typeface="Malgun Gothic" pitchFamily="34" charset="0"/>
                <a:ea typeface="Malgun Gothic" pitchFamily="34" charset="-122"/>
                <a:cs typeface="Malgun Gothic" pitchFamily="34" charset="-120"/>
              </a:rPr>
              <a:t>원인 — 현재 병합 규칙이 「겹치면 넓은 쪽 채택」으로 되어 있어, 규칙이 정확히 잡은 예측을 경계가 밀린 OPF 예측이 대체합니다.</a:t>
            </a:r>
            <a:endParaRPr lang="en-US" sz="900" dirty="0"/>
          </a:p>
          <a:p>
            <a:pPr algn="l" indent="0" marL="0">
              <a:lnSpc>
                <a:spcPct val="115000"/>
              </a:lnSpc>
              <a:spcAft>
                <a:spcPts val="300"/>
              </a:spcAft>
              <a:buNone/>
            </a:pPr>
            <a:r>
              <a:rPr lang="en-US" sz="900" dirty="0">
                <a:solidFill>
                  <a:srgbClr val="8A6410"/>
                </a:solidFill>
                <a:latin typeface="Malgun Gothic" pitchFamily="34" charset="0"/>
                <a:ea typeface="Malgun Gothic" pitchFamily="34" charset="-122"/>
                <a:cs typeface="Malgun Gothic" pitchFamily="34" charset="-120"/>
              </a:rPr>
              <a:t>조치안 — 「구간 합집합 유지」로 변경 시 8건이 0건이 될 것으로 예상되며, 참조 기준(4건 이내)을 충족합니다.</a:t>
            </a:r>
            <a:endParaRPr lang="en-US" sz="900" dirty="0"/>
          </a:p>
          <a:p>
            <a:pPr algn="l" indent="0" marL="0">
              <a:lnSpc>
                <a:spcPct val="115000"/>
              </a:lnSpc>
              <a:spcAft>
                <a:spcPts val="300"/>
              </a:spcAft>
              <a:buNone/>
            </a:pPr>
            <a:r>
              <a:rPr lang="en-US" sz="900" dirty="0">
                <a:solidFill>
                  <a:srgbClr val="8A6410"/>
                </a:solidFill>
                <a:latin typeface="Malgun Gothic" pitchFamily="34" charset="0"/>
                <a:ea typeface="Malgun Gothic" pitchFamily="34" charset="-122"/>
                <a:cs typeface="Malgun Gothic" pitchFamily="34" charset="-120"/>
              </a:rPr>
              <a:t>상태 — 발표 시점 기준 미수정. 발표 전 코드 변경 시 재실행·재검증이 필요해 후속 조치로 분류했습니다.</a:t>
            </a:r>
            <a:endParaRPr lang="en-US" sz="900" dirty="0"/>
          </a:p>
        </p:txBody>
      </p:sp>
      <p:sp>
        <p:nvSpPr>
          <p:cNvPr id="14" name="Shape 11"/>
          <p:cNvSpPr/>
          <p:nvPr/>
        </p:nvSpPr>
        <p:spPr>
          <a:xfrm>
            <a:off x="566928" y="4681728"/>
            <a:ext cx="11057839" cy="713232"/>
          </a:xfrm>
          <a:prstGeom prst="roundRect">
            <a:avLst>
              <a:gd name="adj" fmla="val 7692"/>
            </a:avLst>
          </a:prstGeom>
          <a:solidFill>
            <a:srgbClr val="FBEDEC"/>
          </a:solidFill>
          <a:ln w="9525">
            <a:solidFill>
              <a:srgbClr val="FBEDEC"/>
            </a:solidFill>
            <a:prstDash val="solid"/>
          </a:ln>
        </p:spPr>
      </p:sp>
      <p:sp>
        <p:nvSpPr>
          <p:cNvPr id="15" name="Text 12"/>
          <p:cNvSpPr/>
          <p:nvPr/>
        </p:nvSpPr>
        <p:spPr>
          <a:xfrm>
            <a:off x="713232" y="4718304"/>
            <a:ext cx="10765231" cy="640080"/>
          </a:xfrm>
          <a:prstGeom prst="rect">
            <a:avLst/>
          </a:prstGeom>
          <a:noFill/>
          <a:ln/>
        </p:spPr>
        <p:txBody>
          <a:bodyPr wrap="square" lIns="0" tIns="0" rIns="0" bIns="0" rtlCol="0" anchor="ctr"/>
          <a:lstStyle/>
          <a:p>
            <a:pPr algn="l" indent="0" marL="0">
              <a:lnSpc>
                <a:spcPct val="115000"/>
              </a:lnSpc>
              <a:buNone/>
            </a:pPr>
            <a:r>
              <a:rPr lang="en-US" sz="950" dirty="0">
                <a:solidFill>
                  <a:srgbClr val="8E2420"/>
                </a:solidFill>
                <a:latin typeface="Malgun Gothic" pitchFamily="34" charset="0"/>
                <a:ea typeface="Malgun Gothic" pitchFamily="34" charset="-122"/>
                <a:cs typeface="Malgun Gothic" pitchFamily="34" charset="-120"/>
              </a:rPr>
              <a:t>⚠ 규칙 레이어의 기준선 100.00%는 테스트셋이 규칙적 형식으로 합성된 결과이며, 실 데이터 성능을 보장하지 않습니다. 부분 발화 프로브셋에서 고유식별 4종 0 / 0으로 붕괴한 것이 그 근거입니다. 또한 규칙 커버리지는 7,689 / 28,420 (27.05%)로 전체의 1/4 수준이며, 성명·주소에는 적용할 수 없습니다.</a:t>
            </a:r>
            <a:endParaRPr lang="en-US" sz="950" dirty="0"/>
          </a:p>
        </p:txBody>
      </p:sp>
      <p:sp>
        <p:nvSpPr>
          <p:cNvPr id="16" name="Shape 13"/>
          <p:cNvSpPr/>
          <p:nvPr/>
        </p:nvSpPr>
        <p:spPr>
          <a:xfrm>
            <a:off x="566928" y="5541264"/>
            <a:ext cx="11057839" cy="566928"/>
          </a:xfrm>
          <a:prstGeom prst="roundRect">
            <a:avLst>
              <a:gd name="adj" fmla="val 9677"/>
            </a:avLst>
          </a:prstGeom>
          <a:solidFill>
            <a:srgbClr val="EDF3FD"/>
          </a:solidFill>
          <a:ln w="9525">
            <a:solidFill>
              <a:srgbClr val="EDF3FD"/>
            </a:solidFill>
            <a:prstDash val="solid"/>
          </a:ln>
        </p:spPr>
      </p:sp>
      <p:sp>
        <p:nvSpPr>
          <p:cNvPr id="17" name="Text 14"/>
          <p:cNvSpPr/>
          <p:nvPr/>
        </p:nvSpPr>
        <p:spPr>
          <a:xfrm>
            <a:off x="713232" y="5577840"/>
            <a:ext cx="10765231" cy="493776"/>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운영 도입 시 추가로 정해야 할 사항 — 규칙 정의의 관리 주체, 기관별 형식 변경 시 갱신 절차, 규칙 변경 이력 관리 방법. 현재는 평가용 후처리 스크립트이며 서비스 파이프라인에는 반영되어 있지 않습니다.</a:t>
            </a:r>
            <a:endParaRPr lang="en-US" sz="950" dirty="0"/>
          </a:p>
        </p:txBody>
      </p:sp>
      <p:sp>
        <p:nvSpPr>
          <p:cNvPr id="18" name="Text 15"/>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정규식 원문 및 검증 함수는 개발망 스크립트(rule_layer.py · hybrid_merge.py) 참조</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A10</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모델카드 인용 ① 구조 및 성능</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A10</a:t>
            </a:r>
            <a:endParaRPr lang="en-US" sz="1000" dirty="0"/>
          </a:p>
        </p:txBody>
      </p:sp>
      <p:sp>
        <p:nvSpPr>
          <p:cNvPr id="5" name="Shape 3"/>
          <p:cNvSpPr/>
          <p:nvPr/>
        </p:nvSpPr>
        <p:spPr>
          <a:xfrm>
            <a:off x="566928" y="950976"/>
            <a:ext cx="5391760" cy="2487168"/>
          </a:xfrm>
          <a:prstGeom prst="roundRect">
            <a:avLst>
              <a:gd name="adj" fmla="val 2206"/>
            </a:avLst>
          </a:prstGeom>
          <a:solidFill>
            <a:srgbClr val="F7F8FB"/>
          </a:solidFill>
          <a:ln w="9525">
            <a:solidFill>
              <a:srgbClr val="DFE3EC"/>
            </a:solidFill>
            <a:prstDash val="solid"/>
          </a:ln>
        </p:spPr>
      </p:sp>
      <p:sp>
        <p:nvSpPr>
          <p:cNvPr id="6" name="Shape 4"/>
          <p:cNvSpPr/>
          <p:nvPr/>
        </p:nvSpPr>
        <p:spPr>
          <a:xfrm>
            <a:off x="731520" y="1078992"/>
            <a:ext cx="2194560" cy="274320"/>
          </a:xfrm>
          <a:prstGeom prst="roundRect">
            <a:avLst>
              <a:gd name="adj" fmla="val 16667"/>
            </a:avLst>
          </a:prstGeom>
          <a:solidFill>
            <a:srgbClr val="1E2761"/>
          </a:solidFill>
          <a:ln w="6350">
            <a:solidFill>
              <a:srgbClr val="1E2761"/>
            </a:solidFill>
            <a:prstDash val="solid"/>
          </a:ln>
        </p:spPr>
      </p:sp>
      <p:sp>
        <p:nvSpPr>
          <p:cNvPr id="7" name="Text 5"/>
          <p:cNvSpPr/>
          <p:nvPr/>
        </p:nvSpPr>
        <p:spPr>
          <a:xfrm>
            <a:off x="731520" y="1078992"/>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구조 (원문 대조 확인)</a:t>
            </a:r>
            <a:endParaRPr lang="en-US" sz="1050" dirty="0"/>
          </a:p>
        </p:txBody>
      </p:sp>
      <p:sp>
        <p:nvSpPr>
          <p:cNvPr id="8" name="Text 6"/>
          <p:cNvSpPr/>
          <p:nvPr/>
        </p:nvSpPr>
        <p:spPr>
          <a:xfrm>
            <a:off x="749808" y="1499616"/>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릴리스</a:t>
            </a:r>
            <a:endParaRPr lang="en-US" sz="950" dirty="0"/>
          </a:p>
        </p:txBody>
      </p:sp>
      <p:sp>
        <p:nvSpPr>
          <p:cNvPr id="9" name="Text 7"/>
          <p:cNvSpPr/>
          <p:nvPr/>
        </p:nvSpPr>
        <p:spPr>
          <a:xfrm>
            <a:off x="2487168" y="1499616"/>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Preview — 정식 GA 아님 (§1 · §8)</a:t>
            </a:r>
            <a:endParaRPr lang="en-US" sz="950" dirty="0"/>
          </a:p>
        </p:txBody>
      </p:sp>
      <p:sp>
        <p:nvSpPr>
          <p:cNvPr id="10" name="Text 8"/>
          <p:cNvSpPr/>
          <p:nvPr/>
        </p:nvSpPr>
        <p:spPr>
          <a:xfrm>
            <a:off x="749808" y="1723644"/>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기반</a:t>
            </a:r>
            <a:endParaRPr lang="en-US" sz="950" dirty="0"/>
          </a:p>
        </p:txBody>
      </p:sp>
      <p:sp>
        <p:nvSpPr>
          <p:cNvPr id="11" name="Text 9"/>
          <p:cNvSpPr/>
          <p:nvPr/>
        </p:nvSpPr>
        <p:spPr>
          <a:xfrm>
            <a:off x="2487168" y="1723644"/>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gpt-oss 계열 체크포인트를 양방향 분류기로 전환</a:t>
            </a:r>
            <a:endParaRPr lang="en-US" sz="950" dirty="0"/>
          </a:p>
        </p:txBody>
      </p:sp>
      <p:sp>
        <p:nvSpPr>
          <p:cNvPr id="12" name="Text 10"/>
          <p:cNvSpPr/>
          <p:nvPr/>
        </p:nvSpPr>
        <p:spPr>
          <a:xfrm>
            <a:off x="749808" y="1947672"/>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파라미터</a:t>
            </a:r>
            <a:endParaRPr lang="en-US" sz="950" dirty="0"/>
          </a:p>
        </p:txBody>
      </p:sp>
      <p:sp>
        <p:nvSpPr>
          <p:cNvPr id="13" name="Text 11"/>
          <p:cNvSpPr/>
          <p:nvPr/>
        </p:nvSpPr>
        <p:spPr>
          <a:xfrm>
            <a:off x="2487168" y="1947672"/>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총 1.5B / 활성 50M</a:t>
            </a:r>
            <a:endParaRPr lang="en-US" sz="950" dirty="0"/>
          </a:p>
        </p:txBody>
      </p:sp>
      <p:sp>
        <p:nvSpPr>
          <p:cNvPr id="14" name="Text 12"/>
          <p:cNvSpPr/>
          <p:nvPr/>
        </p:nvSpPr>
        <p:spPr>
          <a:xfrm>
            <a:off x="749808" y="2171700"/>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레이어</a:t>
            </a:r>
            <a:endParaRPr lang="en-US" sz="950" dirty="0"/>
          </a:p>
        </p:txBody>
      </p:sp>
      <p:sp>
        <p:nvSpPr>
          <p:cNvPr id="15" name="Text 13"/>
          <p:cNvSpPr/>
          <p:nvPr/>
        </p:nvSpPr>
        <p:spPr>
          <a:xfrm>
            <a:off x="2487168" y="2171700"/>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8 · d_model 640</a:t>
            </a:r>
            <a:endParaRPr lang="en-US" sz="950" dirty="0"/>
          </a:p>
        </p:txBody>
      </p:sp>
      <p:sp>
        <p:nvSpPr>
          <p:cNvPr id="16" name="Text 14"/>
          <p:cNvSpPr/>
          <p:nvPr/>
        </p:nvSpPr>
        <p:spPr>
          <a:xfrm>
            <a:off x="749808" y="2395728"/>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FFN</a:t>
            </a:r>
            <a:endParaRPr lang="en-US" sz="950" dirty="0"/>
          </a:p>
        </p:txBody>
      </p:sp>
      <p:sp>
        <p:nvSpPr>
          <p:cNvPr id="17" name="Text 15"/>
          <p:cNvSpPr/>
          <p:nvPr/>
        </p:nvSpPr>
        <p:spPr>
          <a:xfrm>
            <a:off x="2487168" y="2395728"/>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Sparse MoE · 전문가 128 · top-4 라우팅</a:t>
            </a:r>
            <a:endParaRPr lang="en-US" sz="950" dirty="0"/>
          </a:p>
        </p:txBody>
      </p:sp>
      <p:sp>
        <p:nvSpPr>
          <p:cNvPr id="18" name="Text 16"/>
          <p:cNvSpPr/>
          <p:nvPr/>
        </p:nvSpPr>
        <p:spPr>
          <a:xfrm>
            <a:off x="749808" y="2619756"/>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어텐션</a:t>
            </a:r>
            <a:endParaRPr lang="en-US" sz="950" dirty="0"/>
          </a:p>
        </p:txBody>
      </p:sp>
      <p:sp>
        <p:nvSpPr>
          <p:cNvPr id="19" name="Text 17"/>
          <p:cNvSpPr/>
          <p:nvPr/>
        </p:nvSpPr>
        <p:spPr>
          <a:xfrm>
            <a:off x="2487168" y="2619756"/>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GQA · 쿼리 14 / KV 2 (그룹 7)</a:t>
            </a:r>
            <a:endParaRPr lang="en-US" sz="950" dirty="0"/>
          </a:p>
        </p:txBody>
      </p:sp>
      <p:sp>
        <p:nvSpPr>
          <p:cNvPr id="20" name="Text 18"/>
          <p:cNvSpPr/>
          <p:nvPr/>
        </p:nvSpPr>
        <p:spPr>
          <a:xfrm>
            <a:off x="749808" y="2843784"/>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밴드 어텐션</a:t>
            </a:r>
            <a:endParaRPr lang="en-US" sz="950" dirty="0"/>
          </a:p>
        </p:txBody>
      </p:sp>
      <p:sp>
        <p:nvSpPr>
          <p:cNvPr id="21" name="Text 19"/>
          <p:cNvSpPr/>
          <p:nvPr/>
        </p:nvSpPr>
        <p:spPr>
          <a:xfrm>
            <a:off x="2487168" y="2843784"/>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band size 128 → 실효 창 257토큰 (§2)</a:t>
            </a:r>
            <a:endParaRPr lang="en-US" sz="950" dirty="0"/>
          </a:p>
        </p:txBody>
      </p:sp>
      <p:sp>
        <p:nvSpPr>
          <p:cNvPr id="22" name="Text 20"/>
          <p:cNvSpPr/>
          <p:nvPr/>
        </p:nvSpPr>
        <p:spPr>
          <a:xfrm>
            <a:off x="749808" y="3067812"/>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출력</a:t>
            </a:r>
            <a:endParaRPr lang="en-US" sz="950" dirty="0"/>
          </a:p>
        </p:txBody>
      </p:sp>
      <p:sp>
        <p:nvSpPr>
          <p:cNvPr id="23" name="Text 21"/>
          <p:cNvSpPr/>
          <p:nvPr/>
        </p:nvSpPr>
        <p:spPr>
          <a:xfrm>
            <a:off x="2487168" y="3067812"/>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토큰별 33 로짓 [T, 33] · 배치 [B, T, 33]</a:t>
            </a:r>
            <a:endParaRPr lang="en-US" sz="950" dirty="0"/>
          </a:p>
        </p:txBody>
      </p:sp>
      <p:sp>
        <p:nvSpPr>
          <p:cNvPr id="24" name="Text 22"/>
          <p:cNvSpPr/>
          <p:nvPr/>
        </p:nvSpPr>
        <p:spPr>
          <a:xfrm>
            <a:off x="749808" y="3291840"/>
            <a:ext cx="17373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권장 디코딩</a:t>
            </a:r>
            <a:endParaRPr lang="en-US" sz="950" dirty="0"/>
          </a:p>
        </p:txBody>
      </p:sp>
      <p:sp>
        <p:nvSpPr>
          <p:cNvPr id="25" name="Text 23"/>
          <p:cNvSpPr/>
          <p:nvPr/>
        </p:nvSpPr>
        <p:spPr>
          <a:xfrm>
            <a:off x="2487168" y="3291840"/>
            <a:ext cx="32886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제약 Viterbi · BIOES 전이 강제 (§2.3.1)</a:t>
            </a:r>
            <a:endParaRPr lang="en-US" sz="950" dirty="0"/>
          </a:p>
        </p:txBody>
      </p:sp>
      <p:sp>
        <p:nvSpPr>
          <p:cNvPr id="26" name="Shape 24"/>
          <p:cNvSpPr/>
          <p:nvPr/>
        </p:nvSpPr>
        <p:spPr>
          <a:xfrm>
            <a:off x="6233008" y="950976"/>
            <a:ext cx="5391760" cy="2487168"/>
          </a:xfrm>
          <a:prstGeom prst="roundRect">
            <a:avLst>
              <a:gd name="adj" fmla="val 2206"/>
            </a:avLst>
          </a:prstGeom>
          <a:solidFill>
            <a:srgbClr val="EDF3FD"/>
          </a:solidFill>
          <a:ln w="9525">
            <a:solidFill>
              <a:srgbClr val="D0DEF6"/>
            </a:solidFill>
            <a:prstDash val="solid"/>
          </a:ln>
        </p:spPr>
      </p:sp>
      <p:sp>
        <p:nvSpPr>
          <p:cNvPr id="27" name="Shape 25"/>
          <p:cNvSpPr/>
          <p:nvPr/>
        </p:nvSpPr>
        <p:spPr>
          <a:xfrm>
            <a:off x="6397600" y="1078992"/>
            <a:ext cx="2194560" cy="274320"/>
          </a:xfrm>
          <a:prstGeom prst="roundRect">
            <a:avLst>
              <a:gd name="adj" fmla="val 16667"/>
            </a:avLst>
          </a:prstGeom>
          <a:solidFill>
            <a:srgbClr val="1E2761"/>
          </a:solidFill>
          <a:ln w="6350">
            <a:solidFill>
              <a:srgbClr val="1E2761"/>
            </a:solidFill>
            <a:prstDash val="solid"/>
          </a:ln>
        </p:spPr>
      </p:sp>
      <p:sp>
        <p:nvSpPr>
          <p:cNvPr id="28" name="Text 26"/>
          <p:cNvSpPr/>
          <p:nvPr/>
        </p:nvSpPr>
        <p:spPr>
          <a:xfrm>
            <a:off x="6397600" y="1078992"/>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성능 (원문 인용)</a:t>
            </a:r>
            <a:endParaRPr lang="en-US" sz="1050" dirty="0"/>
          </a:p>
        </p:txBody>
      </p:sp>
      <p:sp>
        <p:nvSpPr>
          <p:cNvPr id="29" name="Text 27"/>
          <p:cNvSpPr/>
          <p:nvPr/>
        </p:nvSpPr>
        <p:spPr>
          <a:xfrm>
            <a:off x="6415888" y="1499616"/>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Table 1 · 벤치마크</a:t>
            </a:r>
            <a:endParaRPr lang="en-US" sz="950" dirty="0"/>
          </a:p>
        </p:txBody>
      </p:sp>
      <p:sp>
        <p:nvSpPr>
          <p:cNvPr id="30" name="Text 28"/>
          <p:cNvSpPr/>
          <p:nvPr/>
        </p:nvSpPr>
        <p:spPr>
          <a:xfrm>
            <a:off x="8381848" y="1499616"/>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PII-Masking-300k F1(token) 0.960 / F1(span) 0.926</a:t>
            </a:r>
            <a:endParaRPr lang="en-US" sz="950" dirty="0"/>
          </a:p>
        </p:txBody>
      </p:sp>
      <p:sp>
        <p:nvSpPr>
          <p:cNvPr id="31" name="Text 29"/>
          <p:cNvSpPr/>
          <p:nvPr/>
        </p:nvSpPr>
        <p:spPr>
          <a:xfrm>
            <a:off x="6415888" y="1723644"/>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Table 7 · 한국어</a:t>
            </a:r>
            <a:endParaRPr lang="en-US" sz="950" dirty="0"/>
          </a:p>
        </p:txBody>
      </p:sp>
      <p:sp>
        <p:nvSpPr>
          <p:cNvPr id="32" name="Text 30"/>
          <p:cNvSpPr/>
          <p:nvPr/>
        </p:nvSpPr>
        <p:spPr>
          <a:xfrm>
            <a:off x="8381848" y="1723644"/>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R 0.887 / P 0.903 / F1 0.895 (n=962)</a:t>
            </a:r>
            <a:endParaRPr lang="en-US" sz="950" dirty="0"/>
          </a:p>
        </p:txBody>
      </p:sp>
      <p:sp>
        <p:nvSpPr>
          <p:cNvPr id="33" name="Text 31"/>
          <p:cNvSpPr/>
          <p:nvPr/>
        </p:nvSpPr>
        <p:spPr>
          <a:xfrm>
            <a:off x="6415888" y="1947672"/>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Table 8 · 한국어</a:t>
            </a:r>
            <a:endParaRPr lang="en-US" sz="950" dirty="0"/>
          </a:p>
        </p:txBody>
      </p:sp>
      <p:sp>
        <p:nvSpPr>
          <p:cNvPr id="34" name="Text 32"/>
          <p:cNvSpPr/>
          <p:nvPr/>
        </p:nvSpPr>
        <p:spPr>
          <a:xfrm>
            <a:off x="8381848" y="1947672"/>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 0.651 / R 0.821 (n=1,170)</a:t>
            </a:r>
            <a:endParaRPr lang="en-US" sz="950" dirty="0"/>
          </a:p>
        </p:txBody>
      </p:sp>
      <p:sp>
        <p:nvSpPr>
          <p:cNvPr id="35" name="Text 33"/>
          <p:cNvSpPr/>
          <p:nvPr/>
        </p:nvSpPr>
        <p:spPr>
          <a:xfrm>
            <a:off x="6415888" y="2171700"/>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Table 8 · 비교</a:t>
            </a:r>
            <a:endParaRPr lang="en-US" sz="950" dirty="0"/>
          </a:p>
        </p:txBody>
      </p:sp>
      <p:sp>
        <p:nvSpPr>
          <p:cNvPr id="36" name="Text 34"/>
          <p:cNvSpPr/>
          <p:nvPr/>
        </p:nvSpPr>
        <p:spPr>
          <a:xfrm>
            <a:off x="8381848" y="2171700"/>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12개 언어 중 정밀도 최하위 (영어 0.962)</a:t>
            </a:r>
            <a:endParaRPr lang="en-US" sz="950" dirty="0"/>
          </a:p>
        </p:txBody>
      </p:sp>
      <p:sp>
        <p:nvSpPr>
          <p:cNvPr id="37" name="Text 35"/>
          <p:cNvSpPr/>
          <p:nvPr/>
        </p:nvSpPr>
        <p:spPr>
          <a:xfrm>
            <a:off x="6415888" y="2395728"/>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Table 5 · 단서 없음</a:t>
            </a:r>
            <a:endParaRPr lang="en-US" sz="950" dirty="0"/>
          </a:p>
        </p:txBody>
      </p:sp>
      <p:sp>
        <p:nvSpPr>
          <p:cNvPr id="38" name="Text 36"/>
          <p:cNvSpPr/>
          <p:nvPr/>
        </p:nvSpPr>
        <p:spPr>
          <a:xfrm>
            <a:off x="8381848" y="2395728"/>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전체 재현율 0.584 / 정밀도 0.816</a:t>
            </a:r>
            <a:endParaRPr lang="en-US" sz="950" dirty="0"/>
          </a:p>
        </p:txBody>
      </p:sp>
      <p:sp>
        <p:nvSpPr>
          <p:cNvPr id="39" name="Text 37"/>
          <p:cNvSpPr/>
          <p:nvPr/>
        </p:nvSpPr>
        <p:spPr>
          <a:xfrm>
            <a:off x="6415888" y="2619756"/>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Table 5 · 주소</a:t>
            </a:r>
            <a:endParaRPr lang="en-US" sz="950" dirty="0"/>
          </a:p>
        </p:txBody>
      </p:sp>
      <p:sp>
        <p:nvSpPr>
          <p:cNvPr id="40" name="Text 38"/>
          <p:cNvSpPr/>
          <p:nvPr/>
        </p:nvSpPr>
        <p:spPr>
          <a:xfrm>
            <a:off x="8381848" y="2619756"/>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PII only R 0.214 / 단서 선행 R 0.414</a:t>
            </a:r>
            <a:endParaRPr lang="en-US" sz="950" dirty="0"/>
          </a:p>
        </p:txBody>
      </p:sp>
      <p:sp>
        <p:nvSpPr>
          <p:cNvPr id="41" name="Text 39"/>
          <p:cNvSpPr/>
          <p:nvPr/>
        </p:nvSpPr>
        <p:spPr>
          <a:xfrm>
            <a:off x="6415888" y="2843784"/>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Table 5 · 계좌</a:t>
            </a:r>
            <a:endParaRPr lang="en-US" sz="950" dirty="0"/>
          </a:p>
        </p:txBody>
      </p:sp>
      <p:sp>
        <p:nvSpPr>
          <p:cNvPr id="42" name="Text 40"/>
          <p:cNvSpPr/>
          <p:nvPr/>
        </p:nvSpPr>
        <p:spPr>
          <a:xfrm>
            <a:off x="8381848" y="2843784"/>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PII only P 0.750 / R 0.797</a:t>
            </a:r>
            <a:endParaRPr lang="en-US" sz="950" dirty="0"/>
          </a:p>
        </p:txBody>
      </p:sp>
      <p:sp>
        <p:nvSpPr>
          <p:cNvPr id="43" name="Text 41"/>
          <p:cNvSpPr/>
          <p:nvPr/>
        </p:nvSpPr>
        <p:spPr>
          <a:xfrm>
            <a:off x="6415888" y="3067812"/>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Table 2 · 파인튜닝</a:t>
            </a:r>
            <a:endParaRPr lang="en-US" sz="950" dirty="0"/>
          </a:p>
        </p:txBody>
      </p:sp>
      <p:sp>
        <p:nvSpPr>
          <p:cNvPr id="44" name="Text 42"/>
          <p:cNvSpPr/>
          <p:nvPr/>
        </p:nvSpPr>
        <p:spPr>
          <a:xfrm>
            <a:off x="8381848" y="3067812"/>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0% 0.545 → 1% 0.879 → 10% 0.962</a:t>
            </a:r>
            <a:endParaRPr lang="en-US" sz="950" dirty="0"/>
          </a:p>
        </p:txBody>
      </p:sp>
      <p:sp>
        <p:nvSpPr>
          <p:cNvPr id="45" name="Text 43"/>
          <p:cNvSpPr/>
          <p:nvPr/>
        </p:nvSpPr>
        <p:spPr>
          <a:xfrm>
            <a:off x="6415888" y="3291840"/>
            <a:ext cx="1965960" cy="224028"/>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Figure 2 · 원홉</a:t>
            </a:r>
            <a:endParaRPr lang="en-US" sz="950" dirty="0"/>
          </a:p>
        </p:txBody>
      </p:sp>
      <p:sp>
        <p:nvSpPr>
          <p:cNvPr id="46" name="Text 44"/>
          <p:cNvSpPr/>
          <p:nvPr/>
        </p:nvSpPr>
        <p:spPr>
          <a:xfrm>
            <a:off x="8381848" y="3291840"/>
            <a:ext cx="3060040" cy="224028"/>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거리 0에서 R 0.802 → 128k에서 0.585</a:t>
            </a:r>
            <a:endParaRPr lang="en-US" sz="950" dirty="0"/>
          </a:p>
        </p:txBody>
      </p:sp>
      <p:sp>
        <p:nvSpPr>
          <p:cNvPr id="47" name="Shape 45"/>
          <p:cNvSpPr/>
          <p:nvPr/>
        </p:nvSpPr>
        <p:spPr>
          <a:xfrm>
            <a:off x="566928" y="3584448"/>
            <a:ext cx="11057839" cy="713232"/>
          </a:xfrm>
          <a:prstGeom prst="roundRect">
            <a:avLst>
              <a:gd name="adj" fmla="val 7692"/>
            </a:avLst>
          </a:prstGeom>
          <a:solidFill>
            <a:srgbClr val="FBEDEC"/>
          </a:solidFill>
          <a:ln w="9525">
            <a:solidFill>
              <a:srgbClr val="FBEDEC"/>
            </a:solidFill>
            <a:prstDash val="solid"/>
          </a:ln>
        </p:spPr>
      </p:sp>
      <p:sp>
        <p:nvSpPr>
          <p:cNvPr id="48" name="Text 46"/>
          <p:cNvSpPr/>
          <p:nvPr/>
        </p:nvSpPr>
        <p:spPr>
          <a:xfrm>
            <a:off x="713232" y="3621024"/>
            <a:ext cx="10765231" cy="640080"/>
          </a:xfrm>
          <a:prstGeom prst="rect">
            <a:avLst/>
          </a:prstGeom>
          <a:noFill/>
          <a:ln/>
        </p:spPr>
        <p:txBody>
          <a:bodyPr wrap="square" lIns="0" tIns="0" rIns="0" bIns="0" rtlCol="0" anchor="ctr"/>
          <a:lstStyle/>
          <a:p>
            <a:pPr algn="l" indent="0" marL="0">
              <a:lnSpc>
                <a:spcPct val="115000"/>
              </a:lnSpc>
              <a:buNone/>
            </a:pPr>
            <a:r>
              <a:rPr lang="en-US" sz="950" dirty="0">
                <a:solidFill>
                  <a:srgbClr val="8E2420"/>
                </a:solidFill>
                <a:latin typeface="Malgun Gothic" pitchFamily="34" charset="0"/>
                <a:ea typeface="Malgun Gothic" pitchFamily="34" charset="-122"/>
                <a:cs typeface="Malgun Gothic" pitchFamily="34" charset="-120"/>
              </a:rPr>
              <a:t>⚠ 한국어는 언어별 벤치마크(Table 6 — 네덜란드어·영어·프랑스어·독일어·이탈리아어·스페인어)에 포함되어 있지 않습니다. 따라서 널리 인용되는 F1 0.960은 한국어 성능을 나타내는 수치가 아닙니다. 한국어 수치는 별도 합성 다국어 평가(Table 7 · Table 8)에서만 확인 가능합니다.</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4443984"/>
          <a:ext cx="11057839" cy="914400"/>
        </p:xfrm>
        <a:graphic>
          <a:graphicData uri="http://schemas.openxmlformats.org/drawingml/2006/table">
            <a:tbl>
              <a:tblPr/>
              <a:tblGrid>
                <a:gridCol w="1737360"/>
                <a:gridCol w="2834640"/>
                <a:gridCol w="2834640"/>
                <a:gridCol w="3651199"/>
              </a:tblGrid>
              <a:tr h="301752">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비교 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모델카드 한국어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자체 실측 (bias 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해석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0.887 (Table 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24,489 / 28,420 (86.17%)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근접한 범위 — 테스트셋 타당성 교차 확인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정밀도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0.903 (Table 7) / 0.651 (Table 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14,784 / 34,658 (42.66%)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매칭 규칙 차이로 직접 비교 불가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50" name="Text 47"/>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Model Card for OpenAI Privacy Filter, OpenAI, 2026-04-22  |  평가 데이터·매칭 규칙이 상이하므로 수치 직접 비교는 불가</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A11</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모델카드 인용 ② 제약 및 리스크</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A11</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731520"/>
                <a:gridCol w="1691640"/>
                <a:gridCol w="5120640"/>
                <a:gridCol w="3514039"/>
              </a:tblGrid>
              <a:tr h="306324">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절</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제목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원문 요지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본 평가와의 관계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0632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범위 외 사용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익명화·컴플라이언스·안전성 보증이 아니며, 고위험 배포에서 정책 검토를 대체할 수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운영 권고 1번의 직접 근거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632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§4.1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과의존 리스크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데이터 최소화 보조 수단이며, 전면 익명화 주장의 근거로 삼으면 목표를 놓칠 위험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단일 방어선 금지 근거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632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§4.2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정적 라벨 정책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라벨 정책 런타임 변경 불가 · 정책 변경은 파인튜닝 필요 · 비영어·비라틴 문자에서 성능 저하 가능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한국어 성능 저하 가능성 사전 고지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632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§4.3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실패 모드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경칭 과다 표현·지역 명명 관습 미탐 · 혼합 포맷에서 경계 조각남 또는 이동 · 문맥 모호 시 과탐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성명 미탐 1,948건 · 경계 절단 888건과 일치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632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§4.4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고위험 배포 주의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금융·의료·법률·HR·교육·정부 워크플로우에서 추가 주의 · FN과 FP 양쪽 모두 비용 발생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금융 도메인 = 고위험 지정 대상</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632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§4.5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권고 사항</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도입 전 자체 도메인 평가 필수 · 정책이 다르면 파인튜닝 · 고민감 워크플로우는 인간 검토 경로 유지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본 평가 자체가 이 요구에 대응</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632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§6.2.1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디코딩·보정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BIOES 경계를 학습했으므로 단순 argmax 방식은 적합하지 않으며 제약 Viterbi 디코딩을 적용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부록 A13 후속 제안의 근거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632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§7.5.3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원홉 추론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별칭과 정의의 거리가 멀어질수록 재현율 저하 · 장거리 참조 해석 능력 제한적</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실효 어텐션 창 257토큰과 정합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3840480"/>
            <a:ext cx="11057839" cy="566928"/>
          </a:xfrm>
          <a:prstGeom prst="roundRect">
            <a:avLst>
              <a:gd name="adj" fmla="val 9677"/>
            </a:avLst>
          </a:prstGeom>
          <a:solidFill>
            <a:srgbClr val="EDF3FD"/>
          </a:solidFill>
          <a:ln w="9525">
            <a:solidFill>
              <a:srgbClr val="EDF3FD"/>
            </a:solidFill>
            <a:prstDash val="solid"/>
          </a:ln>
        </p:spPr>
      </p:sp>
      <p:sp>
        <p:nvSpPr>
          <p:cNvPr id="7" name="Text 4"/>
          <p:cNvSpPr/>
          <p:nvPr/>
        </p:nvSpPr>
        <p:spPr>
          <a:xfrm>
            <a:off x="713232" y="3877056"/>
            <a:ext cx="10765231" cy="493776"/>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라이선스 — Apache 2.0. 상업적 배포, 수정, 파인튜닝 및 파생물 배포가 허용되며, 저작권 및 라이선스 고지 유지 의무가 있습니다. 사내 도입 및 도메인 적응에 라이선스상 제약은 없습니다.</a:t>
            </a:r>
            <a:endParaRPr lang="en-US" sz="950" dirty="0"/>
          </a:p>
        </p:txBody>
      </p:sp>
      <p:sp>
        <p:nvSpPr>
          <p:cNvPr id="8" name="Shape 5"/>
          <p:cNvSpPr/>
          <p:nvPr/>
        </p:nvSpPr>
        <p:spPr>
          <a:xfrm>
            <a:off x="566928" y="4590288"/>
            <a:ext cx="11057839" cy="713232"/>
          </a:xfrm>
          <a:prstGeom prst="roundRect">
            <a:avLst>
              <a:gd name="adj" fmla="val 7692"/>
            </a:avLst>
          </a:prstGeom>
          <a:solidFill>
            <a:srgbClr val="EDF3FD"/>
          </a:solidFill>
          <a:ln w="9525">
            <a:solidFill>
              <a:srgbClr val="EDF3FD"/>
            </a:solidFill>
            <a:prstDash val="solid"/>
          </a:ln>
        </p:spPr>
      </p:sp>
      <p:sp>
        <p:nvSpPr>
          <p:cNvPr id="9" name="Text 6"/>
          <p:cNvSpPr/>
          <p:nvPr/>
        </p:nvSpPr>
        <p:spPr>
          <a:xfrm>
            <a:off x="713232" y="4626864"/>
            <a:ext cx="10765231" cy="640080"/>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종합 — 본 평가에서 관찰된 주요 약점(성명·주소 미탐, 경계 절단, 형식 변형 취약)은 모두 모델카드가 사전에 명시한 실패 모드에 해당합니다. 예상 밖의 결함이 아니라 문서화된 특성이며, 따라서 대응 방향도 모델카드가 제시한 경로(자체 도메인 평가 · 파인튜닝 · 인간 검토 경로 유지)와 일치합니다.</a:t>
            </a:r>
            <a:endParaRPr lang="en-US" sz="950" dirty="0"/>
          </a:p>
        </p:txBody>
      </p:sp>
      <p:sp>
        <p:nvSpPr>
          <p:cNvPr id="10" name="Shape 7"/>
          <p:cNvSpPr/>
          <p:nvPr/>
        </p:nvSpPr>
        <p:spPr>
          <a:xfrm>
            <a:off x="566928" y="5449824"/>
            <a:ext cx="11057839" cy="512064"/>
          </a:xfrm>
          <a:prstGeom prst="roundRect">
            <a:avLst>
              <a:gd name="adj" fmla="val 10714"/>
            </a:avLst>
          </a:prstGeom>
          <a:solidFill>
            <a:srgbClr val="FBF4E4"/>
          </a:solidFill>
          <a:ln w="9525">
            <a:solidFill>
              <a:srgbClr val="FBF4E4"/>
            </a:solidFill>
            <a:prstDash val="solid"/>
          </a:ln>
        </p:spPr>
      </p:sp>
      <p:sp>
        <p:nvSpPr>
          <p:cNvPr id="11" name="Text 8"/>
          <p:cNvSpPr/>
          <p:nvPr/>
        </p:nvSpPr>
        <p:spPr>
          <a:xfrm>
            <a:off x="713232" y="5486400"/>
            <a:ext cx="10765231" cy="438912"/>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 자산 등재 시 확보 필요 — 체크포인트 해시 및 리비전 태그. 현재 Preview 릴리스이므로 정식 릴리스 전환 시 재평가가 필요합니다.</a:t>
            </a:r>
            <a:endParaRPr lang="en-US" sz="950" dirty="0"/>
          </a:p>
        </p:txBody>
      </p:sp>
      <p:sp>
        <p:nvSpPr>
          <p:cNvPr id="12" name="Text 9"/>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Model Card for OpenAI Privacy Filter, OpenAI, 2026-04-22 — 원문 대조 확인 완료</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A12</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컴플라이언스 근거</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A12</a:t>
            </a:r>
            <a:endParaRPr lang="en-US" sz="1000" dirty="0"/>
          </a:p>
        </p:txBody>
      </p:sp>
      <p:sp>
        <p:nvSpPr>
          <p:cNvPr id="5" name="Shape 3"/>
          <p:cNvSpPr/>
          <p:nvPr/>
        </p:nvSpPr>
        <p:spPr>
          <a:xfrm>
            <a:off x="566928" y="950976"/>
            <a:ext cx="5391760" cy="2359152"/>
          </a:xfrm>
          <a:prstGeom prst="roundRect">
            <a:avLst>
              <a:gd name="adj" fmla="val 2326"/>
            </a:avLst>
          </a:prstGeom>
          <a:solidFill>
            <a:srgbClr val="EDF3FD"/>
          </a:solidFill>
          <a:ln w="9525">
            <a:solidFill>
              <a:srgbClr val="D0DEF6"/>
            </a:solidFill>
            <a:prstDash val="solid"/>
          </a:ln>
        </p:spPr>
      </p:sp>
      <p:sp>
        <p:nvSpPr>
          <p:cNvPr id="6" name="Shape 4"/>
          <p:cNvSpPr/>
          <p:nvPr/>
        </p:nvSpPr>
        <p:spPr>
          <a:xfrm>
            <a:off x="731520" y="1078992"/>
            <a:ext cx="2926080" cy="274320"/>
          </a:xfrm>
          <a:prstGeom prst="roundRect">
            <a:avLst>
              <a:gd name="adj" fmla="val 16667"/>
            </a:avLst>
          </a:prstGeom>
          <a:solidFill>
            <a:srgbClr val="1E2761"/>
          </a:solidFill>
          <a:ln w="6350">
            <a:solidFill>
              <a:srgbClr val="1E2761"/>
            </a:solidFill>
            <a:prstDash val="solid"/>
          </a:ln>
        </p:spPr>
      </p:sp>
      <p:sp>
        <p:nvSpPr>
          <p:cNvPr id="7" name="Text 5"/>
          <p:cNvSpPr/>
          <p:nvPr/>
        </p:nvSpPr>
        <p:spPr>
          <a:xfrm>
            <a:off x="731520" y="1078992"/>
            <a:ext cx="2926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참조 기준의 출처와 성격</a:t>
            </a:r>
            <a:endParaRPr lang="en-US" sz="1050" dirty="0"/>
          </a:p>
        </p:txBody>
      </p:sp>
      <p:sp>
        <p:nvSpPr>
          <p:cNvPr id="8" name="Text 6"/>
          <p:cNvSpPr/>
          <p:nvPr/>
        </p:nvSpPr>
        <p:spPr>
          <a:xfrm>
            <a:off x="749808" y="1499616"/>
            <a:ext cx="16002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문서</a:t>
            </a:r>
            <a:endParaRPr lang="en-US" sz="950" dirty="0"/>
          </a:p>
        </p:txBody>
      </p:sp>
      <p:sp>
        <p:nvSpPr>
          <p:cNvPr id="9" name="Text 7"/>
          <p:cNvSpPr/>
          <p:nvPr/>
        </p:nvSpPr>
        <p:spPr>
          <a:xfrm>
            <a:off x="2350008" y="1499616"/>
            <a:ext cx="34258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개인정보보호위원회 「가명정보 처리 가이드라인」</a:t>
            </a:r>
            <a:endParaRPr lang="en-US" sz="950" dirty="0"/>
          </a:p>
        </p:txBody>
      </p:sp>
      <p:sp>
        <p:nvSpPr>
          <p:cNvPr id="10" name="Text 8"/>
          <p:cNvSpPr/>
          <p:nvPr/>
        </p:nvSpPr>
        <p:spPr>
          <a:xfrm>
            <a:off x="749808" y="1778508"/>
            <a:ext cx="16002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판</a:t>
            </a:r>
            <a:endParaRPr lang="en-US" sz="950" dirty="0"/>
          </a:p>
        </p:txBody>
      </p:sp>
      <p:sp>
        <p:nvSpPr>
          <p:cNvPr id="11" name="Text 9"/>
          <p:cNvSpPr/>
          <p:nvPr/>
        </p:nvSpPr>
        <p:spPr>
          <a:xfrm>
            <a:off x="2350008" y="1778508"/>
            <a:ext cx="34258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2026.03</a:t>
            </a:r>
            <a:endParaRPr lang="en-US" sz="950" dirty="0"/>
          </a:p>
        </p:txBody>
      </p:sp>
      <p:sp>
        <p:nvSpPr>
          <p:cNvPr id="12" name="Text 10"/>
          <p:cNvSpPr/>
          <p:nvPr/>
        </p:nvSpPr>
        <p:spPr>
          <a:xfrm>
            <a:off x="749808" y="2057400"/>
            <a:ext cx="16002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해당 부분</a:t>
            </a:r>
            <a:endParaRPr lang="en-US" sz="950" dirty="0"/>
          </a:p>
        </p:txBody>
      </p:sp>
      <p:sp>
        <p:nvSpPr>
          <p:cNvPr id="13" name="Text 11"/>
          <p:cNvSpPr/>
          <p:nvPr/>
        </p:nvSpPr>
        <p:spPr>
          <a:xfrm>
            <a:off x="2350008" y="2057400"/>
            <a:ext cx="34258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별권 제7장 — 상담(비정형·음성) 데이터 개인정보 탐지 AI 모델 사례</a:t>
            </a:r>
            <a:endParaRPr lang="en-US" sz="950" dirty="0"/>
          </a:p>
        </p:txBody>
      </p:sp>
      <p:sp>
        <p:nvSpPr>
          <p:cNvPr id="14" name="Text 12"/>
          <p:cNvSpPr/>
          <p:nvPr/>
        </p:nvSpPr>
        <p:spPr>
          <a:xfrm>
            <a:off x="749808" y="2336292"/>
            <a:ext cx="16002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제시 기준</a:t>
            </a:r>
            <a:endParaRPr lang="en-US" sz="950" dirty="0"/>
          </a:p>
        </p:txBody>
      </p:sp>
      <p:sp>
        <p:nvSpPr>
          <p:cNvPr id="15" name="Text 13"/>
          <p:cNvSpPr/>
          <p:nvPr/>
        </p:nvSpPr>
        <p:spPr>
          <a:xfrm>
            <a:off x="2350008" y="2336292"/>
            <a:ext cx="34258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F1 0.95 · 식별자 제거율 99.9% · 통계적 표본검수 10%</a:t>
            </a:r>
            <a:endParaRPr lang="en-US" sz="950" dirty="0"/>
          </a:p>
        </p:txBody>
      </p:sp>
      <p:sp>
        <p:nvSpPr>
          <p:cNvPr id="16" name="Text 14"/>
          <p:cNvSpPr/>
          <p:nvPr/>
        </p:nvSpPr>
        <p:spPr>
          <a:xfrm>
            <a:off x="749808" y="2615184"/>
            <a:ext cx="16002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법적 성격</a:t>
            </a:r>
            <a:endParaRPr lang="en-US" sz="950" dirty="0"/>
          </a:p>
        </p:txBody>
      </p:sp>
      <p:sp>
        <p:nvSpPr>
          <p:cNvPr id="17" name="Text 15"/>
          <p:cNvSpPr/>
          <p:nvPr/>
        </p:nvSpPr>
        <p:spPr>
          <a:xfrm>
            <a:off x="2350008" y="2615184"/>
            <a:ext cx="34258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권고 (본권 p.3) — 강제 기준 아님</a:t>
            </a:r>
            <a:endParaRPr lang="en-US" sz="950" dirty="0"/>
          </a:p>
        </p:txBody>
      </p:sp>
      <p:sp>
        <p:nvSpPr>
          <p:cNvPr id="18" name="Text 16"/>
          <p:cNvSpPr/>
          <p:nvPr/>
        </p:nvSpPr>
        <p:spPr>
          <a:xfrm>
            <a:off x="749808" y="2894076"/>
            <a:ext cx="1600200" cy="278892"/>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연구 해당성</a:t>
            </a:r>
            <a:endParaRPr lang="en-US" sz="950" dirty="0"/>
          </a:p>
        </p:txBody>
      </p:sp>
      <p:sp>
        <p:nvSpPr>
          <p:cNvPr id="19" name="Text 17"/>
          <p:cNvSpPr/>
          <p:nvPr/>
        </p:nvSpPr>
        <p:spPr>
          <a:xfrm>
            <a:off x="2350008" y="2894076"/>
            <a:ext cx="3425800" cy="278892"/>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AI 모델 성능 검증은 '과학적 연구'에 해당 (본권 p.26 Q&amp;A)</a:t>
            </a:r>
            <a:endParaRPr lang="en-US" sz="950" dirty="0"/>
          </a:p>
        </p:txBody>
      </p:sp>
      <p:sp>
        <p:nvSpPr>
          <p:cNvPr id="20" name="Shape 18"/>
          <p:cNvSpPr/>
          <p:nvPr/>
        </p:nvSpPr>
        <p:spPr>
          <a:xfrm>
            <a:off x="6233008" y="950976"/>
            <a:ext cx="5391760" cy="2359152"/>
          </a:xfrm>
          <a:prstGeom prst="roundRect">
            <a:avLst>
              <a:gd name="adj" fmla="val 2326"/>
            </a:avLst>
          </a:prstGeom>
          <a:solidFill>
            <a:srgbClr val="F7F8FB"/>
          </a:solidFill>
          <a:ln w="9525">
            <a:solidFill>
              <a:srgbClr val="DFE3EC"/>
            </a:solidFill>
            <a:prstDash val="solid"/>
          </a:ln>
        </p:spPr>
      </p:sp>
      <p:sp>
        <p:nvSpPr>
          <p:cNvPr id="21" name="Shape 19"/>
          <p:cNvSpPr/>
          <p:nvPr/>
        </p:nvSpPr>
        <p:spPr>
          <a:xfrm>
            <a:off x="6397600" y="1078992"/>
            <a:ext cx="2926080" cy="274320"/>
          </a:xfrm>
          <a:prstGeom prst="roundRect">
            <a:avLst>
              <a:gd name="adj" fmla="val 16667"/>
            </a:avLst>
          </a:prstGeom>
          <a:solidFill>
            <a:srgbClr val="1E2761"/>
          </a:solidFill>
          <a:ln w="6350">
            <a:solidFill>
              <a:srgbClr val="1E2761"/>
            </a:solidFill>
            <a:prstDash val="solid"/>
          </a:ln>
        </p:spPr>
      </p:sp>
      <p:sp>
        <p:nvSpPr>
          <p:cNvPr id="22" name="Text 20"/>
          <p:cNvSpPr/>
          <p:nvPr/>
        </p:nvSpPr>
        <p:spPr>
          <a:xfrm>
            <a:off x="6397600" y="1078992"/>
            <a:ext cx="2926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본 평가의 기준 적용 방식</a:t>
            </a:r>
            <a:endParaRPr lang="en-US" sz="1050" dirty="0"/>
          </a:p>
        </p:txBody>
      </p:sp>
      <p:sp>
        <p:nvSpPr>
          <p:cNvPr id="23" name="Text 21"/>
          <p:cNvSpPr/>
          <p:nvPr/>
        </p:nvSpPr>
        <p:spPr>
          <a:xfrm>
            <a:off x="6434176" y="1481328"/>
            <a:ext cx="4989424" cy="1645920"/>
          </a:xfrm>
          <a:prstGeom prst="rect">
            <a:avLst/>
          </a:prstGeom>
          <a:noFill/>
          <a:ln/>
        </p:spPr>
        <p:txBody>
          <a:bodyPr wrap="square" lIns="0" tIns="0" rIns="0" bIns="0" rtlCol="0" anchor="t"/>
          <a:lstStyle/>
          <a:p>
            <a:pPr algn="l" marL="342900" indent="-342900">
              <a:spcAft>
                <a:spcPts val="500"/>
              </a:spcAft>
              <a:buSzPct val="100000"/>
              <a:buChar char="•"/>
            </a:pPr>
            <a:r>
              <a:rPr lang="en-US" sz="950" dirty="0">
                <a:solidFill>
                  <a:srgbClr val="16181D"/>
                </a:solidFill>
                <a:latin typeface="Malgun Gothic" pitchFamily="34" charset="0"/>
                <a:ea typeface="Malgun Gothic" pitchFamily="34" charset="-122"/>
                <a:cs typeface="Malgun Gothic" pitchFamily="34" charset="-120"/>
              </a:rPr>
              <a:t>제거율 99.9%를 고유식별 4종(7,689스팬)에 적용해 허용 미탐을 4건으로 산출했습니다.</a:t>
            </a:r>
            <a:endParaRPr lang="en-US" sz="950" dirty="0"/>
          </a:p>
          <a:p>
            <a:pPr algn="l" marL="342900" indent="-342900">
              <a:spcAft>
                <a:spcPts val="500"/>
              </a:spcAft>
              <a:buSzPct val="100000"/>
              <a:buChar char="•"/>
            </a:pPr>
            <a:r>
              <a:rPr lang="en-US" sz="950" dirty="0">
                <a:solidFill>
                  <a:srgbClr val="16181D"/>
                </a:solidFill>
                <a:latin typeface="Malgun Gothic" pitchFamily="34" charset="0"/>
                <a:ea typeface="Malgun Gothic" pitchFamily="34" charset="-122"/>
                <a:cs typeface="Malgun Gothic" pitchFamily="34" charset="-120"/>
              </a:rPr>
              <a:t>가이드라인의 F1 0.95는 참조값으로 두되, 컴플라이언스 관점에서 재현율 가중이 타당하다고 판단해 F2를 종합 지표로 삼았습니다.</a:t>
            </a:r>
            <a:endParaRPr lang="en-US" sz="950" dirty="0"/>
          </a:p>
          <a:p>
            <a:pPr algn="l" marL="342900" indent="-342900">
              <a:spcAft>
                <a:spcPts val="500"/>
              </a:spcAft>
              <a:buSzPct val="100000"/>
              <a:buChar char="•"/>
            </a:pPr>
            <a:r>
              <a:rPr lang="en-US" sz="950" dirty="0">
                <a:solidFill>
                  <a:srgbClr val="16181D"/>
                </a:solidFill>
                <a:latin typeface="Malgun Gothic" pitchFamily="34" charset="0"/>
                <a:ea typeface="Malgun Gothic" pitchFamily="34" charset="-122"/>
                <a:cs typeface="Malgun Gothic" pitchFamily="34" charset="-120"/>
              </a:rPr>
              <a:t>표본검수 10% 요건에 대응하는 300행 검수 시트를 생성했으나 인간 검수는 미실시 상태입니다.</a:t>
            </a:r>
            <a:endParaRPr lang="en-US" sz="950" dirty="0"/>
          </a:p>
          <a:p>
            <a:pPr algn="l" marL="342900" indent="-342900">
              <a:spcAft>
                <a:spcPts val="500"/>
              </a:spcAft>
              <a:buSzPct val="100000"/>
              <a:buChar char="•"/>
            </a:pPr>
            <a:r>
              <a:rPr lang="en-US" sz="950" dirty="0">
                <a:solidFill>
                  <a:srgbClr val="16181D"/>
                </a:solidFill>
                <a:latin typeface="Malgun Gothic" pitchFamily="34" charset="0"/>
                <a:ea typeface="Malgun Gothic" pitchFamily="34" charset="-122"/>
                <a:cs typeface="Malgun Gothic" pitchFamily="34" charset="-120"/>
              </a:rPr>
              <a:t>가이드라인이 권고 성격임을 명시하고, 사내 기준 확정은 별도 절차로 남깁니다.</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3438144"/>
          <a:ext cx="11057839" cy="914400"/>
        </p:xfrm>
        <a:graphic>
          <a:graphicData uri="http://schemas.openxmlformats.org/drawingml/2006/table">
            <a:tbl>
              <a:tblPr/>
              <a:tblGrid>
                <a:gridCol w="822960"/>
                <a:gridCol w="2926080"/>
                <a:gridCol w="1005840"/>
                <a:gridCol w="1005840"/>
                <a:gridCol w="5297119"/>
              </a:tblGrid>
              <a:tr h="27432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기준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배분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선정 사유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L1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고유식별정보 포함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22.33%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최고 민감 항목군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L2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난이도 케이스 태깅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경칭·조사·혼용 결합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L3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과탐지 유도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16.67%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과탐 판정 검증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L4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금융 문맥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29.33%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실제 적용 도메인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L5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대조군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5개 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300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전체 3,000문서의 10.00%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25" name="Shape 22"/>
          <p:cNvSpPr/>
          <p:nvPr/>
        </p:nvSpPr>
        <p:spPr>
          <a:xfrm>
            <a:off x="566928" y="5449824"/>
            <a:ext cx="11057839" cy="658368"/>
          </a:xfrm>
          <a:prstGeom prst="roundRect">
            <a:avLst>
              <a:gd name="adj" fmla="val 8333"/>
            </a:avLst>
          </a:prstGeom>
          <a:solidFill>
            <a:srgbClr val="FBF4E4"/>
          </a:solidFill>
          <a:ln w="9525">
            <a:solidFill>
              <a:srgbClr val="FBF4E4"/>
            </a:solidFill>
            <a:prstDash val="solid"/>
          </a:ln>
        </p:spPr>
      </p:sp>
      <p:sp>
        <p:nvSpPr>
          <p:cNvPr id="26" name="Text 23"/>
          <p:cNvSpPr/>
          <p:nvPr/>
        </p:nvSpPr>
        <p:spPr>
          <a:xfrm>
            <a:off x="713232" y="5486400"/>
            <a:ext cx="10765231" cy="585216"/>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검수 시트 현황 — results / review_sheet_300.csv 생성 완료 (UTF-8 BOM · 헤더 1행 + 300행). 미탐 후보 381스팬 · 미탐 문서 194 / 300, 과탐 후보 2,017스팬 · 과탐 문서 300 / 300. 판정 4단계(정탐 · 미탐 · 과탐 · 판단보류). ⚠ 인간 검수 미실시 — 후속 조치 항목입니다.</a:t>
            </a:r>
            <a:endParaRPr lang="en-US" sz="950" dirty="0"/>
          </a:p>
        </p:txBody>
      </p:sp>
      <p:sp>
        <p:nvSpPr>
          <p:cNvPr id="27" name="Text 24"/>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가명처리 기준 : 개인정보보호위원회, 「가명정보 처리 가이드라인」 2026.03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A13</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디코딩 구성 — Viterbi 후속 제안</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A13</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1554480"/>
                <a:gridCol w="4754880"/>
                <a:gridCol w="4748479"/>
              </a:tblGrid>
              <a:tr h="301752">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argmax (현재 제공 구성)</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제약 Viterbi (제작사 권장)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판단 단위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토큰 하나씩 독립 판정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시퀀스 전체 경로를 동시 최적화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BIOES 문법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강제하지 않음 — B- 없이 I-가 나오는 무효 태그열 가능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허용 전이만 통과 · 유효 스팬 보장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경계 안정성</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조각남 · 이동 발생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시작 · 종료 전이를 명시적으로 점수화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운영점 조절</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배경 로짓 감산 1종 — 포화로 on / off 거동</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전이 바이어스 6종으로 연속 조절</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구현 상태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main.py에서 logits.argmax(-1) 적용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정식 opf CLI에 포함 · 본 환경 미적용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2871216"/>
            <a:ext cx="11057839" cy="694944"/>
          </a:xfrm>
          <a:prstGeom prst="roundRect">
            <a:avLst>
              <a:gd name="adj" fmla="val 7895"/>
            </a:avLst>
          </a:prstGeom>
          <a:solidFill>
            <a:srgbClr val="EDF3FD"/>
          </a:solidFill>
          <a:ln w="9525">
            <a:solidFill>
              <a:srgbClr val="EDF3FD"/>
            </a:solidFill>
            <a:prstDash val="solid"/>
          </a:ln>
        </p:spPr>
      </p:sp>
      <p:sp>
        <p:nvSpPr>
          <p:cNvPr id="7" name="Text 4"/>
          <p:cNvSpPr/>
          <p:nvPr/>
        </p:nvSpPr>
        <p:spPr>
          <a:xfrm>
            <a:off x="713232" y="2907792"/>
            <a:ext cx="10765231" cy="621792"/>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이번 평가에서 적용하지 않은 사유 — Viterbi 가중치가 외부 저장소에 있어 반입 경로가 확보되지 않았고, 전이 바이어스 6종의 권장값이 모델카드와 기술 문서에 공개되어 있지 않아 값 탐색에 상당한 시간이 필요합니다. 주어진 기간과 망 제약을 고려할 때 현재의 argmax 구현은 타당한 선택이며, 본 제안은 후속 과제로 드리는 것입니다.</a:t>
            </a:r>
            <a:endParaRPr lang="en-US" sz="950" dirty="0"/>
          </a:p>
        </p:txBody>
      </p:sp>
      <p:sp>
        <p:nvSpPr>
          <p:cNvPr id="8" name="Shape 5"/>
          <p:cNvSpPr/>
          <p:nvPr/>
        </p:nvSpPr>
        <p:spPr>
          <a:xfrm>
            <a:off x="566928" y="3730752"/>
            <a:ext cx="5391760" cy="2084832"/>
          </a:xfrm>
          <a:prstGeom prst="roundRect">
            <a:avLst>
              <a:gd name="adj" fmla="val 2632"/>
            </a:avLst>
          </a:prstGeom>
          <a:solidFill>
            <a:srgbClr val="F7F8FB"/>
          </a:solidFill>
          <a:ln w="9525">
            <a:solidFill>
              <a:srgbClr val="DFE3EC"/>
            </a:solidFill>
            <a:prstDash val="solid"/>
          </a:ln>
        </p:spPr>
      </p:sp>
      <p:sp>
        <p:nvSpPr>
          <p:cNvPr id="9" name="Shape 6"/>
          <p:cNvSpPr/>
          <p:nvPr/>
        </p:nvSpPr>
        <p:spPr>
          <a:xfrm>
            <a:off x="731520" y="3858768"/>
            <a:ext cx="2743200" cy="274320"/>
          </a:xfrm>
          <a:prstGeom prst="roundRect">
            <a:avLst>
              <a:gd name="adj" fmla="val 16667"/>
            </a:avLst>
          </a:prstGeom>
          <a:solidFill>
            <a:srgbClr val="1E2761"/>
          </a:solidFill>
          <a:ln w="6350">
            <a:solidFill>
              <a:srgbClr val="1E2761"/>
            </a:solidFill>
            <a:prstDash val="solid"/>
          </a:ln>
        </p:spPr>
      </p:sp>
      <p:sp>
        <p:nvSpPr>
          <p:cNvPr id="10" name="Text 7"/>
          <p:cNvSpPr/>
          <p:nvPr/>
        </p:nvSpPr>
        <p:spPr>
          <a:xfrm>
            <a:off x="731520" y="3858768"/>
            <a:ext cx="2743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보유 config 3종 활용 방안</a:t>
            </a:r>
            <a:endParaRPr lang="en-US" sz="1050" dirty="0"/>
          </a:p>
        </p:txBody>
      </p:sp>
      <p:sp>
        <p:nvSpPr>
          <p:cNvPr id="11" name="Text 8"/>
          <p:cNvSpPr/>
          <p:nvPr/>
        </p:nvSpPr>
        <p:spPr>
          <a:xfrm>
            <a:off x="768096" y="4261104"/>
            <a:ext cx="4989424" cy="1444752"/>
          </a:xfrm>
          <a:prstGeom prst="rect">
            <a:avLst/>
          </a:prstGeom>
          <a:noFill/>
          <a:ln/>
        </p:spPr>
        <p:txBody>
          <a:bodyPr wrap="square" lIns="0" tIns="0" rIns="0" bIns="0" rtlCol="0" anchor="t"/>
          <a:lstStyle/>
          <a:p>
            <a:pPr algn="l" indent="0" marL="0">
              <a:lnSpc>
                <a:spcPct val="115000"/>
              </a:lnSpc>
              <a:spcAft>
                <a:spcPts val="400"/>
              </a:spcAft>
              <a:buNone/>
            </a:pPr>
            <a:r>
              <a:rPr lang="en-US" sz="950" dirty="0">
                <a:solidFill>
                  <a:srgbClr val="16181D"/>
                </a:solidFill>
                <a:latin typeface="Malgun Gothic" pitchFamily="34" charset="0"/>
                <a:ea typeface="Malgun Gothic" pitchFamily="34" charset="-122"/>
                <a:cs typeface="Malgun Gothic" pitchFamily="34" charset="-120"/>
              </a:rPr>
              <a:t>이미 작성해 둔 Viterbi 설정 3종을 보수 · 기본 · 적극 운영점 후보로 배치합니다.</a:t>
            </a:r>
            <a:endParaRPr lang="en-US" sz="950" dirty="0"/>
          </a:p>
          <a:p>
            <a:pPr algn="l" indent="0" marL="0">
              <a:lnSpc>
                <a:spcPct val="115000"/>
              </a:lnSpc>
              <a:spcAft>
                <a:spcPts val="400"/>
              </a:spcAft>
              <a:buNone/>
            </a:pPr>
            <a:r>
              <a:rPr lang="en-US" sz="950" dirty="0">
                <a:solidFill>
                  <a:srgbClr val="16181D"/>
                </a:solidFill>
                <a:latin typeface="Malgun Gothic" pitchFamily="34" charset="0"/>
                <a:ea typeface="Malgun Gothic" pitchFamily="34" charset="-122"/>
                <a:cs typeface="Malgun Gothic" pitchFamily="34" charset="-120"/>
              </a:rPr>
              <a:t>① 보수 — 정밀도 우선. 과잉 마스킹 억제, 문맥 보존이 필요한 분석 용도</a:t>
            </a:r>
            <a:endParaRPr lang="en-US" sz="950" dirty="0"/>
          </a:p>
          <a:p>
            <a:pPr algn="l" indent="0" marL="0">
              <a:lnSpc>
                <a:spcPct val="115000"/>
              </a:lnSpc>
              <a:spcAft>
                <a:spcPts val="400"/>
              </a:spcAft>
              <a:buNone/>
            </a:pPr>
            <a:r>
              <a:rPr lang="en-US" sz="950" dirty="0">
                <a:solidFill>
                  <a:srgbClr val="16181D"/>
                </a:solidFill>
                <a:latin typeface="Malgun Gothic" pitchFamily="34" charset="0"/>
                <a:ea typeface="Malgun Gothic" pitchFamily="34" charset="-122"/>
                <a:cs typeface="Malgun Gothic" pitchFamily="34" charset="-120"/>
              </a:rPr>
              <a:t>② 기본 — 제작사 기본값에 준하는 균형점. 기준선 재수립용</a:t>
            </a:r>
            <a:endParaRPr lang="en-US" sz="950" dirty="0"/>
          </a:p>
          <a:p>
            <a:pPr algn="l" indent="0" marL="0">
              <a:lnSpc>
                <a:spcPct val="115000"/>
              </a:lnSpc>
              <a:spcAft>
                <a:spcPts val="400"/>
              </a:spcAft>
              <a:buNone/>
            </a:pPr>
            <a:r>
              <a:rPr lang="en-US" sz="950" dirty="0">
                <a:solidFill>
                  <a:srgbClr val="16181D"/>
                </a:solidFill>
                <a:latin typeface="Malgun Gothic" pitchFamily="34" charset="0"/>
                <a:ea typeface="Malgun Gothic" pitchFamily="34" charset="-122"/>
                <a:cs typeface="Malgun Gothic" pitchFamily="34" charset="-120"/>
              </a:rPr>
              <a:t>③ 적극 — 재현율 우선. 컴플라이언스 대면 워크플로우 후보</a:t>
            </a:r>
            <a:endParaRPr lang="en-US" sz="950" dirty="0"/>
          </a:p>
          <a:p>
            <a:pPr algn="l" indent="0" marL="0">
              <a:lnSpc>
                <a:spcPct val="115000"/>
              </a:lnSpc>
              <a:spcAft>
                <a:spcPts val="400"/>
              </a:spcAft>
              <a:buNone/>
            </a:pPr>
            <a:r>
              <a:rPr lang="en-US" sz="950" dirty="0">
                <a:solidFill>
                  <a:srgbClr val="16181D"/>
                </a:solidFill>
                <a:latin typeface="Malgun Gothic" pitchFamily="34" charset="0"/>
                <a:ea typeface="Malgun Gothic" pitchFamily="34" charset="-122"/>
                <a:cs typeface="Malgun Gothic" pitchFamily="34" charset="-120"/>
              </a:rPr>
              <a:t>동일한 3,000문서 정본에 3종을 각각 적용하면, 본 평가 스크립트를 그대로 재사용해 세 운영점의 재현율 · 과잉 마스킹 곡선을 얻을 수 있습니다.</a:t>
            </a:r>
            <a:endParaRPr lang="en-US" sz="950" dirty="0"/>
          </a:p>
        </p:txBody>
      </p:sp>
      <p:sp>
        <p:nvSpPr>
          <p:cNvPr id="12" name="Shape 9"/>
          <p:cNvSpPr/>
          <p:nvPr/>
        </p:nvSpPr>
        <p:spPr>
          <a:xfrm>
            <a:off x="6233008" y="3730752"/>
            <a:ext cx="5391760" cy="2084832"/>
          </a:xfrm>
          <a:prstGeom prst="roundRect">
            <a:avLst>
              <a:gd name="adj" fmla="val 2632"/>
            </a:avLst>
          </a:prstGeom>
          <a:solidFill>
            <a:srgbClr val="EDF3FD"/>
          </a:solidFill>
          <a:ln w="9525">
            <a:solidFill>
              <a:srgbClr val="D0DEF6"/>
            </a:solidFill>
            <a:prstDash val="solid"/>
          </a:ln>
        </p:spPr>
      </p:sp>
      <p:sp>
        <p:nvSpPr>
          <p:cNvPr id="13" name="Shape 10"/>
          <p:cNvSpPr/>
          <p:nvPr/>
        </p:nvSpPr>
        <p:spPr>
          <a:xfrm>
            <a:off x="6397600" y="3858768"/>
            <a:ext cx="2743200" cy="274320"/>
          </a:xfrm>
          <a:prstGeom prst="roundRect">
            <a:avLst>
              <a:gd name="adj" fmla="val 16667"/>
            </a:avLst>
          </a:prstGeom>
          <a:solidFill>
            <a:srgbClr val="1E2761"/>
          </a:solidFill>
          <a:ln w="6350">
            <a:solidFill>
              <a:srgbClr val="1E2761"/>
            </a:solidFill>
            <a:prstDash val="solid"/>
          </a:ln>
        </p:spPr>
      </p:sp>
      <p:sp>
        <p:nvSpPr>
          <p:cNvPr id="14" name="Text 11"/>
          <p:cNvSpPr/>
          <p:nvPr/>
        </p:nvSpPr>
        <p:spPr>
          <a:xfrm>
            <a:off x="6397600" y="3858768"/>
            <a:ext cx="2743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권장 실행 순서</a:t>
            </a:r>
            <a:endParaRPr lang="en-US" sz="1050" dirty="0"/>
          </a:p>
        </p:txBody>
      </p:sp>
      <p:sp>
        <p:nvSpPr>
          <p:cNvPr id="15" name="Text 12"/>
          <p:cNvSpPr/>
          <p:nvPr/>
        </p:nvSpPr>
        <p:spPr>
          <a:xfrm>
            <a:off x="6434176" y="4261104"/>
            <a:ext cx="4989424" cy="1444752"/>
          </a:xfrm>
          <a:prstGeom prst="rect">
            <a:avLst/>
          </a:prstGeom>
          <a:noFill/>
          <a:ln/>
        </p:spPr>
        <p:txBody>
          <a:bodyPr wrap="square" lIns="0" tIns="0" rIns="0" bIns="0" rtlCol="0" anchor="t"/>
          <a:lstStyle/>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① Viterbi 디코더 반입 경로 확인 (모델 가중치와 별개로 디코더 로직만 필요)</a:t>
            </a:r>
            <a:endParaRPr lang="en-US" sz="950" dirty="0"/>
          </a:p>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② 보유 config 3종으로 동일 정본 재평가 — 스크립트 수정 불필요</a:t>
            </a:r>
            <a:endParaRPr lang="en-US" sz="950" dirty="0"/>
          </a:p>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③ 경계 절단 888건 · 부분 노출 705스팬의 변화량을 argmax 기준선과 대조</a:t>
            </a:r>
            <a:endParaRPr lang="en-US" sz="950" dirty="0"/>
          </a:p>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④ 개선이 확인되면 전이 바이어스 6종의 그리드 탐색으로 사내 운영점 확정</a:t>
            </a:r>
            <a:endParaRPr lang="en-US" sz="950" dirty="0"/>
          </a:p>
          <a:p>
            <a:pPr algn="l" indent="0" marL="0">
              <a:spcAft>
                <a:spcPts val="400"/>
              </a:spcAft>
              <a:buNone/>
            </a:pPr>
            <a:r>
              <a:rPr lang="en-US" sz="950" dirty="0">
                <a:solidFill>
                  <a:srgbClr val="16181D"/>
                </a:solidFill>
                <a:latin typeface="Malgun Gothic" pitchFamily="34" charset="0"/>
                <a:ea typeface="Malgun Gothic" pitchFamily="34" charset="-122"/>
                <a:cs typeface="Malgun Gothic" pitchFamily="34" charset="-120"/>
              </a:rPr>
              <a:t>⑤ 확정된 운영점을 모델카드 '평가 조건' 필드에 기록하고 자산 등재</a:t>
            </a:r>
            <a:endParaRPr lang="en-US" sz="950" dirty="0"/>
          </a:p>
        </p:txBody>
      </p:sp>
      <p:sp>
        <p:nvSpPr>
          <p:cNvPr id="16" name="Text 13"/>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 기대 효과는 미검증 — 경계 절단이 전이 제약 부재에서 기인한다는 가설이며, 실측으로 확인되기 전까지 개선을 단정하지 않습니다.</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A14</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오픈소스 대안 검토 (검토 축만)</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A14</a:t>
            </a:r>
            <a:endParaRPr lang="en-US" sz="1000" dirty="0"/>
          </a:p>
        </p:txBody>
      </p:sp>
      <p:sp>
        <p:nvSpPr>
          <p:cNvPr id="5" name="Shape 3"/>
          <p:cNvSpPr/>
          <p:nvPr/>
        </p:nvSpPr>
        <p:spPr>
          <a:xfrm>
            <a:off x="566928" y="932688"/>
            <a:ext cx="11057839" cy="512064"/>
          </a:xfrm>
          <a:prstGeom prst="roundRect">
            <a:avLst>
              <a:gd name="adj" fmla="val 10714"/>
            </a:avLst>
          </a:prstGeom>
          <a:solidFill>
            <a:srgbClr val="FBEDEC"/>
          </a:solidFill>
          <a:ln w="9525">
            <a:solidFill>
              <a:srgbClr val="FBEDEC"/>
            </a:solidFill>
            <a:prstDash val="solid"/>
          </a:ln>
        </p:spPr>
      </p:sp>
      <p:sp>
        <p:nvSpPr>
          <p:cNvPr id="6" name="Text 4"/>
          <p:cNvSpPr/>
          <p:nvPr/>
        </p:nvSpPr>
        <p:spPr>
          <a:xfrm>
            <a:off x="713232" y="969264"/>
            <a:ext cx="10765231" cy="438912"/>
          </a:xfrm>
          <a:prstGeom prst="rect">
            <a:avLst/>
          </a:prstGeom>
          <a:noFill/>
          <a:ln/>
        </p:spPr>
        <p:txBody>
          <a:bodyPr wrap="square" lIns="0" tIns="0" rIns="0" bIns="0" rtlCol="0" anchor="ctr"/>
          <a:lstStyle/>
          <a:p>
            <a:pPr algn="l" indent="0" marL="0">
              <a:lnSpc>
                <a:spcPct val="115000"/>
              </a:lnSpc>
              <a:buNone/>
            </a:pPr>
            <a:r>
              <a:rPr lang="en-US" sz="950" dirty="0">
                <a:solidFill>
                  <a:srgbClr val="8E2420"/>
                </a:solidFill>
                <a:latin typeface="Malgun Gothic" pitchFamily="34" charset="0"/>
                <a:ea typeface="Malgun Gothic" pitchFamily="34" charset="-122"/>
                <a:cs typeface="Malgun Gothic" pitchFamily="34" charset="-120"/>
              </a:rPr>
              <a:t>본 장은 실측 결과가 아닙니다. 대안 모델의 반입 및 실행이 이번 범위에서 불가능했으므로, 향후 비교 평가 시 사용할 후보군과 평가 축만 정리합니다. 성능에 관한 어떠한 주장도 포함하지 않습니다.</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09344"/>
          <a:ext cx="11057839" cy="914400"/>
        </p:xfrm>
        <a:graphic>
          <a:graphicData uri="http://schemas.openxmlformats.org/drawingml/2006/table">
            <a:tbl>
              <a:tblPr/>
              <a:tblGrid>
                <a:gridCol w="2103120"/>
                <a:gridCol w="2743200"/>
                <a:gridCol w="3383280"/>
                <a:gridCol w="2828239"/>
              </a:tblGrid>
              <a:tr h="310896">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후보 유형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성격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검토가 필요한 이유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확인해야 할 사항</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규칙 · 사전 기반 도구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정규식 · 사전 · 체커 조합형 오픈소스</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본 평가의 규칙 레이어를 대체 또는 확장할 수 있는지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한국어 형식 지원 범위 · 확장 비용 · 라이선스</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한국어 NER 모델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한국어 코퍼스로 학습된 개체명 인식 모델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성명 · 주소 등 문맥 의존 항목에서 OPF 약점 보완 가능성</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PII 라벨 체계와의 정합 · 오프셋 출력 지원 여부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다국어 PII 전용 모델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OPF와 동일 과업을 수행하는 타 공개 모델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동일 조건 비교로 OPF 선택의 타당성을 사후 검증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한국어 지원 명시 여부 · 라이선스 · 서빙 요구사항</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자체 파인튜닝 모델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OPF를 사내 데이터로 적응시킨 파생 모델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모델카드 Table 2가 소량 데이터의 효과를 시사</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학습 데이터 확보 절차 · 재현성 · 자산 등재 방식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8" name="Shape 5"/>
          <p:cNvSpPr/>
          <p:nvPr/>
        </p:nvSpPr>
        <p:spPr>
          <a:xfrm>
            <a:off x="566928" y="3730752"/>
            <a:ext cx="11057839" cy="2084832"/>
          </a:xfrm>
          <a:prstGeom prst="roundRect">
            <a:avLst>
              <a:gd name="adj" fmla="val 2632"/>
            </a:avLst>
          </a:prstGeom>
          <a:solidFill>
            <a:srgbClr val="EDF3FD"/>
          </a:solidFill>
          <a:ln w="9525">
            <a:solidFill>
              <a:srgbClr val="D0DEF6"/>
            </a:solidFill>
            <a:prstDash val="solid"/>
          </a:ln>
        </p:spPr>
      </p:sp>
      <p:sp>
        <p:nvSpPr>
          <p:cNvPr id="9" name="Shape 6"/>
          <p:cNvSpPr/>
          <p:nvPr/>
        </p:nvSpPr>
        <p:spPr>
          <a:xfrm>
            <a:off x="731520" y="3858768"/>
            <a:ext cx="3108960" cy="274320"/>
          </a:xfrm>
          <a:prstGeom prst="roundRect">
            <a:avLst>
              <a:gd name="adj" fmla="val 16667"/>
            </a:avLst>
          </a:prstGeom>
          <a:solidFill>
            <a:srgbClr val="1E2761"/>
          </a:solidFill>
          <a:ln w="6350">
            <a:solidFill>
              <a:srgbClr val="1E2761"/>
            </a:solidFill>
            <a:prstDash val="solid"/>
          </a:ln>
        </p:spPr>
      </p:sp>
      <p:sp>
        <p:nvSpPr>
          <p:cNvPr id="10" name="Text 7"/>
          <p:cNvSpPr/>
          <p:nvPr/>
        </p:nvSpPr>
        <p:spPr>
          <a:xfrm>
            <a:off x="731520" y="3858768"/>
            <a:ext cx="31089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비교 평가 시 고정해야 할 축</a:t>
            </a:r>
            <a:endParaRPr lang="en-US" sz="1050" dirty="0"/>
          </a:p>
        </p:txBody>
      </p:sp>
      <p:sp>
        <p:nvSpPr>
          <p:cNvPr id="11" name="Text 8"/>
          <p:cNvSpPr/>
          <p:nvPr/>
        </p:nvSpPr>
        <p:spPr>
          <a:xfrm>
            <a:off x="786384" y="4279392"/>
            <a:ext cx="2194560" cy="274320"/>
          </a:xfrm>
          <a:prstGeom prst="rect">
            <a:avLst/>
          </a:prstGeom>
          <a:noFill/>
          <a:ln/>
        </p:spPr>
        <p:txBody>
          <a:bodyPr wrap="square" lIns="0" tIns="0" rIns="0" bIns="0" rtlCol="0" anchor="ctr"/>
          <a:lstStyle/>
          <a:p>
            <a:pPr algn="l" indent="0" marL="0">
              <a:buNone/>
            </a:pPr>
            <a:r>
              <a:rPr lang="en-US" sz="1000" b="1" dirty="0">
                <a:solidFill>
                  <a:srgbClr val="1E2761"/>
                </a:solidFill>
                <a:latin typeface="Malgun Gothic" pitchFamily="34" charset="0"/>
                <a:ea typeface="Malgun Gothic" pitchFamily="34" charset="-122"/>
                <a:cs typeface="Malgun Gothic" pitchFamily="34" charset="-120"/>
              </a:rPr>
              <a:t>동일 정본</a:t>
            </a:r>
            <a:endParaRPr lang="en-US" sz="1000" dirty="0"/>
          </a:p>
        </p:txBody>
      </p:sp>
      <p:sp>
        <p:nvSpPr>
          <p:cNvPr id="12" name="Text 9"/>
          <p:cNvSpPr/>
          <p:nvPr/>
        </p:nvSpPr>
        <p:spPr>
          <a:xfrm>
            <a:off x="3127248" y="4279392"/>
            <a:ext cx="8223199" cy="274320"/>
          </a:xfrm>
          <a:prstGeom prst="rect">
            <a:avLst/>
          </a:prstGeom>
          <a:noFill/>
          <a:ln/>
        </p:spPr>
        <p:txBody>
          <a:bodyPr wrap="square" lIns="0" tIns="0" rIns="0" bIns="0" rtlCol="0" anchor="ctr"/>
          <a:lstStyle/>
          <a:p>
            <a:pPr algn="l" indent="0" marL="0">
              <a:buNone/>
            </a:pPr>
            <a:r>
              <a:rPr lang="en-US" sz="1000" dirty="0">
                <a:solidFill>
                  <a:srgbClr val="16181D"/>
                </a:solidFill>
                <a:latin typeface="Malgun Gothic" pitchFamily="34" charset="0"/>
                <a:ea typeface="Malgun Gothic" pitchFamily="34" charset="-122"/>
                <a:cs typeface="Malgun Gothic" pitchFamily="34" charset="-120"/>
              </a:rPr>
              <a:t>3,000문서 / 28,420스팬 정본과 프로브셋 300건을 그대로 사용</a:t>
            </a:r>
            <a:endParaRPr lang="en-US" sz="1000" dirty="0"/>
          </a:p>
        </p:txBody>
      </p:sp>
      <p:sp>
        <p:nvSpPr>
          <p:cNvPr id="13" name="Text 10"/>
          <p:cNvSpPr/>
          <p:nvPr/>
        </p:nvSpPr>
        <p:spPr>
          <a:xfrm>
            <a:off x="786384" y="4572000"/>
            <a:ext cx="2194560" cy="274320"/>
          </a:xfrm>
          <a:prstGeom prst="rect">
            <a:avLst/>
          </a:prstGeom>
          <a:noFill/>
          <a:ln/>
        </p:spPr>
        <p:txBody>
          <a:bodyPr wrap="square" lIns="0" tIns="0" rIns="0" bIns="0" rtlCol="0" anchor="ctr"/>
          <a:lstStyle/>
          <a:p>
            <a:pPr algn="l" indent="0" marL="0">
              <a:buNone/>
            </a:pPr>
            <a:r>
              <a:rPr lang="en-US" sz="1000" b="1" dirty="0">
                <a:solidFill>
                  <a:srgbClr val="1E2761"/>
                </a:solidFill>
                <a:latin typeface="Malgun Gothic" pitchFamily="34" charset="0"/>
                <a:ea typeface="Malgun Gothic" pitchFamily="34" charset="-122"/>
                <a:cs typeface="Malgun Gothic" pitchFamily="34" charset="-120"/>
              </a:rPr>
              <a:t>동일 매칭 규칙</a:t>
            </a:r>
            <a:endParaRPr lang="en-US" sz="1000" dirty="0"/>
          </a:p>
        </p:txBody>
      </p:sp>
      <p:sp>
        <p:nvSpPr>
          <p:cNvPr id="14" name="Text 11"/>
          <p:cNvSpPr/>
          <p:nvPr/>
        </p:nvSpPr>
        <p:spPr>
          <a:xfrm>
            <a:off x="3127248" y="4572000"/>
            <a:ext cx="8223199" cy="274320"/>
          </a:xfrm>
          <a:prstGeom prst="rect">
            <a:avLst/>
          </a:prstGeom>
          <a:noFill/>
          <a:ln/>
        </p:spPr>
        <p:txBody>
          <a:bodyPr wrap="square" lIns="0" tIns="0" rIns="0" bIns="0" rtlCol="0" anchor="ctr"/>
          <a:lstStyle/>
          <a:p>
            <a:pPr algn="l" indent="0" marL="0">
              <a:buNone/>
            </a:pPr>
            <a:r>
              <a:rPr lang="en-US" sz="1000" dirty="0">
                <a:solidFill>
                  <a:srgbClr val="16181D"/>
                </a:solidFill>
                <a:latin typeface="Malgun Gothic" pitchFamily="34" charset="0"/>
                <a:ea typeface="Malgun Gothic" pitchFamily="34" charset="-122"/>
                <a:cs typeface="Malgun Gothic" pitchFamily="34" charset="-120"/>
              </a:rPr>
              <a:t>재현율은 정답 포함, 정밀도는 예측 포함 (부록 A1)</a:t>
            </a:r>
            <a:endParaRPr lang="en-US" sz="1000" dirty="0"/>
          </a:p>
        </p:txBody>
      </p:sp>
      <p:sp>
        <p:nvSpPr>
          <p:cNvPr id="15" name="Text 12"/>
          <p:cNvSpPr/>
          <p:nvPr/>
        </p:nvSpPr>
        <p:spPr>
          <a:xfrm>
            <a:off x="786384" y="4864608"/>
            <a:ext cx="2194560" cy="274320"/>
          </a:xfrm>
          <a:prstGeom prst="rect">
            <a:avLst/>
          </a:prstGeom>
          <a:noFill/>
          <a:ln/>
        </p:spPr>
        <p:txBody>
          <a:bodyPr wrap="square" lIns="0" tIns="0" rIns="0" bIns="0" rtlCol="0" anchor="ctr"/>
          <a:lstStyle/>
          <a:p>
            <a:pPr algn="l" indent="0" marL="0">
              <a:buNone/>
            </a:pPr>
            <a:r>
              <a:rPr lang="en-US" sz="1000" b="1" dirty="0">
                <a:solidFill>
                  <a:srgbClr val="1E2761"/>
                </a:solidFill>
                <a:latin typeface="Malgun Gothic" pitchFamily="34" charset="0"/>
                <a:ea typeface="Malgun Gothic" pitchFamily="34" charset="-122"/>
                <a:cs typeface="Malgun Gothic" pitchFamily="34" charset="-120"/>
              </a:rPr>
              <a:t>동일 지표 집합</a:t>
            </a:r>
            <a:endParaRPr lang="en-US" sz="1000" dirty="0"/>
          </a:p>
        </p:txBody>
      </p:sp>
      <p:sp>
        <p:nvSpPr>
          <p:cNvPr id="16" name="Text 13"/>
          <p:cNvSpPr/>
          <p:nvPr/>
        </p:nvSpPr>
        <p:spPr>
          <a:xfrm>
            <a:off x="3127248" y="4864608"/>
            <a:ext cx="8223199" cy="274320"/>
          </a:xfrm>
          <a:prstGeom prst="rect">
            <a:avLst/>
          </a:prstGeom>
          <a:noFill/>
          <a:ln/>
        </p:spPr>
        <p:txBody>
          <a:bodyPr wrap="square" lIns="0" tIns="0" rIns="0" bIns="0" rtlCol="0" anchor="ctr"/>
          <a:lstStyle/>
          <a:p>
            <a:pPr algn="l" indent="0" marL="0">
              <a:buNone/>
            </a:pPr>
            <a:r>
              <a:rPr lang="en-US" sz="1000" dirty="0">
                <a:solidFill>
                  <a:srgbClr val="16181D"/>
                </a:solidFill>
                <a:latin typeface="Malgun Gothic" pitchFamily="34" charset="0"/>
                <a:ea typeface="Malgun Gothic" pitchFamily="34" charset="-122"/>
                <a:cs typeface="Malgun Gothic" pitchFamily="34" charset="-120"/>
              </a:rPr>
              <a:t>재현율 · F2 · 문서 단위 미탐률 · 고유식별 4종 미탐 · EM</a:t>
            </a:r>
            <a:endParaRPr lang="en-US" sz="1000" dirty="0"/>
          </a:p>
        </p:txBody>
      </p:sp>
      <p:sp>
        <p:nvSpPr>
          <p:cNvPr id="17" name="Text 14"/>
          <p:cNvSpPr/>
          <p:nvPr/>
        </p:nvSpPr>
        <p:spPr>
          <a:xfrm>
            <a:off x="786384" y="5157216"/>
            <a:ext cx="2194560" cy="274320"/>
          </a:xfrm>
          <a:prstGeom prst="rect">
            <a:avLst/>
          </a:prstGeom>
          <a:noFill/>
          <a:ln/>
        </p:spPr>
        <p:txBody>
          <a:bodyPr wrap="square" lIns="0" tIns="0" rIns="0" bIns="0" rtlCol="0" anchor="ctr"/>
          <a:lstStyle/>
          <a:p>
            <a:pPr algn="l" indent="0" marL="0">
              <a:buNone/>
            </a:pPr>
            <a:r>
              <a:rPr lang="en-US" sz="1000" b="1" dirty="0">
                <a:solidFill>
                  <a:srgbClr val="1E2761"/>
                </a:solidFill>
                <a:latin typeface="Malgun Gothic" pitchFamily="34" charset="0"/>
                <a:ea typeface="Malgun Gothic" pitchFamily="34" charset="-122"/>
                <a:cs typeface="Malgun Gothic" pitchFamily="34" charset="-120"/>
              </a:rPr>
              <a:t>동일 보고 서식</a:t>
            </a:r>
            <a:endParaRPr lang="en-US" sz="1000" dirty="0"/>
          </a:p>
        </p:txBody>
      </p:sp>
      <p:sp>
        <p:nvSpPr>
          <p:cNvPr id="18" name="Text 15"/>
          <p:cNvSpPr/>
          <p:nvPr/>
        </p:nvSpPr>
        <p:spPr>
          <a:xfrm>
            <a:off x="3127248" y="5157216"/>
            <a:ext cx="8223199" cy="274320"/>
          </a:xfrm>
          <a:prstGeom prst="rect">
            <a:avLst/>
          </a:prstGeom>
          <a:noFill/>
          <a:ln/>
        </p:spPr>
        <p:txBody>
          <a:bodyPr wrap="square" lIns="0" tIns="0" rIns="0" bIns="0" rtlCol="0" anchor="ctr"/>
          <a:lstStyle/>
          <a:p>
            <a:pPr algn="l" indent="0" marL="0">
              <a:buNone/>
            </a:pPr>
            <a:r>
              <a:rPr lang="en-US" sz="1000" dirty="0">
                <a:solidFill>
                  <a:srgbClr val="16181D"/>
                </a:solidFill>
                <a:latin typeface="Malgun Gothic" pitchFamily="34" charset="0"/>
                <a:ea typeface="Malgun Gothic" pitchFamily="34" charset="-122"/>
                <a:cs typeface="Malgun Gothic" pitchFamily="34" charset="-120"/>
              </a:rPr>
              <a:t>모델카드 6개 필드 — 출처 · 라이선스 · 버전 · 평가 조건 · 성능 · 적용 범위</a:t>
            </a:r>
            <a:endParaRPr lang="en-US" sz="1000" dirty="0"/>
          </a:p>
        </p:txBody>
      </p:sp>
      <p:sp>
        <p:nvSpPr>
          <p:cNvPr id="19" name="Text 16"/>
          <p:cNvSpPr/>
          <p:nvPr/>
        </p:nvSpPr>
        <p:spPr>
          <a:xfrm>
            <a:off x="786384" y="5449824"/>
            <a:ext cx="2194560" cy="274320"/>
          </a:xfrm>
          <a:prstGeom prst="rect">
            <a:avLst/>
          </a:prstGeom>
          <a:noFill/>
          <a:ln/>
        </p:spPr>
        <p:txBody>
          <a:bodyPr wrap="square" lIns="0" tIns="0" rIns="0" bIns="0" rtlCol="0" anchor="ctr"/>
          <a:lstStyle/>
          <a:p>
            <a:pPr algn="l" indent="0" marL="0">
              <a:buNone/>
            </a:pPr>
            <a:r>
              <a:rPr lang="en-US" sz="1000" b="1" dirty="0">
                <a:solidFill>
                  <a:srgbClr val="1E2761"/>
                </a:solidFill>
                <a:latin typeface="Malgun Gothic" pitchFamily="34" charset="0"/>
                <a:ea typeface="Malgun Gothic" pitchFamily="34" charset="-122"/>
                <a:cs typeface="Malgun Gothic" pitchFamily="34" charset="-120"/>
              </a:rPr>
              <a:t>기록 대상</a:t>
            </a:r>
            <a:endParaRPr lang="en-US" sz="1000" dirty="0"/>
          </a:p>
        </p:txBody>
      </p:sp>
      <p:sp>
        <p:nvSpPr>
          <p:cNvPr id="20" name="Text 17"/>
          <p:cNvSpPr/>
          <p:nvPr/>
        </p:nvSpPr>
        <p:spPr>
          <a:xfrm>
            <a:off x="3127248" y="5449824"/>
            <a:ext cx="8223199" cy="274320"/>
          </a:xfrm>
          <a:prstGeom prst="rect">
            <a:avLst/>
          </a:prstGeom>
          <a:noFill/>
          <a:ln/>
        </p:spPr>
        <p:txBody>
          <a:bodyPr wrap="square" lIns="0" tIns="0" rIns="0" bIns="0" rtlCol="0" anchor="ctr"/>
          <a:lstStyle/>
          <a:p>
            <a:pPr algn="l" indent="0" marL="0">
              <a:buNone/>
            </a:pPr>
            <a:r>
              <a:rPr lang="en-US" sz="1000" dirty="0">
                <a:solidFill>
                  <a:srgbClr val="16181D"/>
                </a:solidFill>
                <a:latin typeface="Malgun Gothic" pitchFamily="34" charset="0"/>
                <a:ea typeface="Malgun Gothic" pitchFamily="34" charset="-122"/>
                <a:cs typeface="Malgun Gothic" pitchFamily="34" charset="-120"/>
              </a:rPr>
              <a:t>평가 일자 · 디코딩 방식 · 운영점 · 서빙 환경 · 재현성 확인 여부</a:t>
            </a:r>
            <a:endParaRPr lang="en-US" sz="1000" dirty="0"/>
          </a:p>
        </p:txBody>
      </p:sp>
      <p:sp>
        <p:nvSpPr>
          <p:cNvPr id="21" name="Text 18"/>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이 축을 고정해 두면 모델이 추가될 때마다 동일 조건 비교가 가능하며, 모델카드 서식에 그대로 축적됩니다.</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A15</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한계 및 재현 절차</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A15</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2103120"/>
                <a:gridCol w="7223760"/>
                <a:gridCol w="1730959"/>
              </a:tblGrid>
              <a:tr h="329184">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내용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현재 상태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2918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1주차 자체 발견 결함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 무효화가 주민등록번호 검증식 기준으로만 적용되어, 1,580건 중 166건이 구 외국인등록번호 검증식에서 통과. 2주차 준비 중 자체 발견 후 보완 완료. 변경 166건 전부 외국인등록번호이며 그 외 0건. 문서 수 · 스팬 총계 · 11항목 빈도 · 오프셋 정합 · 금융 문맥 · 난이도 분포 전건 불변. 값이 전량 합성이므로 실질 위험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보완 완료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2918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과탐 3분해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과탐을 B1 · B2 · B3 세 유형으로 분해한 산출값에서 B1이 전체 FP와 동일하고 합이 맞지 않아, 산출 정의의 재확인이 필요합니다. 본 발표에서는 제외하고 과탐 총량과 과잉 마스킹 문자 수만 확정 수치로 제시했습니다.</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발표 제외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2918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하이브리드 잔여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합집합 미탐 8건의 원인은 병합 규칙의 「겹치면 넓은 쪽 채택」으로 특정되었습니다. 「구간 합집합 유지」로 변경 시 0건이 될 것으로 예상되나 미수정 상태입니다.</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A6410"/>
                          </a:solidFill>
                          <a:latin typeface="Malgun Gothic" pitchFamily="34" charset="0"/>
                          <a:ea typeface="Malgun Gothic" pitchFamily="34" charset="-122"/>
                          <a:cs typeface="Malgun Gothic" pitchFamily="34" charset="-120"/>
                        </a:rPr>
                        <a:t>원인 특정 · 미수정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2918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bias 조건 정밀도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bias 조건에서 예측 라벨에 private_date · private_url · secret이 관측되어 정답 라벨 체계와 불일치하며, 미귀속 예측이 267,641 / 297,474 존재합니다. 정밀도 분모의 신뢰도가 낮아 해당 조건의 정밀도는 제시하지 않았습니다.</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수치 미제시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2918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난이도 계층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경칭 결합과 한영 혼용의 네 값이 모두 동일하여 태깅 스크립트 재검증이 필요합니다 (부록 A5).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재검증 대상</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2918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표본검수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300행 검수 시트를 생성했으나 인간 검수는 실시하지 않았습니다 (부록 A12).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미실시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2918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데이터 성격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전량 합성 데이터이며 실제 상담 로그 분포와 일치한다는 근거가 없습니다. 실 데이터 기준 성능은 별도 검증이 필요합니다.</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후속 1순위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4791456"/>
            <a:ext cx="11057839" cy="621792"/>
          </a:xfrm>
          <a:prstGeom prst="roundRect">
            <a:avLst>
              <a:gd name="adj" fmla="val 8824"/>
            </a:avLst>
          </a:prstGeom>
          <a:solidFill>
            <a:srgbClr val="EDF3FD"/>
          </a:solidFill>
          <a:ln w="9525">
            <a:solidFill>
              <a:srgbClr val="EDF3FD"/>
            </a:solidFill>
            <a:prstDash val="solid"/>
          </a:ln>
        </p:spPr>
      </p:sp>
      <p:sp>
        <p:nvSpPr>
          <p:cNvPr id="7" name="Text 4"/>
          <p:cNvSpPr/>
          <p:nvPr/>
        </p:nvSpPr>
        <p:spPr>
          <a:xfrm>
            <a:off x="713232" y="4828032"/>
            <a:ext cx="10765231" cy="548640"/>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재현 절차 — 정본 데이터셋 · 평가 스크립트 · RUNBOOK(단계 0~7)이 사내 저장소에 보관되어 있습니다. 동일 정본에 대해 200건 재실행 시 출력이 전건 일치함을 확인했습니다. 다만 모델 가중치와 추론 래퍼는 개발망에만 존재하며 반출되지 않습니다.</a:t>
            </a:r>
            <a:endParaRPr lang="en-US" sz="950" dirty="0"/>
          </a:p>
        </p:txBody>
      </p:sp>
      <p:sp>
        <p:nvSpPr>
          <p:cNvPr id="8" name="Text 5"/>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자체 발견 결함을 포함해 모든 미해결 항목을 본 장에 공개합니다. 확정 수치와 검증 필요 항목은 명확히 구분해 표기했습니다.</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10896"/>
            <a:ext cx="65836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A16</a:t>
            </a:r>
            <a:endParaRPr lang="en-US" sz="1300" dirty="0"/>
          </a:p>
        </p:txBody>
      </p:sp>
      <p:sp>
        <p:nvSpPr>
          <p:cNvPr id="3" name="Text 1"/>
          <p:cNvSpPr/>
          <p:nvPr/>
        </p:nvSpPr>
        <p:spPr>
          <a:xfrm>
            <a:off x="1280160" y="256032"/>
            <a:ext cx="7857439" cy="420624"/>
          </a:xfrm>
          <a:prstGeom prst="rect">
            <a:avLst/>
          </a:prstGeom>
          <a:noFill/>
          <a:ln/>
        </p:spPr>
        <p:txBody>
          <a:bodyPr wrap="square" lIns="0" tIns="0" rIns="0" bIns="0" rtlCol="0" anchor="ctr"/>
          <a:lstStyle/>
          <a:p>
            <a:pPr algn="l" indent="0" marL="0">
              <a:buNone/>
            </a:pPr>
            <a:r>
              <a:rPr lang="en-US" sz="2200" b="1" dirty="0">
                <a:solidFill>
                  <a:srgbClr val="1E2761"/>
                </a:solidFill>
                <a:latin typeface="Malgun Gothic" pitchFamily="34" charset="0"/>
                <a:ea typeface="Malgun Gothic" pitchFamily="34" charset="-122"/>
                <a:cs typeface="Malgun Gothic" pitchFamily="34" charset="-120"/>
              </a:rPr>
              <a:t>출처 및 고지</a:t>
            </a:r>
            <a:endParaRPr lang="en-US" sz="22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부록 A16</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1920240"/>
                <a:gridCol w="6217920"/>
                <a:gridCol w="2919679"/>
              </a:tblGrid>
              <a:tr h="310896">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출처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라이선스 · 성격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평가 대상 모델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OpenAI Privacy Filter</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Apache 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모델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Model Card for OpenAI Privacy Filter, OpenAI, 2026-04-22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제작사 공개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테스트셋 원본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ai4privacy / pii-masking-openpii-1.5m 한국어 서브셋</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CC BY 4.0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가명처리 기준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개인정보보호위원회, 「가명정보 처리 가이드라인」 2026.03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권고 (본권 p.3)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평가 스크립트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자체 작성 — 집계 · 문서 단위 미탐 · 하이브리드 병합 · 규칙 레이어 · 프로브셋 생성 · 검수 시트 생성</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사내 저장소 보관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10896">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추론 래퍼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사내 제공 (main.py · postproc.py) + 자체 작성 배치 드라이버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개발망 한정 · 반출 불가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3200400"/>
            <a:ext cx="11057839" cy="1371600"/>
          </a:xfrm>
          <a:prstGeom prst="roundRect">
            <a:avLst>
              <a:gd name="adj" fmla="val 4000"/>
            </a:avLst>
          </a:prstGeom>
          <a:solidFill>
            <a:srgbClr val="F7F8FB"/>
          </a:solidFill>
          <a:ln w="9525">
            <a:solidFill>
              <a:srgbClr val="DFE3EC"/>
            </a:solidFill>
            <a:prstDash val="solid"/>
          </a:ln>
        </p:spPr>
      </p:sp>
      <p:sp>
        <p:nvSpPr>
          <p:cNvPr id="7" name="Shape 4"/>
          <p:cNvSpPr/>
          <p:nvPr/>
        </p:nvSpPr>
        <p:spPr>
          <a:xfrm>
            <a:off x="731520" y="3328416"/>
            <a:ext cx="2743200" cy="274320"/>
          </a:xfrm>
          <a:prstGeom prst="roundRect">
            <a:avLst>
              <a:gd name="adj" fmla="val 16667"/>
            </a:avLst>
          </a:prstGeom>
          <a:solidFill>
            <a:srgbClr val="1E2761"/>
          </a:solidFill>
          <a:ln w="6350">
            <a:solidFill>
              <a:srgbClr val="1E2761"/>
            </a:solidFill>
            <a:prstDash val="solid"/>
          </a:ln>
        </p:spPr>
      </p:sp>
      <p:sp>
        <p:nvSpPr>
          <p:cNvPr id="8" name="Text 5"/>
          <p:cNvSpPr/>
          <p:nvPr/>
        </p:nvSpPr>
        <p:spPr>
          <a:xfrm>
            <a:off x="731520" y="3328416"/>
            <a:ext cx="2743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배포 시 필수 표기 문구</a:t>
            </a:r>
            <a:endParaRPr lang="en-US" sz="1050" dirty="0"/>
          </a:p>
        </p:txBody>
      </p:sp>
      <p:sp>
        <p:nvSpPr>
          <p:cNvPr id="9" name="Text 6"/>
          <p:cNvSpPr/>
          <p:nvPr/>
        </p:nvSpPr>
        <p:spPr>
          <a:xfrm>
            <a:off x="768096" y="3712464"/>
            <a:ext cx="10655503" cy="786384"/>
          </a:xfrm>
          <a:prstGeom prst="rect">
            <a:avLst/>
          </a:prstGeom>
          <a:noFill/>
          <a:ln/>
        </p:spPr>
        <p:txBody>
          <a:bodyPr wrap="square" lIns="0" tIns="0" rIns="0" bIns="0" rtlCol="0" anchor="t"/>
          <a:lstStyle/>
          <a:p>
            <a:pPr algn="l" indent="0" marL="0">
              <a:lnSpc>
                <a:spcPct val="125000"/>
              </a:lnSpc>
              <a:buNone/>
            </a:pPr>
            <a:r>
              <a:rPr lang="en-US" sz="1000" dirty="0">
                <a:solidFill>
                  <a:srgbClr val="16181D"/>
                </a:solidFill>
                <a:latin typeface="Consolas" pitchFamily="34" charset="0"/>
                <a:ea typeface="Consolas" pitchFamily="34" charset="-122"/>
                <a:cs typeface="Consolas" pitchFamily="34" charset="-120"/>
              </a:rPr>
              <a:t>본 데이터셋은 ai4privacy/pii-masking-openpii-1.5m (Ai4Privacy, CC BY 4.0)의</a:t>
            </a:r>
            <a:endParaRPr lang="en-US" sz="1000" dirty="0"/>
          </a:p>
          <a:p>
            <a:pPr algn="l" indent="0" marL="0">
              <a:lnSpc>
                <a:spcPct val="125000"/>
              </a:lnSpc>
              <a:buNone/>
            </a:pPr>
            <a:r>
              <a:rPr lang="en-US" sz="1000" dirty="0">
                <a:solidFill>
                  <a:srgbClr val="16181D"/>
                </a:solidFill>
                <a:latin typeface="Consolas" pitchFamily="34" charset="0"/>
                <a:ea typeface="Consolas" pitchFamily="34" charset="-122"/>
                <a:cs typeface="Consolas" pitchFamily="34" charset="-120"/>
              </a:rPr>
              <a:t>한국어 서브셋을 가공하여 제작하였습니다.</a:t>
            </a:r>
            <a:endParaRPr lang="en-US" sz="1000" dirty="0"/>
          </a:p>
          <a:p>
            <a:pPr algn="l" indent="0" marL="0">
              <a:lnSpc>
                <a:spcPct val="125000"/>
              </a:lnSpc>
              <a:buNone/>
            </a:pPr>
            <a:r>
              <a:rPr lang="en-US" sz="1000" dirty="0">
                <a:solidFill>
                  <a:srgbClr val="16181D"/>
                </a:solidFill>
                <a:latin typeface="Consolas" pitchFamily="34" charset="0"/>
                <a:ea typeface="Consolas" pitchFamily="34" charset="-122"/>
                <a:cs typeface="Consolas" pitchFamily="34" charset="-120"/>
              </a:rPr>
              <a:t>가명처리 기준: 개인정보보호위원회, 「가명정보 처리 가이드라인」 2026.03.</a:t>
            </a:r>
            <a:endParaRPr lang="en-US" sz="1000" dirty="0"/>
          </a:p>
        </p:txBody>
      </p:sp>
      <p:sp>
        <p:nvSpPr>
          <p:cNvPr id="10" name="Shape 7"/>
          <p:cNvSpPr/>
          <p:nvPr/>
        </p:nvSpPr>
        <p:spPr>
          <a:xfrm>
            <a:off x="566928" y="4736592"/>
            <a:ext cx="11057839" cy="603504"/>
          </a:xfrm>
          <a:prstGeom prst="roundRect">
            <a:avLst>
              <a:gd name="adj" fmla="val 9091"/>
            </a:avLst>
          </a:prstGeom>
          <a:solidFill>
            <a:srgbClr val="EDF3FD"/>
          </a:solidFill>
          <a:ln w="9525">
            <a:solidFill>
              <a:srgbClr val="EDF3FD"/>
            </a:solidFill>
            <a:prstDash val="solid"/>
          </a:ln>
        </p:spPr>
      </p:sp>
      <p:sp>
        <p:nvSpPr>
          <p:cNvPr id="11" name="Text 8"/>
          <p:cNvSpPr/>
          <p:nvPr/>
        </p:nvSpPr>
        <p:spPr>
          <a:xfrm>
            <a:off x="713232" y="4773168"/>
            <a:ext cx="10765231" cy="530352"/>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표현 사용 원칙 — 본 보고에서는 '위변조 불가' 대신 '수정 · 삭제 탐지 가능', '최적' 대신 '현 조건에서 확인된 범위'로 표기했습니다. 검증되지 않은 단정적 표현을 사용하지 않았으며, 확정 수치와 검증 필요 항목을 구분해 제시했습니다.</a:t>
            </a:r>
            <a:endParaRPr lang="en-US" sz="950" dirty="0"/>
          </a:p>
        </p:txBody>
      </p:sp>
      <p:sp>
        <p:nvSpPr>
          <p:cNvPr id="12" name="Shape 9"/>
          <p:cNvSpPr/>
          <p:nvPr/>
        </p:nvSpPr>
        <p:spPr>
          <a:xfrm>
            <a:off x="566928" y="5468112"/>
            <a:ext cx="11057839" cy="566928"/>
          </a:xfrm>
          <a:prstGeom prst="roundRect">
            <a:avLst>
              <a:gd name="adj" fmla="val 9677"/>
            </a:avLst>
          </a:prstGeom>
          <a:solidFill>
            <a:srgbClr val="FBF4E4"/>
          </a:solidFill>
          <a:ln w="9525">
            <a:solidFill>
              <a:srgbClr val="FBF4E4"/>
            </a:solidFill>
            <a:prstDash val="solid"/>
          </a:ln>
        </p:spPr>
      </p:sp>
      <p:sp>
        <p:nvSpPr>
          <p:cNvPr id="13" name="Text 10"/>
          <p:cNvSpPr/>
          <p:nvPr/>
        </p:nvSpPr>
        <p:spPr>
          <a:xfrm>
            <a:off x="713232" y="5504688"/>
            <a:ext cx="10765231" cy="493776"/>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본 평가는 자체 구축 합성 테스트셋을 기준으로 수행되었으며, 실제 상담 데이터 분포에서의 성능을 보장하지 않습니다. 모델카드가 요구하는 '도입 전 자체 도메인 평가'에 해당하는 절차이며, 실 데이터 검증을 후속 1순위 과제로 제안드립니다.</a:t>
            </a:r>
            <a:endParaRPr lang="en-US" sz="950" dirty="0"/>
          </a:p>
        </p:txBody>
      </p:sp>
      <p:sp>
        <p:nvSpPr>
          <p:cNvPr id="14" name="Text 11"/>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작성 : 최중현  |  AI솔루션팀 OJT 2주차  |  2026. 08. 21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삼성증권 AI솔루션팀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OPF 한국어 PII 탐지 성능 평가 — 부록</dc:title>
  <dc:subject>PptxGenJS Presentation</dc:subject>
  <dc:creator>최중현</dc:creator>
  <cp:lastModifiedBy>최중현</cp:lastModifiedBy>
  <cp:revision>1</cp:revision>
  <dcterms:created xsi:type="dcterms:W3CDTF">2026-08-20T07:32:54Z</dcterms:created>
  <dcterms:modified xsi:type="dcterms:W3CDTF">2026-08-20T07:32:54Z</dcterms:modified>
</cp:coreProperties>
</file>