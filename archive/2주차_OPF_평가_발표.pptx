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761"/>
                </a:solidFill>
                <a:latin typeface="Malgun Gothic"/>
              </a:defRPr>
            </a:pPr>
            <a:r>
              <a:rPr sz="1100" b="0" i="0" u="none" strike="noStrike">
                <a:solidFill>
                  <a:srgbClr val="1E2761"/>
                </a:solidFill>
                <a:latin typeface="Malgun Gothic"/>
              </a:rPr>
              <a:t>항목별 미탐 포함 문서 수 (전체 3,000문서)</a:t>
            </a:r>
          </a:p>
        </c:rich>
      </c:tx>
      <c:layout/>
      <c:overlay val="0"/>
    </c:title>
    <c:autoTitleDeleted val="0"/>
    <c:plotArea>
      <c:layout/>
      <c:barChart>
        <c:barDir val="bar"/>
        <c:grouping val="clustered"/>
        <c:varyColors val="0"/>
        <c:ser>
          <c:idx val="0"/>
          <c:order val="0"/>
          <c:tx>
            <c:strRef>
              <c:f>Sheet1!$B$1</c:f>
              <c:strCache>
                <c:ptCount val="1"/>
                <c:pt idx="0">
                  <c:v>문서 미탐 수</c:v>
                </c:pt>
              </c:strCache>
            </c:strRef>
          </c:tx>
          <c:spPr>
            <a:solidFill>
              <a:srgbClr val="1E2761"/>
            </a:solidFill>
            <a:effectLst/>
          </c:spPr>
          <c:invertIfNegative val="0"/>
          <c:dLbls>
            <c:numFmt formatCode="#,##0" sourceLinked="0"/>
            <c:txPr>
              <a:bodyPr/>
              <a:lstStyle/>
              <a:p>
                <a:pPr>
                  <a:defRPr b="0" i="0" strike="noStrike" sz="900" u="none">
                    <a:solidFill>
                      <a:srgbClr val="16181D"/>
                    </a:solidFill>
                    <a:latin typeface="Malgun Gothic"/>
                  </a:defRPr>
                </a:pPr>
              </a:p>
            </c:txPr>
            <c:showLegendKey val="0"/>
            <c:showVal val="1"/>
            <c:showCatName val="0"/>
            <c:showSerName val="0"/>
            <c:showPercent val="0"/>
            <c:showBubbleSize val="0"/>
            <c:showLeaderLines val="0"/>
          </c:dLbls>
          <c:cat>
            <c:multiLvlStrRef>
              <c:f>Sheet1!$A$2:$A$12</c:f>
              <c:multiLvlStrCache>
                <c:ptCount val="11"/>
                <c:lvl>
                  <c:pt idx="0">
                    <c:v>이메일</c:v>
                  </c:pt>
                  <c:pt idx="1">
                    <c:v>계좌번호</c:v>
                  </c:pt>
                  <c:pt idx="2">
                    <c:v>연락처</c:v>
                  </c:pt>
                  <c:pt idx="3">
                    <c:v>여권번호</c:v>
                  </c:pt>
                  <c:pt idx="4">
                    <c:v>외국인등록</c:v>
                  </c:pt>
                  <c:pt idx="5">
                    <c:v>카드번호</c:v>
                  </c:pt>
                  <c:pt idx="6">
                    <c:v>운전면허</c:v>
                  </c:pt>
                  <c:pt idx="7">
                    <c:v>주민등록</c:v>
                  </c:pt>
                  <c:pt idx="8">
                    <c:v>주소</c:v>
                  </c:pt>
                  <c:pt idx="9">
                    <c:v>영문 성명</c:v>
                  </c:pt>
                  <c:pt idx="10">
                    <c:v>국문 성명</c:v>
                  </c:pt>
                </c:lvl>
              </c:multiLvlStrCache>
            </c:multiLvlStrRef>
          </c:cat>
          <c:val>
            <c:numRef>
              <c:f>Sheet1!$B$2:$B$12</c:f>
              <c:numCache>
                <c:formatCode>General</c:formatCode>
                <c:ptCount val="11"/>
                <c:pt idx="0">
                  <c:v>1</c:v>
                </c:pt>
                <c:pt idx="1">
                  <c:v>1</c:v>
                </c:pt>
                <c:pt idx="2">
                  <c:v>56</c:v>
                </c:pt>
                <c:pt idx="3">
                  <c:v>78</c:v>
                </c:pt>
                <c:pt idx="4">
                  <c:v>116</c:v>
                </c:pt>
                <c:pt idx="5">
                  <c:v>148</c:v>
                </c:pt>
                <c:pt idx="6">
                  <c:v>214</c:v>
                </c:pt>
                <c:pt idx="7">
                  <c:v>217</c:v>
                </c:pt>
                <c:pt idx="8">
                  <c:v>232</c:v>
                </c:pt>
                <c:pt idx="9">
                  <c:v>281</c:v>
                </c:pt>
                <c:pt idx="10">
                  <c:v>696</c:v>
                </c:pt>
              </c:numCache>
            </c:numRef>
          </c:val>
        </c:ser>
        <c:dLbls>
          <c:numFmt formatCode="#,##0" sourceLinked="0"/>
          <c:txPr>
            <a:bodyPr/>
            <a:lstStyle/>
            <a:p>
              <a:pPr>
                <a:defRPr b="0" i="0" strike="noStrike" sz="900" u="none">
                  <a:solidFill>
                    <a:srgbClr val="16181D"/>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6181D"/>
                </a:solidFill>
                <a:latin typeface="Malgun Gothic"/>
              </a:defRPr>
            </a:pPr>
            <a:endParaRPr lang="en-US"/>
          </a:p>
        </c:txPr>
        <c:crossAx val="2094734552"/>
        <c:crosses val="autoZero"/>
        <c:auto val="1"/>
        <c:lblAlgn val="ctr"/>
        <c:noMultiLvlLbl val="1"/>
      </c:catAx>
      <c:valAx>
        <c:axId val="2094734552"/>
        <c:scaling>
          <c:orientation val="minMax"/>
          <c:max val="800"/>
        </c:scaling>
        <c:delete val="0"/>
        <c:axPos val="b"/>
        <c:majorGridlines>
          <c:spPr>
            <a:ln w="9525" cap="flat">
              <a:solidFill>
                <a:srgbClr val="DF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C62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E2761"/>
                </a:solidFill>
                <a:latin typeface="Malgun Gothic"/>
              </a:defRPr>
            </a:pPr>
            <a:r>
              <a:rPr sz="1050" b="0" i="0" u="none" strike="noStrike">
                <a:solidFill>
                  <a:srgbClr val="1E2761"/>
                </a:solidFill>
                <a:latin typeface="Malgun Gothic"/>
              </a:rPr>
              <a:t>학습 데이터 비율별 성능 (Model Card Table 2 · SPY 데이터셋)</a:t>
            </a:r>
          </a:p>
        </c:rich>
      </c:tx>
      <c:layout/>
      <c:overlay val="0"/>
    </c:title>
    <c:autoTitleDeleted val="0"/>
    <c:plotArea>
      <c:layout/>
      <c:lineChart>
        <c:varyColors val="0"/>
        <c:ser>
          <c:idx val="0"/>
          <c:order val="0"/>
          <c:tx>
            <c:strRef>
              <c:f>Sheet1!$B$1</c:f>
              <c:strCache>
                <c:ptCount val="1"/>
                <c:pt idx="0">
                  <c:v>F1</c:v>
                </c:pt>
              </c:strCache>
            </c:strRef>
          </c:tx>
          <c:spPr>
            <a:solidFill>
              <a:srgbClr val="1E2761"/>
            </a:solidFill>
            <a:ln w="31750" cap="flat">
              <a:solidFill>
                <a:srgbClr val="1E2761"/>
              </a:solidFill>
              <a:prstDash val="solid"/>
              <a:round/>
            </a:ln>
            <a:effectLst/>
          </c:spPr>
          <c:invertIfNegative val="0"/>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Sheet1!$A$2:$A$5</c:f>
              <c:multiLvlStrCache>
                <c:ptCount val="4"/>
                <c:lvl>
                  <c:pt idx="0">
                    <c:v>0%</c:v>
                  </c:pt>
                  <c:pt idx="1">
                    <c:v>1%</c:v>
                  </c:pt>
                  <c:pt idx="2">
                    <c:v>10%</c:v>
                  </c:pt>
                  <c:pt idx="3">
                    <c:v>50%</c:v>
                  </c:pt>
                </c:lvl>
              </c:multiLvlStrCache>
            </c:multiLvlStrRef>
          </c:cat>
          <c:val>
            <c:numRef>
              <c:f>Sheet1!$B$2:$B$5</c:f>
              <c:numCache>
                <c:formatCode>General</c:formatCode>
                <c:ptCount val="4"/>
                <c:pt idx="0">
                  <c:v>0.545</c:v>
                </c:pt>
                <c:pt idx="1">
                  <c:v>0.879</c:v>
                </c:pt>
                <c:pt idx="2">
                  <c:v>0.962</c:v>
                </c:pt>
                <c:pt idx="3">
                  <c:v>0.983</c:v>
                </c:pt>
              </c:numCache>
            </c:numRef>
          </c:val>
          <c:smooth val="0"/>
        </c:ser>
        <c:ser>
          <c:idx val="1"/>
          <c:order val="1"/>
          <c:tx>
            <c:strRef>
              <c:f>Sheet1!$C$1</c:f>
              <c:strCache>
                <c:ptCount val="1"/>
                <c:pt idx="0">
                  <c:v>Precision</c:v>
                </c:pt>
              </c:strCache>
            </c:strRef>
          </c:tx>
          <c:spPr>
            <a:solidFill>
              <a:srgbClr val="7A88C9"/>
            </a:solidFill>
            <a:ln w="31750" cap="flat">
              <a:solidFill>
                <a:srgbClr val="7A88C9"/>
              </a:solidFill>
              <a:prstDash val="solid"/>
              <a:round/>
            </a:ln>
            <a:effectLst/>
          </c:spPr>
          <c:invertIfNegative val="0"/>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c:symbol val="circle"/>
            <c:size val="7"/>
            <c:spPr>
              <a:solidFill>
                <a:srgbClr val="7A88C9"/>
              </a:solidFill>
              <a:ln w="9525" cap="flat">
                <a:solidFill>
                  <a:srgbClr val="7A88C9"/>
                </a:solidFill>
                <a:prstDash val="solid"/>
                <a:round/>
              </a:ln>
              <a:effectLst/>
            </c:spPr>
          </c:marker>
          <c:cat>
            <c:multiLvlStrRef>
              <c:f>Sheet1!$A$2:$A$5</c:f>
              <c:multiLvlStrCache>
                <c:ptCount val="4"/>
                <c:lvl>
                  <c:pt idx="0">
                    <c:v>0%</c:v>
                  </c:pt>
                  <c:pt idx="1">
                    <c:v>1%</c:v>
                  </c:pt>
                  <c:pt idx="2">
                    <c:v>10%</c:v>
                  </c:pt>
                  <c:pt idx="3">
                    <c:v>50%</c:v>
                  </c:pt>
                </c:lvl>
              </c:multiLvlStrCache>
            </c:multiLvlStrRef>
          </c:cat>
          <c:val>
            <c:numRef>
              <c:f>Sheet1!$C$2:$C$5</c:f>
              <c:numCache>
                <c:formatCode>General</c:formatCode>
                <c:ptCount val="4"/>
                <c:pt idx="0">
                  <c:v>0.414</c:v>
                </c:pt>
                <c:pt idx="1">
                  <c:v>0.888</c:v>
                </c:pt>
                <c:pt idx="2">
                  <c:v>0.963</c:v>
                </c:pt>
                <c:pt idx="3">
                  <c:v>0.983</c:v>
                </c:pt>
              </c:numCache>
            </c:numRef>
          </c:val>
          <c:smooth val="0"/>
        </c:ser>
        <c:ser>
          <c:idx val="2"/>
          <c:order val="2"/>
          <c:tx>
            <c:strRef>
              <c:f>Sheet1!$D$1</c:f>
              <c:strCache>
                <c:ptCount val="1"/>
                <c:pt idx="0">
                  <c:v>Recall</c:v>
                </c:pt>
              </c:strCache>
            </c:strRef>
          </c:tx>
          <c:spPr>
            <a:solidFill>
              <a:srgbClr val="8E2420"/>
            </a:solidFill>
            <a:ln w="31750" cap="flat">
              <a:solidFill>
                <a:srgbClr val="8E2420"/>
              </a:solidFill>
              <a:prstDash val="solid"/>
              <a:round/>
            </a:ln>
            <a:effectLst/>
          </c:spPr>
          <c:invertIfNegative val="0"/>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c:symbol val="circle"/>
            <c:size val="7"/>
            <c:spPr>
              <a:solidFill>
                <a:srgbClr val="8E2420"/>
              </a:solidFill>
              <a:ln w="9525" cap="flat">
                <a:solidFill>
                  <a:srgbClr val="8E2420"/>
                </a:solidFill>
                <a:prstDash val="solid"/>
                <a:round/>
              </a:ln>
              <a:effectLst/>
            </c:spPr>
          </c:marker>
          <c:cat>
            <c:multiLvlStrRef>
              <c:f>Sheet1!$A$2:$A$5</c:f>
              <c:multiLvlStrCache>
                <c:ptCount val="4"/>
                <c:lvl>
                  <c:pt idx="0">
                    <c:v>0%</c:v>
                  </c:pt>
                  <c:pt idx="1">
                    <c:v>1%</c:v>
                  </c:pt>
                  <c:pt idx="2">
                    <c:v>10%</c:v>
                  </c:pt>
                  <c:pt idx="3">
                    <c:v>50%</c:v>
                  </c:pt>
                </c:lvl>
              </c:multiLvlStrCache>
            </c:multiLvlStrRef>
          </c:cat>
          <c:val>
            <c:numRef>
              <c:f>Sheet1!$D$2:$D$5</c:f>
              <c:numCache>
                <c:formatCode>General</c:formatCode>
                <c:ptCount val="4"/>
                <c:pt idx="0">
                  <c:v>0.795</c:v>
                </c:pt>
                <c:pt idx="1">
                  <c:v>0.871</c:v>
                </c:pt>
                <c:pt idx="2">
                  <c:v>0.96</c:v>
                </c:pt>
                <c:pt idx="3">
                  <c:v>0.982</c:v>
                </c:pt>
              </c:numCache>
            </c:numRef>
          </c:val>
          <c:smooth val="0"/>
        </c:ser>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181D"/>
                </a:solidFill>
                <a:latin typeface="Malgun Gothic"/>
              </a:defRPr>
            </a:pPr>
            <a:endParaRPr lang="en-US"/>
          </a:p>
        </c:txPr>
        <c:crossAx val="2094734552"/>
        <c:crosses val="autoZero"/>
        <c:auto val="1"/>
        <c:lblAlgn val="ctr"/>
        <c:noMultiLvlLbl val="1"/>
      </c:catAx>
      <c:valAx>
        <c:axId val="2094734552"/>
        <c:scaling>
          <c:orientation val="minMax"/>
          <c:max val="1.05"/>
          <c:min val="0.3"/>
        </c:scaling>
        <c:delete val="0"/>
        <c:axPos val="l"/>
        <c:majorGridlines>
          <c:spPr>
            <a:ln w="9525" cap="flat">
              <a:solidFill>
                <a:srgbClr val="DF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C62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6181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3,000문서 실측 결과와 운영 권고를 보고드립니다. 평가 대상은 OpenAI Privacy Filter 프리뷰 릴리스입니다.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도입은 이미 확정된 사안입니다. 따라서 이번 보고는 '쓸지 말지'가 아니라 '어떻게 안전하게 쓸지'에 초점을 맞췄습니다. 모델 제작사 스스로가 단일 방어선 사용을 금지하고 자체 도메인 평가를 요구하고 있으며, 이번 평가가 정확히 그 요구에 대응하는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주간회의에서 말씀하신 모델 자산화 건을 반영해 신설한 장입니다. 지시하신 출처·라이선스·성능 3개에, 자산 관리에 필수적인 버전 식별자·평가 조건·적용 범위 3개를 더해 6개 필드로 구성했습니다. 특히 성능은 평가 조건과 반드시 세트로 봐야 합니다. 같은 모델도 디코딩 구성에 따라 지표가 크게 달라지기 때문입니다. 하단 각주를 보시면, 자산 대장에 정식 등재하려면 체크포인트 해시가 필요한데 이건 아직 확보하지 못했습니다. 그리고 성능란에서 하나 짚어드릴 부분은, 자체 실측 재현율 86.17%가 제작사가 공표한 한국어 재현율 0.887과 근접한 범위라는 점입니다. 우리 테스트셋이 제작사 문서와 어긋나지 않는다는 교차 검증이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컴플라이언스 관점에서 재현율을 최우선으로 두었습니다. 미탐은 유출이고 과탐은 문맥 손실이므로, 성격이 다른 두 오류를 합산하지 않고 각각 보고합니다. Accuracy는 배경 문자가 지배해서 변별력이 없어 제외했습니다. 참조 기준치는 개인정보보호위원회 가명정보 처리 가이드라인 별권 제7장의 상담 데이터 사례에서 가져왔고, 이 가이드라인은 권고 성격임을 함께 밝힙니다.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기준선 전체 수치입니다. 재현율 86.17%, F2 0.7157입니다. 정밀도가 42.66%로 낮은데, 이는 뒤에서 다루겠지만 상당 부분이 경계를 넓게 잡아서 발생한 것으로 보입니다. 여기서 강조드릴 두 가지는, 첫째 제작사 한국어 수치와 근접해 테스트셋 타당성이 교차 검증됐다는 점, 둘째 스팬 단위 재현율보다 다음 장의 문서 단위 지표가 실무에서 더 중요하다는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컴플라이언스 관점에서 가장 중요합니다. 스팬 재현율 86%는 '스팬 100개 중 86개를 가렸다'는 뜻이지만, 실무에서 유출 사고는 문서 단위로 발생합니다. 우리 데이터는 문서당 평균 9.5개 스팬이 있어서, 스팬 미탐률 13.83%가 문서 미탐률 68%로 증폭됩니다. 즉 3,000문서 중 2,040건에 개인정보가 남아 있습니다. 항목별로 보면 국문 성명이 696건으로 압도적이고, 고유식별 4종도 모두 상위권에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고유식별 4종입니다. 합계 재현율 90.26%로 전체 평균보다 높지만, 이 항목군은 기준이 다릅니다. 가이드라인 참조 기준치인 제거율 99.9%를 적용하면 허용 미탐이 4건인데 실측은 749건입니다. 기준 미충족입니다. 여권번호는 특히 눈여겨볼 만한데, 재현율은 93.92%로 높은데 EM이 1.4%밖에 안 됩니다. 값은 덮이지만 경계가 거의 항상 어긋난다는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항목별로 보면 뚜렷한 패턴이 나옵니다. 구분자나 자릿수 같은 표층 신호만으로 판정되는 항목은 88% 이상으로 안정적입니다. 반면 문맥 판단이 필요한 성명과 주소는 크게 떨어지고, 이 세 항목이 전체 미탐의 72%를 차지합니다. 중요한 건 이게 예상 밖의 결과가 아니라는 점입니다. 모델카드 4.3절이 경칭이 많은 표현과 지역별 명명 관습에서 미탐이 발생한다고 이미 명시하고 있고, 우리 실측이 그것과 일치합니다.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과탐 수치입니다. 총량은 19,874건이고 과잉 마스킹된 문자는 117,746자로 전체 본문의 8.46%입니다. 반대로 노출된 문자는 3,827자, 0.27%입니다. 오른쪽 유의사항이 중요한데, 정밀도가 낮은 항목들이 재현율은 오히려 높습니다. 매칭 규칙상 예측이 정답보다 넓으면 재현율은 통과하고 정밀도는 실패하기 때문입니다. 다만 이건 아직 정량 검증을 못 했으므로 추정으로만 말씀드리고, 확정 수치는 총량과 문자 수만 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여기까지가 도입 기준선 실측이고, 이후는 추가 검토 사항입니다. 실 상담 로그에 가까운 조건에서의 성능과, 제가 자체적으로 검토한 개선안 3종을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상담 로그는 이런 형태에 가깝습니다. 재현율이 86.17%에서 65.67%로 떨어집니다. 특히 성명·이메일·주소는 EM이 0입니다. 경계를 한 번도 정확히 맞추지 못했다는 뜻입니다. 오른쪽이 중요한데, 기준선에서 100%였던 규칙 레이어가 여기서는 0/0으로 완전히 붕괴합니다. 형식이 깨져서 정규식 매칭 자체가 안 되기 때문입니다. 다만 이건 합성 변형이지 실 로그가 아니므로 합격 판정 기준에서는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팀장님께서 '규칙만 쓰면 되지 않나' 물으실 수 있어 미리 정리했습니다. 답은 세 가지입니다. 첫째 규칙은 고유식별 4종만 커버하므로 전체의 27%입니다. 둘째 부분 발화에서 0/0으로 붕괴합니다. 셋째 기관별 형식 차이를 전부 등록하고 유지해야 합니다. 그리고 반드시 함께 말씀드려야 할 것은, 규칙의 기준선 100%가 테스트셋 생성 방식의 산물이라는 점입니다. 값이 규칙적 형식으로 합성됐기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개선안 첫 번째입니다. 원리는 간단합니다. 같은 텍스트에 OPF와 정규식 검출기를 각각 독립 실행하고, 두 결과의 문자 구간을 합집합으로 병합합니다. 어느 한쪽만 잡아도 마스킹됩니다. 중요한 건 모델을 고친 게 아니라는 점입니다. 모델은 그대로 두고 결정론적 검출기를 병렬로 붙인 것이라, 모델 재평가가 불필요하고 롤백도 규칙 비활성화 한 줄입니다. 결과는 고유식별 4종 미탐이 749건에서 8건으로 줄었습니다. 다만 두 가지 정직하게 말씀드릴 게 있습니다. 첫째 과탐 마이너스 55는 과탐이 줄어든 게 아니라 겹친 과탐이 병합된 것입니다. 둘째 잔여 8건은 병합 규칙 때문이고 원인은 특정했지만 수정은 아직 안 했습니다. 그리고 이건 평가용 후처리 스크립트이지 서비스 파이프라인에 들어가 있는 게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개선안 두 번째입니다. 먼저 실험 목적을 말씀드리면, 제공 환경이 argmax이므로 그 조건에서 재현율을 끌어올릴 여지가 있는지 확인한 것입니다. 결과는 두 가지입니다. 첫째 미탐은 3,931건에서 1,760건으로 줄었지만 과잉 마스킹이 8.3배 늘어 본문의 70%가 가려집니다. 둘째, 더 중요한 발견인데 bias 1, 2, 4가 완전히 같은 결과를 냈습니다. 로짓 차이가 1.0에서 포화됐기 때문이고, 결국 argmax에 단일 스칼라 bias는 연속 조절 손잡이가 아니라 on/off 스위치라는 뜻입니다. 중간 운영점을 만들 수 없습니다. 오른쪽은 후속 제안입니다. 이 부분은 정홍규 수석님께 확인드렸는데, Viterbi 파라미터가 공개되지 않아 탐색 시간이 필요하고 반입 경로도 제약이 있어서 현재 argmax 구현이 타당한 선택이었습니다. 다만 제작사가 Viterbi를 권장하고 있고 경계 절단 888건이 여기서 개선될 여지가 있어 후속 과제로 제안드립니다.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개선안 세 번째입니다. 제작사 데이터에 따르면 학습 데이터 1%만으로 F1이 0.545에서 0.879로 오릅니다. 다만 이건 SPY라는 영어 의료·법률 데이터셋 결과지 한국어 금융 결과가 아니므로, 같은 개선 폭을 그대로 기대하면 안 됩니다. 실행 순서는 실 상담 로그 기반 검증셋 구축이 먼저고, 그 다음이 파인튜닝입니다. 라이선스는 Apache 2.0이라 파인튜닝과 수정 배포 모두 허용됩니다.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권고 6개입니다. 1번부터 3번이 즉시 또는 단기 항목이고 4번부터 6번이 중기 이상입니다. 1번이 가장 중요합니다. 문서 3,000건 중 2,040건에 개인정보가 남으므로 이 모델을 단일 방어선으로 두면 안 됩니다. 이건 제 판단이 아니라 모델카드가 명시한 사항이기도 합니다. 2번과 3번은 제가 이번에 검토한 개선안이고, 6번이 오늘 주간회의에서 나온 자산화 건과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6가지입니다. 3번을 말씀드릴 때 과탐 표현에 주의합니다. 과탐이 줄어든 게 아니라 실질 동일 수준을 유지한 것입니다. 마지막으로 이 평가가 합성 데이터 기준이라는 한계를 스스로 밝히고, 실 데이터 검증을 후속 1순위로 제안하며 마칩니다.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1051560" y="1783080"/>
            <a:ext cx="9144000" cy="329184"/>
          </a:xfrm>
          <a:prstGeom prst="rect">
            <a:avLst/>
          </a:prstGeom>
          <a:noFill/>
          <a:ln/>
        </p:spPr>
        <p:txBody>
          <a:bodyPr wrap="square" lIns="0" tIns="0" rIns="0" bIns="0" rtlCol="0" anchor="ctr"/>
          <a:lstStyle/>
          <a:p>
            <a:pPr algn="l" indent="0" marL="0">
              <a:buNone/>
            </a:pPr>
            <a:r>
              <a:rPr lang="en-US" sz="1300" spc="200" kern="0" dirty="0">
                <a:solidFill>
                  <a:srgbClr val="7A88C9"/>
                </a:solidFill>
                <a:latin typeface="Malgun Gothic" pitchFamily="34" charset="0"/>
                <a:ea typeface="Malgun Gothic" pitchFamily="34" charset="-122"/>
                <a:cs typeface="Malgun Gothic" pitchFamily="34" charset="-120"/>
              </a:rPr>
              <a:t>AI솔루션팀 OJT · 2주차 보고</a:t>
            </a:r>
            <a:endParaRPr lang="en-US" sz="1300" dirty="0"/>
          </a:p>
        </p:txBody>
      </p:sp>
      <p:sp>
        <p:nvSpPr>
          <p:cNvPr id="4" name="Text 2"/>
          <p:cNvSpPr/>
          <p:nvPr/>
        </p:nvSpPr>
        <p:spPr>
          <a:xfrm>
            <a:off x="1051560" y="2212848"/>
            <a:ext cx="10058400" cy="841248"/>
          </a:xfrm>
          <a:prstGeom prst="rect">
            <a:avLst/>
          </a:prstGeom>
          <a:noFill/>
          <a:ln/>
        </p:spPr>
        <p:txBody>
          <a:bodyPr wrap="square" lIns="0" tIns="0" rIns="0" bIns="0" rtlCol="0" anchor="ctr"/>
          <a:lstStyle/>
          <a:p>
            <a:pPr algn="l" indent="0" marL="0">
              <a:buNone/>
            </a:pPr>
            <a:r>
              <a:rPr lang="en-US" sz="4000" b="1" dirty="0">
                <a:solidFill>
                  <a:srgbClr val="FFFFFF"/>
                </a:solidFill>
                <a:latin typeface="Malgun Gothic" pitchFamily="34" charset="0"/>
                <a:ea typeface="Malgun Gothic" pitchFamily="34" charset="-122"/>
                <a:cs typeface="Malgun Gothic" pitchFamily="34" charset="-120"/>
              </a:rPr>
              <a:t>OPF 한국어 PII 탐지 성능 평가</a:t>
            </a:r>
            <a:endParaRPr lang="en-US" sz="4000" dirty="0"/>
          </a:p>
        </p:txBody>
      </p:sp>
      <p:sp>
        <p:nvSpPr>
          <p:cNvPr id="5" name="Text 3"/>
          <p:cNvSpPr/>
          <p:nvPr/>
        </p:nvSpPr>
        <p:spPr>
          <a:xfrm>
            <a:off x="1051560" y="3127248"/>
            <a:ext cx="10058400" cy="402336"/>
          </a:xfrm>
          <a:prstGeom prst="rect">
            <a:avLst/>
          </a:prstGeom>
          <a:noFill/>
          <a:ln/>
        </p:spPr>
        <p:txBody>
          <a:bodyPr wrap="square" lIns="0" tIns="0" rIns="0" bIns="0" rtlCol="0" anchor="ctr"/>
          <a:lstStyle/>
          <a:p>
            <a:pPr algn="l" indent="0" marL="0">
              <a:buNone/>
            </a:pPr>
            <a:r>
              <a:rPr lang="en-US" sz="1500" dirty="0">
                <a:solidFill>
                  <a:srgbClr val="CADCFC"/>
                </a:solidFill>
                <a:latin typeface="Malgun Gothic" pitchFamily="34" charset="0"/>
                <a:ea typeface="Malgun Gothic" pitchFamily="34" charset="-122"/>
                <a:cs typeface="Malgun Gothic" pitchFamily="34" charset="-120"/>
              </a:rPr>
              <a:t>3,000문서 / 28,420스팬 실측 · 운영 기준선 및 개선 로드맵</a:t>
            </a:r>
            <a:endParaRPr lang="en-US" sz="1500" dirty="0"/>
          </a:p>
        </p:txBody>
      </p:sp>
      <p:sp>
        <p:nvSpPr>
          <p:cNvPr id="6" name="Shape 4"/>
          <p:cNvSpPr/>
          <p:nvPr/>
        </p:nvSpPr>
        <p:spPr>
          <a:xfrm>
            <a:off x="1051560" y="4160520"/>
            <a:ext cx="3840480" cy="841248"/>
          </a:xfrm>
          <a:prstGeom prst="roundRect">
            <a:avLst>
              <a:gd name="adj" fmla="val 6522"/>
            </a:avLst>
          </a:prstGeom>
          <a:solidFill>
            <a:srgbClr val="39479B"/>
          </a:solidFill>
          <a:ln w="9525">
            <a:solidFill>
              <a:srgbClr val="39479B"/>
            </a:solidFill>
            <a:prstDash val="solid"/>
          </a:ln>
        </p:spPr>
      </p:sp>
      <p:sp>
        <p:nvSpPr>
          <p:cNvPr id="7" name="Text 5"/>
          <p:cNvSpPr/>
          <p:nvPr/>
        </p:nvSpPr>
        <p:spPr>
          <a:xfrm>
            <a:off x="1207008" y="4160520"/>
            <a:ext cx="3566160" cy="841248"/>
          </a:xfrm>
          <a:prstGeom prst="rect">
            <a:avLst/>
          </a:prstGeom>
          <a:noFill/>
          <a:ln/>
        </p:spPr>
        <p:txBody>
          <a:bodyPr wrap="square" lIns="0" tIns="0" rIns="0" bIns="0" rtlCol="0" anchor="ctr"/>
          <a:lstStyle/>
          <a:p>
            <a:pPr algn="l" indent="0" marL="0">
              <a:lnSpc>
                <a:spcPct val="130000"/>
              </a:lnSpc>
              <a:buNone/>
            </a:pPr>
            <a:r>
              <a:rPr lang="en-US" sz="1050" dirty="0">
                <a:solidFill>
                  <a:srgbClr val="CADCFC"/>
                </a:solidFill>
                <a:latin typeface="Malgun Gothic" pitchFamily="34" charset="0"/>
                <a:ea typeface="Malgun Gothic" pitchFamily="34" charset="-122"/>
                <a:cs typeface="Malgun Gothic" pitchFamily="34" charset="-120"/>
              </a:rPr>
              <a:t>OpenAI Privacy Filter (Preview)</a:t>
            </a:r>
            <a:endParaRPr lang="en-US" sz="1050" dirty="0"/>
          </a:p>
          <a:p>
            <a:pPr algn="l" indent="0" marL="0">
              <a:lnSpc>
                <a:spcPct val="130000"/>
              </a:lnSpc>
              <a:buNone/>
            </a:pPr>
            <a:r>
              <a:rPr lang="en-US" sz="1050" dirty="0">
                <a:solidFill>
                  <a:srgbClr val="CADCFC"/>
                </a:solidFill>
                <a:latin typeface="Malgun Gothic" pitchFamily="34" charset="0"/>
                <a:ea typeface="Malgun Gothic" pitchFamily="34" charset="-122"/>
                <a:cs typeface="Malgun Gothic" pitchFamily="34" charset="-120"/>
              </a:rPr>
              <a:t>Apache 2.0 · 한국어 실측 평가</a:t>
            </a:r>
            <a:endParaRPr lang="en-US" sz="1050" dirty="0"/>
          </a:p>
        </p:txBody>
      </p:sp>
      <p:sp>
        <p:nvSpPr>
          <p:cNvPr id="8" name="Text 6"/>
          <p:cNvSpPr/>
          <p:nvPr/>
        </p:nvSpPr>
        <p:spPr>
          <a:xfrm>
            <a:off x="1051560" y="5532120"/>
            <a:ext cx="7315200" cy="310896"/>
          </a:xfrm>
          <a:prstGeom prst="rect">
            <a:avLst/>
          </a:prstGeom>
          <a:noFill/>
          <a:ln/>
        </p:spPr>
        <p:txBody>
          <a:bodyPr wrap="square" lIns="0" tIns="0" rIns="0" bIns="0" rtlCol="0" anchor="ctr"/>
          <a:lstStyle/>
          <a:p>
            <a:pPr algn="l" indent="0" marL="0">
              <a:buNone/>
            </a:pPr>
            <a:r>
              <a:rPr lang="en-US" sz="1200" dirty="0">
                <a:solidFill>
                  <a:srgbClr val="7A88C9"/>
                </a:solidFill>
                <a:latin typeface="Malgun Gothic" pitchFamily="34" charset="0"/>
                <a:ea typeface="Malgun Gothic" pitchFamily="34" charset="-122"/>
                <a:cs typeface="Malgun Gothic" pitchFamily="34" charset="-120"/>
              </a:rPr>
              <a:t>2026. 08. 21   |   최중현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02</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과제 정의</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02 / 16</a:t>
            </a:r>
            <a:endParaRPr lang="en-US" sz="1000" dirty="0"/>
          </a:p>
        </p:txBody>
      </p:sp>
      <p:sp>
        <p:nvSpPr>
          <p:cNvPr id="5" name="Shape 3"/>
          <p:cNvSpPr/>
          <p:nvPr/>
        </p:nvSpPr>
        <p:spPr>
          <a:xfrm>
            <a:off x="566928" y="932688"/>
            <a:ext cx="11057839" cy="512064"/>
          </a:xfrm>
          <a:prstGeom prst="roundRect">
            <a:avLst>
              <a:gd name="adj" fmla="val 10714"/>
            </a:avLst>
          </a:prstGeom>
          <a:solidFill>
            <a:srgbClr val="EDF3FD"/>
          </a:solidFill>
          <a:ln w="9525">
            <a:solidFill>
              <a:srgbClr val="EDF3FD"/>
            </a:solidFill>
            <a:prstDash val="solid"/>
          </a:ln>
        </p:spPr>
      </p:sp>
      <p:sp>
        <p:nvSpPr>
          <p:cNvPr id="6" name="Text 4"/>
          <p:cNvSpPr/>
          <p:nvPr/>
        </p:nvSpPr>
        <p:spPr>
          <a:xfrm>
            <a:off x="713232" y="969264"/>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본 보고는 도입 여부를 판단하기 위한 자료가 아닙니다. 도입이 확정된 모델에 대해 운영 기준선을 수립하고, 운영상 유의점과 개선 경로를 제시하는 것이 목적입니다.</a:t>
            </a:r>
            <a:endParaRPr lang="en-US" sz="950" dirty="0"/>
          </a:p>
        </p:txBody>
      </p:sp>
      <p:sp>
        <p:nvSpPr>
          <p:cNvPr id="7" name="Shape 5"/>
          <p:cNvSpPr/>
          <p:nvPr/>
        </p:nvSpPr>
        <p:spPr>
          <a:xfrm>
            <a:off x="566928" y="1627632"/>
            <a:ext cx="3533546" cy="2048256"/>
          </a:xfrm>
          <a:prstGeom prst="roundRect">
            <a:avLst>
              <a:gd name="adj" fmla="val 2679"/>
            </a:avLst>
          </a:prstGeom>
          <a:solidFill>
            <a:srgbClr val="F7F8FB"/>
          </a:solidFill>
          <a:ln w="9525">
            <a:solidFill>
              <a:srgbClr val="DFE3EC"/>
            </a:solidFill>
            <a:prstDash val="solid"/>
          </a:ln>
        </p:spPr>
      </p:sp>
      <p:sp>
        <p:nvSpPr>
          <p:cNvPr id="8" name="Shape 6"/>
          <p:cNvSpPr/>
          <p:nvPr/>
        </p:nvSpPr>
        <p:spPr>
          <a:xfrm>
            <a:off x="713232" y="1773936"/>
            <a:ext cx="1508760" cy="274320"/>
          </a:xfrm>
          <a:prstGeom prst="roundRect">
            <a:avLst>
              <a:gd name="adj" fmla="val 16667"/>
            </a:avLst>
          </a:prstGeom>
          <a:solidFill>
            <a:srgbClr val="1E2761"/>
          </a:solidFill>
          <a:ln w="6350">
            <a:solidFill>
              <a:srgbClr val="1E2761"/>
            </a:solidFill>
            <a:prstDash val="solid"/>
          </a:ln>
        </p:spPr>
      </p:sp>
      <p:sp>
        <p:nvSpPr>
          <p:cNvPr id="9" name="Text 7"/>
          <p:cNvSpPr/>
          <p:nvPr/>
        </p:nvSpPr>
        <p:spPr>
          <a:xfrm>
            <a:off x="713232" y="1773936"/>
            <a:ext cx="15087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1주차 · 완료</a:t>
            </a:r>
            <a:endParaRPr lang="en-US" sz="1050" dirty="0"/>
          </a:p>
        </p:txBody>
      </p:sp>
      <p:sp>
        <p:nvSpPr>
          <p:cNvPr id="10" name="Text 8"/>
          <p:cNvSpPr/>
          <p:nvPr/>
        </p:nvSpPr>
        <p:spPr>
          <a:xfrm>
            <a:off x="713232" y="2157984"/>
            <a:ext cx="3240938" cy="384048"/>
          </a:xfrm>
          <a:prstGeom prst="rect">
            <a:avLst/>
          </a:prstGeom>
          <a:noFill/>
          <a:ln/>
        </p:spPr>
        <p:txBody>
          <a:bodyPr wrap="square" lIns="0" tIns="0" rIns="0" bIns="0" rtlCol="0" anchor="ctr"/>
          <a:lstStyle/>
          <a:p>
            <a:pPr algn="l" indent="0" marL="0">
              <a:buNone/>
            </a:pPr>
            <a:r>
              <a:rPr lang="en-US" sz="1400" b="1" dirty="0">
                <a:solidFill>
                  <a:srgbClr val="1E2761"/>
                </a:solidFill>
                <a:latin typeface="Malgun Gothic" pitchFamily="34" charset="0"/>
                <a:ea typeface="Malgun Gothic" pitchFamily="34" charset="-122"/>
                <a:cs typeface="Malgun Gothic" pitchFamily="34" charset="-120"/>
              </a:rPr>
              <a:t>한국어 PII 테스트셋 구축</a:t>
            </a:r>
            <a:endParaRPr lang="en-US" sz="1400" dirty="0"/>
          </a:p>
        </p:txBody>
      </p:sp>
      <p:sp>
        <p:nvSpPr>
          <p:cNvPr id="11" name="Text 9"/>
          <p:cNvSpPr/>
          <p:nvPr/>
        </p:nvSpPr>
        <p:spPr>
          <a:xfrm>
            <a:off x="749808" y="2596896"/>
            <a:ext cx="3167786" cy="1188720"/>
          </a:xfrm>
          <a:prstGeom prst="rect">
            <a:avLst/>
          </a:prstGeom>
          <a:noFill/>
          <a:ln/>
        </p:spPr>
        <p:txBody>
          <a:bodyPr wrap="square" lIns="0" tIns="0" rIns="0" bIns="0" rtlCol="0" anchor="t"/>
          <a:lstStyle/>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3,000문서 / 28,420스팬</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11개 항목 → OPF 8라벨 매핑</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오프셋 정합 28,420 / 28,420 (100.00%)</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검증번호 전량 무효화 처리</a:t>
            </a:r>
            <a:endParaRPr lang="en-US" sz="1000" dirty="0"/>
          </a:p>
        </p:txBody>
      </p:sp>
      <p:sp>
        <p:nvSpPr>
          <p:cNvPr id="12" name="Shape 10"/>
          <p:cNvSpPr/>
          <p:nvPr/>
        </p:nvSpPr>
        <p:spPr>
          <a:xfrm>
            <a:off x="4329074" y="1627632"/>
            <a:ext cx="3533546" cy="2048256"/>
          </a:xfrm>
          <a:prstGeom prst="roundRect">
            <a:avLst>
              <a:gd name="adj" fmla="val 2679"/>
            </a:avLst>
          </a:prstGeom>
          <a:solidFill>
            <a:srgbClr val="F7F8FB"/>
          </a:solidFill>
          <a:ln w="9525">
            <a:solidFill>
              <a:srgbClr val="DFE3EC"/>
            </a:solidFill>
            <a:prstDash val="solid"/>
          </a:ln>
        </p:spPr>
      </p:sp>
      <p:sp>
        <p:nvSpPr>
          <p:cNvPr id="13" name="Shape 11"/>
          <p:cNvSpPr/>
          <p:nvPr/>
        </p:nvSpPr>
        <p:spPr>
          <a:xfrm>
            <a:off x="4475378" y="1773936"/>
            <a:ext cx="1508760" cy="274320"/>
          </a:xfrm>
          <a:prstGeom prst="roundRect">
            <a:avLst>
              <a:gd name="adj" fmla="val 16667"/>
            </a:avLst>
          </a:prstGeom>
          <a:solidFill>
            <a:srgbClr val="1E2761"/>
          </a:solidFill>
          <a:ln w="6350">
            <a:solidFill>
              <a:srgbClr val="1E2761"/>
            </a:solidFill>
            <a:prstDash val="solid"/>
          </a:ln>
        </p:spPr>
      </p:sp>
      <p:sp>
        <p:nvSpPr>
          <p:cNvPr id="14" name="Text 12"/>
          <p:cNvSpPr/>
          <p:nvPr/>
        </p:nvSpPr>
        <p:spPr>
          <a:xfrm>
            <a:off x="4475378" y="1773936"/>
            <a:ext cx="15087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2주차 · 본 보고</a:t>
            </a:r>
            <a:endParaRPr lang="en-US" sz="1050" dirty="0"/>
          </a:p>
        </p:txBody>
      </p:sp>
      <p:sp>
        <p:nvSpPr>
          <p:cNvPr id="15" name="Text 13"/>
          <p:cNvSpPr/>
          <p:nvPr/>
        </p:nvSpPr>
        <p:spPr>
          <a:xfrm>
            <a:off x="4475378" y="2157984"/>
            <a:ext cx="3240938" cy="384048"/>
          </a:xfrm>
          <a:prstGeom prst="rect">
            <a:avLst/>
          </a:prstGeom>
          <a:noFill/>
          <a:ln/>
        </p:spPr>
        <p:txBody>
          <a:bodyPr wrap="square" lIns="0" tIns="0" rIns="0" bIns="0" rtlCol="0" anchor="ctr"/>
          <a:lstStyle/>
          <a:p>
            <a:pPr algn="l" indent="0" marL="0">
              <a:buNone/>
            </a:pPr>
            <a:r>
              <a:rPr lang="en-US" sz="1400" b="1" dirty="0">
                <a:solidFill>
                  <a:srgbClr val="1E2761"/>
                </a:solidFill>
                <a:latin typeface="Malgun Gothic" pitchFamily="34" charset="0"/>
                <a:ea typeface="Malgun Gothic" pitchFamily="34" charset="-122"/>
                <a:cs typeface="Malgun Gothic" pitchFamily="34" charset="-120"/>
              </a:rPr>
              <a:t>OPF 실측 및 분석</a:t>
            </a:r>
            <a:endParaRPr lang="en-US" sz="1400" dirty="0"/>
          </a:p>
        </p:txBody>
      </p:sp>
      <p:sp>
        <p:nvSpPr>
          <p:cNvPr id="16" name="Text 14"/>
          <p:cNvSpPr/>
          <p:nvPr/>
        </p:nvSpPr>
        <p:spPr>
          <a:xfrm>
            <a:off x="4511954" y="2596896"/>
            <a:ext cx="3167786" cy="1188720"/>
          </a:xfrm>
          <a:prstGeom prst="rect">
            <a:avLst/>
          </a:prstGeom>
          <a:noFill/>
          <a:ln/>
        </p:spPr>
        <p:txBody>
          <a:bodyPr wrap="square" lIns="0" tIns="0" rIns="0" bIns="0" rtlCol="0" anchor="t"/>
          <a:lstStyle/>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전량 실측 (bias 0 기준선)</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운영점 조정 실험 (bias 1/2/4)</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부분 발화 프로브셋 300건</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개선안 3종 검토</a:t>
            </a:r>
            <a:endParaRPr lang="en-US" sz="1000" dirty="0"/>
          </a:p>
        </p:txBody>
      </p:sp>
      <p:sp>
        <p:nvSpPr>
          <p:cNvPr id="17" name="Shape 15"/>
          <p:cNvSpPr/>
          <p:nvPr/>
        </p:nvSpPr>
        <p:spPr>
          <a:xfrm>
            <a:off x="8091221" y="1627632"/>
            <a:ext cx="3533546" cy="2048256"/>
          </a:xfrm>
          <a:prstGeom prst="roundRect">
            <a:avLst>
              <a:gd name="adj" fmla="val 2679"/>
            </a:avLst>
          </a:prstGeom>
          <a:solidFill>
            <a:srgbClr val="F7F8FB"/>
          </a:solidFill>
          <a:ln w="9525">
            <a:solidFill>
              <a:srgbClr val="DFE3EC"/>
            </a:solidFill>
            <a:prstDash val="solid"/>
          </a:ln>
        </p:spPr>
      </p:sp>
      <p:sp>
        <p:nvSpPr>
          <p:cNvPr id="18" name="Shape 16"/>
          <p:cNvSpPr/>
          <p:nvPr/>
        </p:nvSpPr>
        <p:spPr>
          <a:xfrm>
            <a:off x="8237525" y="1773936"/>
            <a:ext cx="1508760" cy="274320"/>
          </a:xfrm>
          <a:prstGeom prst="roundRect">
            <a:avLst>
              <a:gd name="adj" fmla="val 16667"/>
            </a:avLst>
          </a:prstGeom>
          <a:solidFill>
            <a:srgbClr val="1E2761"/>
          </a:solidFill>
          <a:ln w="6350">
            <a:solidFill>
              <a:srgbClr val="1E2761"/>
            </a:solidFill>
            <a:prstDash val="solid"/>
          </a:ln>
        </p:spPr>
      </p:sp>
      <p:sp>
        <p:nvSpPr>
          <p:cNvPr id="19" name="Text 17"/>
          <p:cNvSpPr/>
          <p:nvPr/>
        </p:nvSpPr>
        <p:spPr>
          <a:xfrm>
            <a:off x="8237525" y="1773936"/>
            <a:ext cx="15087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산출</a:t>
            </a:r>
            <a:endParaRPr lang="en-US" sz="1050" dirty="0"/>
          </a:p>
        </p:txBody>
      </p:sp>
      <p:sp>
        <p:nvSpPr>
          <p:cNvPr id="20" name="Text 18"/>
          <p:cNvSpPr/>
          <p:nvPr/>
        </p:nvSpPr>
        <p:spPr>
          <a:xfrm>
            <a:off x="8237525" y="2157984"/>
            <a:ext cx="3240938" cy="384048"/>
          </a:xfrm>
          <a:prstGeom prst="rect">
            <a:avLst/>
          </a:prstGeom>
          <a:noFill/>
          <a:ln/>
        </p:spPr>
        <p:txBody>
          <a:bodyPr wrap="square" lIns="0" tIns="0" rIns="0" bIns="0" rtlCol="0" anchor="ctr"/>
          <a:lstStyle/>
          <a:p>
            <a:pPr algn="l" indent="0" marL="0">
              <a:buNone/>
            </a:pPr>
            <a:r>
              <a:rPr lang="en-US" sz="1400" b="1" dirty="0">
                <a:solidFill>
                  <a:srgbClr val="1E2761"/>
                </a:solidFill>
                <a:latin typeface="Malgun Gothic" pitchFamily="34" charset="0"/>
                <a:ea typeface="Malgun Gothic" pitchFamily="34" charset="-122"/>
                <a:cs typeface="Malgun Gothic" pitchFamily="34" charset="-120"/>
              </a:rPr>
              <a:t>운영 판단 근거</a:t>
            </a:r>
            <a:endParaRPr lang="en-US" sz="1400" dirty="0"/>
          </a:p>
        </p:txBody>
      </p:sp>
      <p:sp>
        <p:nvSpPr>
          <p:cNvPr id="21" name="Text 19"/>
          <p:cNvSpPr/>
          <p:nvPr/>
        </p:nvSpPr>
        <p:spPr>
          <a:xfrm>
            <a:off x="8274101" y="2596896"/>
            <a:ext cx="3167786" cy="1188720"/>
          </a:xfrm>
          <a:prstGeom prst="rect">
            <a:avLst/>
          </a:prstGeom>
          <a:noFill/>
          <a:ln/>
        </p:spPr>
        <p:txBody>
          <a:bodyPr wrap="square" lIns="0" tIns="0" rIns="0" bIns="0" rtlCol="0" anchor="t"/>
          <a:lstStyle/>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모델카드 기반 자산 등재 서식</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항목별·문서 단위 미탐 기준선</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운영 권고 6개 항목</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후속 과제 정의</a:t>
            </a:r>
            <a:endParaRPr lang="en-US" sz="1000" dirty="0"/>
          </a:p>
        </p:txBody>
      </p:sp>
      <p:sp>
        <p:nvSpPr>
          <p:cNvPr id="22" name="Shape 20"/>
          <p:cNvSpPr/>
          <p:nvPr/>
        </p:nvSpPr>
        <p:spPr>
          <a:xfrm>
            <a:off x="566928" y="3931920"/>
            <a:ext cx="11057839" cy="2084832"/>
          </a:xfrm>
          <a:prstGeom prst="roundRect">
            <a:avLst>
              <a:gd name="adj" fmla="val 2632"/>
            </a:avLst>
          </a:prstGeom>
          <a:solidFill>
            <a:srgbClr val="1E2761"/>
          </a:solidFill>
          <a:ln w="9525">
            <a:solidFill>
              <a:srgbClr val="1E2761"/>
            </a:solidFill>
            <a:prstDash val="solid"/>
          </a:ln>
        </p:spPr>
      </p:sp>
      <p:sp>
        <p:nvSpPr>
          <p:cNvPr id="23" name="Text 21"/>
          <p:cNvSpPr/>
          <p:nvPr/>
        </p:nvSpPr>
        <p:spPr>
          <a:xfrm>
            <a:off x="822960" y="4114800"/>
            <a:ext cx="3657600" cy="292608"/>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평가 대상</a:t>
            </a:r>
            <a:endParaRPr lang="en-US" sz="1000" dirty="0"/>
          </a:p>
        </p:txBody>
      </p:sp>
      <p:sp>
        <p:nvSpPr>
          <p:cNvPr id="24" name="Text 22"/>
          <p:cNvSpPr/>
          <p:nvPr/>
        </p:nvSpPr>
        <p:spPr>
          <a:xfrm>
            <a:off x="822960" y="4407408"/>
            <a:ext cx="4754880" cy="45720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OpenAI Privacy Filter</a:t>
            </a:r>
            <a:endParaRPr lang="en-US" sz="2600" dirty="0"/>
          </a:p>
        </p:txBody>
      </p:sp>
      <p:sp>
        <p:nvSpPr>
          <p:cNvPr id="25" name="Text 23"/>
          <p:cNvSpPr/>
          <p:nvPr/>
        </p:nvSpPr>
        <p:spPr>
          <a:xfrm>
            <a:off x="822960" y="4864608"/>
            <a:ext cx="5120640" cy="310896"/>
          </a:xfrm>
          <a:prstGeom prst="rect">
            <a:avLst/>
          </a:prstGeom>
          <a:noFill/>
          <a:ln/>
        </p:spPr>
        <p:txBody>
          <a:bodyPr wrap="square" lIns="0" tIns="0" rIns="0" bIns="0" rtlCol="0" anchor="ctr"/>
          <a:lstStyle/>
          <a:p>
            <a:pPr algn="l" indent="0" marL="0">
              <a:buNone/>
            </a:pPr>
            <a:r>
              <a:rPr lang="en-US" sz="1050" dirty="0">
                <a:solidFill>
                  <a:srgbClr val="CADCFC"/>
                </a:solidFill>
                <a:latin typeface="Malgun Gothic" pitchFamily="34" charset="0"/>
                <a:ea typeface="Malgun Gothic" pitchFamily="34" charset="-122"/>
                <a:cs typeface="Malgun Gothic" pitchFamily="34" charset="-120"/>
              </a:rPr>
              <a:t>양방향 토큰 분류 모델 · 8개 PII 카테고리 · 33 출력 클래스</a:t>
            </a:r>
            <a:endParaRPr lang="en-US" sz="1050" dirty="0"/>
          </a:p>
        </p:txBody>
      </p:sp>
      <p:sp>
        <p:nvSpPr>
          <p:cNvPr id="26" name="Text 24"/>
          <p:cNvSpPr/>
          <p:nvPr/>
        </p:nvSpPr>
        <p:spPr>
          <a:xfrm>
            <a:off x="6327648" y="4224528"/>
            <a:ext cx="5022799" cy="1700784"/>
          </a:xfrm>
          <a:prstGeom prst="rect">
            <a:avLst/>
          </a:prstGeom>
          <a:noFill/>
          <a:ln/>
        </p:spPr>
        <p:txBody>
          <a:bodyPr wrap="square" lIns="0" tIns="0" rIns="0" bIns="0" rtlCol="0" anchor="t"/>
          <a:lstStyle/>
          <a:p>
            <a:pPr algn="l" indent="0" marL="0">
              <a:spcAft>
                <a:spcPts val="600"/>
              </a:spcAft>
              <a:buNone/>
            </a:pPr>
            <a:r>
              <a:rPr lang="en-US" sz="1050" b="1" dirty="0">
                <a:solidFill>
                  <a:srgbClr val="CADCFC"/>
                </a:solidFill>
                <a:latin typeface="Malgun Gothic" pitchFamily="34" charset="0"/>
                <a:ea typeface="Malgun Gothic" pitchFamily="34" charset="-122"/>
                <a:cs typeface="Malgun Gothic" pitchFamily="34" charset="-120"/>
              </a:rPr>
              <a:t>모델카드가 명시한 전제</a:t>
            </a:r>
            <a:endParaRPr lang="en-US" sz="1050" dirty="0"/>
          </a:p>
          <a:p>
            <a:pPr algn="l" marL="342900" indent="-342900">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익명화·컴플라이언스 보증이 아니며 단일 방어선으로 쓰지 말 것 (§3.2, §4.1)</a:t>
            </a:r>
            <a:endParaRPr lang="en-US" sz="1050" dirty="0"/>
          </a:p>
          <a:p>
            <a:pPr algn="l" marL="342900" indent="-342900">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금융은 고위험 배포 영역. FN·FP 양쪽 모두 비용 발생 (§4.4)</a:t>
            </a:r>
            <a:endParaRPr lang="en-US" sz="1050" dirty="0"/>
          </a:p>
          <a:p>
            <a:pPr algn="l" marL="342900" indent="-342900">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도입 전 자체 도메인 평가 필수, 고민감 워크플로우는 인간 검토 경로 유지 (§4.5)</a:t>
            </a:r>
            <a:endParaRPr lang="en-US" sz="1050" dirty="0"/>
          </a:p>
        </p:txBody>
      </p:sp>
      <p:sp>
        <p:nvSpPr>
          <p:cNvPr id="27" name="Text 25"/>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출처 : Model Card for OpenAI Privacy Filter, OpenAI, 2026-04-22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03</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대상 모델 개요 — 모델카드</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03 / 16</a:t>
            </a:r>
            <a:endParaRPr lang="en-US" sz="1000" dirty="0"/>
          </a:p>
        </p:txBody>
      </p:sp>
      <p:sp>
        <p:nvSpPr>
          <p:cNvPr id="5" name="Text 3"/>
          <p:cNvSpPr/>
          <p:nvPr/>
        </p:nvSpPr>
        <p:spPr>
          <a:xfrm>
            <a:off x="1170432" y="676656"/>
            <a:ext cx="7315200" cy="256032"/>
          </a:xfrm>
          <a:prstGeom prst="rect">
            <a:avLst/>
          </a:prstGeom>
          <a:noFill/>
          <a:ln/>
        </p:spPr>
        <p:txBody>
          <a:bodyPr wrap="square" lIns="0" tIns="0" rIns="0" bIns="0" rtlCol="0" anchor="ctr"/>
          <a:lstStyle/>
          <a:p>
            <a:pPr algn="l" indent="0" marL="0">
              <a:buNone/>
            </a:pPr>
            <a:r>
              <a:rPr lang="en-US" sz="1050" dirty="0">
                <a:solidFill>
                  <a:srgbClr val="5C6273"/>
                </a:solidFill>
                <a:latin typeface="Malgun Gothic" pitchFamily="34" charset="0"/>
                <a:ea typeface="Malgun Gothic" pitchFamily="34" charset="-122"/>
                <a:cs typeface="Malgun Gothic" pitchFamily="34" charset="-120"/>
              </a:rPr>
              <a:t>AI 모델 자산 관리 표준 서식 (초안) · 6개 필드</a:t>
            </a:r>
            <a:endParaRPr lang="en-US" sz="1050" dirty="0"/>
          </a:p>
        </p:txBody>
      </p:sp>
      <p:sp>
        <p:nvSpPr>
          <p:cNvPr id="6" name="Shape 4"/>
          <p:cNvSpPr/>
          <p:nvPr/>
        </p:nvSpPr>
        <p:spPr>
          <a:xfrm>
            <a:off x="566928" y="1024128"/>
            <a:ext cx="5400904" cy="1664208"/>
          </a:xfrm>
          <a:prstGeom prst="roundRect">
            <a:avLst>
              <a:gd name="adj" fmla="val 3297"/>
            </a:avLst>
          </a:prstGeom>
          <a:solidFill>
            <a:srgbClr val="F7F8FB"/>
          </a:solidFill>
          <a:ln w="9525">
            <a:solidFill>
              <a:srgbClr val="DFE3EC"/>
            </a:solidFill>
            <a:prstDash val="solid"/>
          </a:ln>
        </p:spPr>
      </p:sp>
      <p:sp>
        <p:nvSpPr>
          <p:cNvPr id="7" name="Shape 5"/>
          <p:cNvSpPr/>
          <p:nvPr/>
        </p:nvSpPr>
        <p:spPr>
          <a:xfrm>
            <a:off x="713232" y="1152144"/>
            <a:ext cx="1691640" cy="274320"/>
          </a:xfrm>
          <a:prstGeom prst="roundRect">
            <a:avLst>
              <a:gd name="adj" fmla="val 16667"/>
            </a:avLst>
          </a:prstGeom>
          <a:solidFill>
            <a:srgbClr val="1E2761"/>
          </a:solidFill>
          <a:ln w="6350">
            <a:solidFill>
              <a:srgbClr val="1E2761"/>
            </a:solidFill>
            <a:prstDash val="solid"/>
          </a:ln>
        </p:spPr>
      </p:sp>
      <p:sp>
        <p:nvSpPr>
          <p:cNvPr id="8" name="Text 6"/>
          <p:cNvSpPr/>
          <p:nvPr/>
        </p:nvSpPr>
        <p:spPr>
          <a:xfrm>
            <a:off x="713232" y="1152144"/>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① 출처</a:t>
            </a:r>
            <a:endParaRPr lang="en-US" sz="1050" dirty="0"/>
          </a:p>
        </p:txBody>
      </p:sp>
      <p:sp>
        <p:nvSpPr>
          <p:cNvPr id="9" name="Text 7"/>
          <p:cNvSpPr/>
          <p:nvPr/>
        </p:nvSpPr>
        <p:spPr>
          <a:xfrm>
            <a:off x="731520" y="153619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모델명</a:t>
            </a:r>
            <a:endParaRPr lang="en-US" sz="900" dirty="0"/>
          </a:p>
        </p:txBody>
      </p:sp>
      <p:sp>
        <p:nvSpPr>
          <p:cNvPr id="10" name="Text 8"/>
          <p:cNvSpPr/>
          <p:nvPr/>
        </p:nvSpPr>
        <p:spPr>
          <a:xfrm>
            <a:off x="2304288" y="153619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OpenAI Privacy Filter (OPF)</a:t>
            </a:r>
            <a:endParaRPr lang="en-US" sz="900" dirty="0"/>
          </a:p>
        </p:txBody>
      </p:sp>
      <p:sp>
        <p:nvSpPr>
          <p:cNvPr id="11" name="Text 9"/>
          <p:cNvSpPr/>
          <p:nvPr/>
        </p:nvSpPr>
        <p:spPr>
          <a:xfrm>
            <a:off x="731520" y="175107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제작기관</a:t>
            </a:r>
            <a:endParaRPr lang="en-US" sz="900" dirty="0"/>
          </a:p>
        </p:txBody>
      </p:sp>
      <p:sp>
        <p:nvSpPr>
          <p:cNvPr id="12" name="Text 10"/>
          <p:cNvSpPr/>
          <p:nvPr/>
        </p:nvSpPr>
        <p:spPr>
          <a:xfrm>
            <a:off x="2304288" y="175107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OpenAI</a:t>
            </a:r>
            <a:endParaRPr lang="en-US" sz="900" dirty="0"/>
          </a:p>
        </p:txBody>
      </p:sp>
      <p:sp>
        <p:nvSpPr>
          <p:cNvPr id="13" name="Text 11"/>
          <p:cNvSpPr/>
          <p:nvPr/>
        </p:nvSpPr>
        <p:spPr>
          <a:xfrm>
            <a:off x="731520" y="196596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근거 문서</a:t>
            </a:r>
            <a:endParaRPr lang="en-US" sz="900" dirty="0"/>
          </a:p>
        </p:txBody>
      </p:sp>
      <p:sp>
        <p:nvSpPr>
          <p:cNvPr id="14" name="Text 12"/>
          <p:cNvSpPr/>
          <p:nvPr/>
        </p:nvSpPr>
        <p:spPr>
          <a:xfrm>
            <a:off x="2304288" y="196596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Model Card, 2026-04-22</a:t>
            </a:r>
            <a:endParaRPr lang="en-US" sz="900" dirty="0"/>
          </a:p>
        </p:txBody>
      </p:sp>
      <p:sp>
        <p:nvSpPr>
          <p:cNvPr id="15" name="Text 13"/>
          <p:cNvSpPr/>
          <p:nvPr/>
        </p:nvSpPr>
        <p:spPr>
          <a:xfrm>
            <a:off x="731520" y="218084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릴리스 성격</a:t>
            </a:r>
            <a:endParaRPr lang="en-US" sz="900" dirty="0"/>
          </a:p>
        </p:txBody>
      </p:sp>
      <p:sp>
        <p:nvSpPr>
          <p:cNvPr id="16" name="Text 14"/>
          <p:cNvSpPr/>
          <p:nvPr/>
        </p:nvSpPr>
        <p:spPr>
          <a:xfrm>
            <a:off x="2304288" y="218084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Preview (정식 GA 아님)</a:t>
            </a:r>
            <a:endParaRPr lang="en-US" sz="900" dirty="0"/>
          </a:p>
        </p:txBody>
      </p:sp>
      <p:sp>
        <p:nvSpPr>
          <p:cNvPr id="17" name="Text 15"/>
          <p:cNvSpPr/>
          <p:nvPr/>
        </p:nvSpPr>
        <p:spPr>
          <a:xfrm>
            <a:off x="731520" y="23957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공개 형태</a:t>
            </a:r>
            <a:endParaRPr lang="en-US" sz="900" dirty="0"/>
          </a:p>
        </p:txBody>
      </p:sp>
      <p:sp>
        <p:nvSpPr>
          <p:cNvPr id="18" name="Text 16"/>
          <p:cNvSpPr/>
          <p:nvPr/>
        </p:nvSpPr>
        <p:spPr>
          <a:xfrm>
            <a:off x="2304288" y="23957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가중치·CLI 공개, 자체 서빙 가능</a:t>
            </a:r>
            <a:endParaRPr lang="en-US" sz="900" dirty="0"/>
          </a:p>
        </p:txBody>
      </p:sp>
      <p:sp>
        <p:nvSpPr>
          <p:cNvPr id="19" name="Shape 17"/>
          <p:cNvSpPr/>
          <p:nvPr/>
        </p:nvSpPr>
        <p:spPr>
          <a:xfrm>
            <a:off x="6223864" y="1024128"/>
            <a:ext cx="5400904" cy="1664208"/>
          </a:xfrm>
          <a:prstGeom prst="roundRect">
            <a:avLst>
              <a:gd name="adj" fmla="val 3297"/>
            </a:avLst>
          </a:prstGeom>
          <a:solidFill>
            <a:srgbClr val="F7F8FB"/>
          </a:solidFill>
          <a:ln w="9525">
            <a:solidFill>
              <a:srgbClr val="DFE3EC"/>
            </a:solidFill>
            <a:prstDash val="solid"/>
          </a:ln>
        </p:spPr>
      </p:sp>
      <p:sp>
        <p:nvSpPr>
          <p:cNvPr id="20" name="Shape 18"/>
          <p:cNvSpPr/>
          <p:nvPr/>
        </p:nvSpPr>
        <p:spPr>
          <a:xfrm>
            <a:off x="6370168" y="1152144"/>
            <a:ext cx="1691640" cy="274320"/>
          </a:xfrm>
          <a:prstGeom prst="roundRect">
            <a:avLst>
              <a:gd name="adj" fmla="val 16667"/>
            </a:avLst>
          </a:prstGeom>
          <a:solidFill>
            <a:srgbClr val="1E2761"/>
          </a:solidFill>
          <a:ln w="6350">
            <a:solidFill>
              <a:srgbClr val="1E2761"/>
            </a:solidFill>
            <a:prstDash val="solid"/>
          </a:ln>
        </p:spPr>
      </p:sp>
      <p:sp>
        <p:nvSpPr>
          <p:cNvPr id="21" name="Text 19"/>
          <p:cNvSpPr/>
          <p:nvPr/>
        </p:nvSpPr>
        <p:spPr>
          <a:xfrm>
            <a:off x="6370168" y="1152144"/>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④ 평가 조건</a:t>
            </a:r>
            <a:endParaRPr lang="en-US" sz="1050" dirty="0"/>
          </a:p>
        </p:txBody>
      </p:sp>
      <p:sp>
        <p:nvSpPr>
          <p:cNvPr id="22" name="Text 20"/>
          <p:cNvSpPr/>
          <p:nvPr/>
        </p:nvSpPr>
        <p:spPr>
          <a:xfrm>
            <a:off x="6388456" y="153619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데이터셋</a:t>
            </a:r>
            <a:endParaRPr lang="en-US" sz="900" dirty="0"/>
          </a:p>
        </p:txBody>
      </p:sp>
      <p:sp>
        <p:nvSpPr>
          <p:cNvPr id="23" name="Text 21"/>
          <p:cNvSpPr/>
          <p:nvPr/>
        </p:nvSpPr>
        <p:spPr>
          <a:xfrm>
            <a:off x="7961224" y="153619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한국어 합성 PII 3,000문서 / 28,420스팬</a:t>
            </a:r>
            <a:endParaRPr lang="en-US" sz="900" dirty="0"/>
          </a:p>
        </p:txBody>
      </p:sp>
      <p:sp>
        <p:nvSpPr>
          <p:cNvPr id="24" name="Text 22"/>
          <p:cNvSpPr/>
          <p:nvPr/>
        </p:nvSpPr>
        <p:spPr>
          <a:xfrm>
            <a:off x="6388456" y="175107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원본</a:t>
            </a:r>
            <a:endParaRPr lang="en-US" sz="900" dirty="0"/>
          </a:p>
        </p:txBody>
      </p:sp>
      <p:sp>
        <p:nvSpPr>
          <p:cNvPr id="25" name="Text 23"/>
          <p:cNvSpPr/>
          <p:nvPr/>
        </p:nvSpPr>
        <p:spPr>
          <a:xfrm>
            <a:off x="7961224" y="175107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ai4privacy openpii-1.5m 한국어 (CC BY 4.0)</a:t>
            </a:r>
            <a:endParaRPr lang="en-US" sz="900" dirty="0"/>
          </a:p>
        </p:txBody>
      </p:sp>
      <p:sp>
        <p:nvSpPr>
          <p:cNvPr id="26" name="Text 24"/>
          <p:cNvSpPr/>
          <p:nvPr/>
        </p:nvSpPr>
        <p:spPr>
          <a:xfrm>
            <a:off x="6388456" y="196596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서빙 · 디코딩</a:t>
            </a:r>
            <a:endParaRPr lang="en-US" sz="900" dirty="0"/>
          </a:p>
        </p:txBody>
      </p:sp>
      <p:sp>
        <p:nvSpPr>
          <p:cNvPr id="27" name="Text 25"/>
          <p:cNvSpPr/>
          <p:nvPr/>
        </p:nvSpPr>
        <p:spPr>
          <a:xfrm>
            <a:off x="7961224" y="196596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vLLM /pooling · argmax</a:t>
            </a:r>
            <a:endParaRPr lang="en-US" sz="900" dirty="0"/>
          </a:p>
        </p:txBody>
      </p:sp>
      <p:sp>
        <p:nvSpPr>
          <p:cNvPr id="28" name="Text 26"/>
          <p:cNvSpPr/>
          <p:nvPr/>
        </p:nvSpPr>
        <p:spPr>
          <a:xfrm>
            <a:off x="6388456" y="218084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운영점 · 입력</a:t>
            </a:r>
            <a:endParaRPr lang="en-US" sz="900" dirty="0"/>
          </a:p>
        </p:txBody>
      </p:sp>
      <p:sp>
        <p:nvSpPr>
          <p:cNvPr id="29" name="Text 27"/>
          <p:cNvSpPr/>
          <p:nvPr/>
        </p:nvSpPr>
        <p:spPr>
          <a:xfrm>
            <a:off x="7961224" y="218084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bias 0 · 문서 통짜 (최대 736토큰)</a:t>
            </a:r>
            <a:endParaRPr lang="en-US" sz="900" dirty="0"/>
          </a:p>
        </p:txBody>
      </p:sp>
      <p:sp>
        <p:nvSpPr>
          <p:cNvPr id="30" name="Text 28"/>
          <p:cNvSpPr/>
          <p:nvPr/>
        </p:nvSpPr>
        <p:spPr>
          <a:xfrm>
            <a:off x="6388456" y="23957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처리 · 재현성</a:t>
            </a:r>
            <a:endParaRPr lang="en-US" sz="900" dirty="0"/>
          </a:p>
        </p:txBody>
      </p:sp>
      <p:sp>
        <p:nvSpPr>
          <p:cNvPr id="31" name="Text 29"/>
          <p:cNvSpPr/>
          <p:nvPr/>
        </p:nvSpPr>
        <p:spPr>
          <a:xfrm>
            <a:off x="7961224" y="23957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67건/초 · 200건 재실행 전건 일치</a:t>
            </a:r>
            <a:endParaRPr lang="en-US" sz="900" dirty="0"/>
          </a:p>
        </p:txBody>
      </p:sp>
      <p:sp>
        <p:nvSpPr>
          <p:cNvPr id="32" name="Shape 30"/>
          <p:cNvSpPr/>
          <p:nvPr/>
        </p:nvSpPr>
        <p:spPr>
          <a:xfrm>
            <a:off x="566928" y="2798064"/>
            <a:ext cx="5400904" cy="1664208"/>
          </a:xfrm>
          <a:prstGeom prst="roundRect">
            <a:avLst>
              <a:gd name="adj" fmla="val 3297"/>
            </a:avLst>
          </a:prstGeom>
          <a:solidFill>
            <a:srgbClr val="F7F8FB"/>
          </a:solidFill>
          <a:ln w="9525">
            <a:solidFill>
              <a:srgbClr val="DFE3EC"/>
            </a:solidFill>
            <a:prstDash val="solid"/>
          </a:ln>
        </p:spPr>
      </p:sp>
      <p:sp>
        <p:nvSpPr>
          <p:cNvPr id="33" name="Shape 31"/>
          <p:cNvSpPr/>
          <p:nvPr/>
        </p:nvSpPr>
        <p:spPr>
          <a:xfrm>
            <a:off x="713232" y="2926080"/>
            <a:ext cx="1691640" cy="274320"/>
          </a:xfrm>
          <a:prstGeom prst="roundRect">
            <a:avLst>
              <a:gd name="adj" fmla="val 16667"/>
            </a:avLst>
          </a:prstGeom>
          <a:solidFill>
            <a:srgbClr val="1E2761"/>
          </a:solidFill>
          <a:ln w="6350">
            <a:solidFill>
              <a:srgbClr val="1E2761"/>
            </a:solidFill>
            <a:prstDash val="solid"/>
          </a:ln>
        </p:spPr>
      </p:sp>
      <p:sp>
        <p:nvSpPr>
          <p:cNvPr id="34" name="Text 32"/>
          <p:cNvSpPr/>
          <p:nvPr/>
        </p:nvSpPr>
        <p:spPr>
          <a:xfrm>
            <a:off x="713232" y="2926080"/>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② 라이선스</a:t>
            </a:r>
            <a:endParaRPr lang="en-US" sz="1050" dirty="0"/>
          </a:p>
        </p:txBody>
      </p:sp>
      <p:sp>
        <p:nvSpPr>
          <p:cNvPr id="35" name="Text 33"/>
          <p:cNvSpPr/>
          <p:nvPr/>
        </p:nvSpPr>
        <p:spPr>
          <a:xfrm>
            <a:off x="731520" y="33101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라이선스</a:t>
            </a:r>
            <a:endParaRPr lang="en-US" sz="900" dirty="0"/>
          </a:p>
        </p:txBody>
      </p:sp>
      <p:sp>
        <p:nvSpPr>
          <p:cNvPr id="36" name="Text 34"/>
          <p:cNvSpPr/>
          <p:nvPr/>
        </p:nvSpPr>
        <p:spPr>
          <a:xfrm>
            <a:off x="2304288" y="33101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Apache 2.0</a:t>
            </a:r>
            <a:endParaRPr lang="en-US" sz="900" dirty="0"/>
          </a:p>
        </p:txBody>
      </p:sp>
      <p:sp>
        <p:nvSpPr>
          <p:cNvPr id="37" name="Text 35"/>
          <p:cNvSpPr/>
          <p:nvPr/>
        </p:nvSpPr>
        <p:spPr>
          <a:xfrm>
            <a:off x="731520" y="352501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상업 이용</a:t>
            </a:r>
            <a:endParaRPr lang="en-US" sz="900" dirty="0"/>
          </a:p>
        </p:txBody>
      </p:sp>
      <p:sp>
        <p:nvSpPr>
          <p:cNvPr id="38" name="Text 36"/>
          <p:cNvSpPr/>
          <p:nvPr/>
        </p:nvSpPr>
        <p:spPr>
          <a:xfrm>
            <a:off x="2304288" y="352501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허용</a:t>
            </a:r>
            <a:endParaRPr lang="en-US" sz="900" dirty="0"/>
          </a:p>
        </p:txBody>
      </p:sp>
      <p:sp>
        <p:nvSpPr>
          <p:cNvPr id="39" name="Text 37"/>
          <p:cNvSpPr/>
          <p:nvPr/>
        </p:nvSpPr>
        <p:spPr>
          <a:xfrm>
            <a:off x="731520" y="373989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수정 · 재배포</a:t>
            </a:r>
            <a:endParaRPr lang="en-US" sz="900" dirty="0"/>
          </a:p>
        </p:txBody>
      </p:sp>
      <p:sp>
        <p:nvSpPr>
          <p:cNvPr id="40" name="Text 38"/>
          <p:cNvSpPr/>
          <p:nvPr/>
        </p:nvSpPr>
        <p:spPr>
          <a:xfrm>
            <a:off x="2304288" y="373989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허용</a:t>
            </a:r>
            <a:endParaRPr lang="en-US" sz="900" dirty="0"/>
          </a:p>
        </p:txBody>
      </p:sp>
      <p:sp>
        <p:nvSpPr>
          <p:cNvPr id="41" name="Text 39"/>
          <p:cNvSpPr/>
          <p:nvPr/>
        </p:nvSpPr>
        <p:spPr>
          <a:xfrm>
            <a:off x="731520" y="395478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파인튜닝</a:t>
            </a:r>
            <a:endParaRPr lang="en-US" sz="900" dirty="0"/>
          </a:p>
        </p:txBody>
      </p:sp>
      <p:sp>
        <p:nvSpPr>
          <p:cNvPr id="42" name="Text 40"/>
          <p:cNvSpPr/>
          <p:nvPr/>
        </p:nvSpPr>
        <p:spPr>
          <a:xfrm>
            <a:off x="2304288" y="395478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허용 (opf train CLI 제공)</a:t>
            </a:r>
            <a:endParaRPr lang="en-US" sz="900" dirty="0"/>
          </a:p>
        </p:txBody>
      </p:sp>
      <p:sp>
        <p:nvSpPr>
          <p:cNvPr id="43" name="Text 41"/>
          <p:cNvSpPr/>
          <p:nvPr/>
        </p:nvSpPr>
        <p:spPr>
          <a:xfrm>
            <a:off x="731520" y="41696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의무</a:t>
            </a:r>
            <a:endParaRPr lang="en-US" sz="900" dirty="0"/>
          </a:p>
        </p:txBody>
      </p:sp>
      <p:sp>
        <p:nvSpPr>
          <p:cNvPr id="44" name="Text 42"/>
          <p:cNvSpPr/>
          <p:nvPr/>
        </p:nvSpPr>
        <p:spPr>
          <a:xfrm>
            <a:off x="2304288" y="41696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저작권·라이선스 고지 유지</a:t>
            </a:r>
            <a:endParaRPr lang="en-US" sz="900" dirty="0"/>
          </a:p>
        </p:txBody>
      </p:sp>
      <p:sp>
        <p:nvSpPr>
          <p:cNvPr id="45" name="Shape 43"/>
          <p:cNvSpPr/>
          <p:nvPr/>
        </p:nvSpPr>
        <p:spPr>
          <a:xfrm>
            <a:off x="6223864" y="2798064"/>
            <a:ext cx="5400904" cy="1664208"/>
          </a:xfrm>
          <a:prstGeom prst="roundRect">
            <a:avLst>
              <a:gd name="adj" fmla="val 3297"/>
            </a:avLst>
          </a:prstGeom>
          <a:solidFill>
            <a:srgbClr val="EDF3FD"/>
          </a:solidFill>
          <a:ln w="9525">
            <a:solidFill>
              <a:srgbClr val="D0DEF6"/>
            </a:solidFill>
            <a:prstDash val="solid"/>
          </a:ln>
        </p:spPr>
      </p:sp>
      <p:sp>
        <p:nvSpPr>
          <p:cNvPr id="46" name="Shape 44"/>
          <p:cNvSpPr/>
          <p:nvPr/>
        </p:nvSpPr>
        <p:spPr>
          <a:xfrm>
            <a:off x="6370168" y="2926080"/>
            <a:ext cx="1691640" cy="274320"/>
          </a:xfrm>
          <a:prstGeom prst="roundRect">
            <a:avLst>
              <a:gd name="adj" fmla="val 16667"/>
            </a:avLst>
          </a:prstGeom>
          <a:solidFill>
            <a:srgbClr val="1E2761"/>
          </a:solidFill>
          <a:ln w="6350">
            <a:solidFill>
              <a:srgbClr val="1E2761"/>
            </a:solidFill>
            <a:prstDash val="solid"/>
          </a:ln>
        </p:spPr>
      </p:sp>
      <p:sp>
        <p:nvSpPr>
          <p:cNvPr id="47" name="Text 45"/>
          <p:cNvSpPr/>
          <p:nvPr/>
        </p:nvSpPr>
        <p:spPr>
          <a:xfrm>
            <a:off x="6370168" y="2926080"/>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⑤ 성능</a:t>
            </a:r>
            <a:endParaRPr lang="en-US" sz="1050" dirty="0"/>
          </a:p>
        </p:txBody>
      </p:sp>
      <p:sp>
        <p:nvSpPr>
          <p:cNvPr id="48" name="Text 46"/>
          <p:cNvSpPr/>
          <p:nvPr/>
        </p:nvSpPr>
        <p:spPr>
          <a:xfrm>
            <a:off x="6388456" y="33101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재현율</a:t>
            </a:r>
            <a:endParaRPr lang="en-US" sz="900" dirty="0"/>
          </a:p>
        </p:txBody>
      </p:sp>
      <p:sp>
        <p:nvSpPr>
          <p:cNvPr id="49" name="Text 47"/>
          <p:cNvSpPr/>
          <p:nvPr/>
        </p:nvSpPr>
        <p:spPr>
          <a:xfrm>
            <a:off x="7961224" y="33101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24,489 / 28,420 (86.17%)</a:t>
            </a:r>
            <a:endParaRPr lang="en-US" sz="900" dirty="0"/>
          </a:p>
        </p:txBody>
      </p:sp>
      <p:sp>
        <p:nvSpPr>
          <p:cNvPr id="50" name="Text 48"/>
          <p:cNvSpPr/>
          <p:nvPr/>
        </p:nvSpPr>
        <p:spPr>
          <a:xfrm>
            <a:off x="6388456" y="352501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F2 / F1</a:t>
            </a:r>
            <a:endParaRPr lang="en-US" sz="900" dirty="0"/>
          </a:p>
        </p:txBody>
      </p:sp>
      <p:sp>
        <p:nvSpPr>
          <p:cNvPr id="51" name="Text 49"/>
          <p:cNvSpPr/>
          <p:nvPr/>
        </p:nvSpPr>
        <p:spPr>
          <a:xfrm>
            <a:off x="7961224" y="352501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0.7157 / 0.5706</a:t>
            </a:r>
            <a:endParaRPr lang="en-US" sz="900" dirty="0"/>
          </a:p>
        </p:txBody>
      </p:sp>
      <p:sp>
        <p:nvSpPr>
          <p:cNvPr id="52" name="Text 50"/>
          <p:cNvSpPr/>
          <p:nvPr/>
        </p:nvSpPr>
        <p:spPr>
          <a:xfrm>
            <a:off x="6388456" y="373989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문서 단위 미탐</a:t>
            </a:r>
            <a:endParaRPr lang="en-US" sz="900" dirty="0"/>
          </a:p>
        </p:txBody>
      </p:sp>
      <p:sp>
        <p:nvSpPr>
          <p:cNvPr id="53" name="Text 51"/>
          <p:cNvSpPr/>
          <p:nvPr/>
        </p:nvSpPr>
        <p:spPr>
          <a:xfrm>
            <a:off x="7961224" y="373989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2,040 / 3,000 (68.00%)</a:t>
            </a:r>
            <a:endParaRPr lang="en-US" sz="900" dirty="0"/>
          </a:p>
        </p:txBody>
      </p:sp>
      <p:sp>
        <p:nvSpPr>
          <p:cNvPr id="54" name="Text 52"/>
          <p:cNvSpPr/>
          <p:nvPr/>
        </p:nvSpPr>
        <p:spPr>
          <a:xfrm>
            <a:off x="6388456" y="395478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고유식별 4종</a:t>
            </a:r>
            <a:endParaRPr lang="en-US" sz="900" dirty="0"/>
          </a:p>
        </p:txBody>
      </p:sp>
      <p:sp>
        <p:nvSpPr>
          <p:cNvPr id="55" name="Text 53"/>
          <p:cNvSpPr/>
          <p:nvPr/>
        </p:nvSpPr>
        <p:spPr>
          <a:xfrm>
            <a:off x="7961224" y="395478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6,940 / 7,689 (90.26%)</a:t>
            </a:r>
            <a:endParaRPr lang="en-US" sz="900" dirty="0"/>
          </a:p>
        </p:txBody>
      </p:sp>
      <p:sp>
        <p:nvSpPr>
          <p:cNvPr id="56" name="Text 54"/>
          <p:cNvSpPr/>
          <p:nvPr/>
        </p:nvSpPr>
        <p:spPr>
          <a:xfrm>
            <a:off x="6388456" y="41696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제작사 한국어 R</a:t>
            </a:r>
            <a:endParaRPr lang="en-US" sz="900" dirty="0"/>
          </a:p>
        </p:txBody>
      </p:sp>
      <p:sp>
        <p:nvSpPr>
          <p:cNvPr id="57" name="Text 55"/>
          <p:cNvSpPr/>
          <p:nvPr/>
        </p:nvSpPr>
        <p:spPr>
          <a:xfrm>
            <a:off x="7961224" y="41696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0.887 — 자체 실측 86.17%와 근접</a:t>
            </a:r>
            <a:endParaRPr lang="en-US" sz="900" dirty="0"/>
          </a:p>
        </p:txBody>
      </p:sp>
      <p:sp>
        <p:nvSpPr>
          <p:cNvPr id="58" name="Shape 56"/>
          <p:cNvSpPr/>
          <p:nvPr/>
        </p:nvSpPr>
        <p:spPr>
          <a:xfrm>
            <a:off x="566928" y="4572000"/>
            <a:ext cx="5400904" cy="1664208"/>
          </a:xfrm>
          <a:prstGeom prst="roundRect">
            <a:avLst>
              <a:gd name="adj" fmla="val 3297"/>
            </a:avLst>
          </a:prstGeom>
          <a:solidFill>
            <a:srgbClr val="F7F8FB"/>
          </a:solidFill>
          <a:ln w="9525">
            <a:solidFill>
              <a:srgbClr val="DFE3EC"/>
            </a:solidFill>
            <a:prstDash val="solid"/>
          </a:ln>
        </p:spPr>
      </p:sp>
      <p:sp>
        <p:nvSpPr>
          <p:cNvPr id="59" name="Shape 57"/>
          <p:cNvSpPr/>
          <p:nvPr/>
        </p:nvSpPr>
        <p:spPr>
          <a:xfrm>
            <a:off x="713232" y="4700016"/>
            <a:ext cx="1691640" cy="274320"/>
          </a:xfrm>
          <a:prstGeom prst="roundRect">
            <a:avLst>
              <a:gd name="adj" fmla="val 16667"/>
            </a:avLst>
          </a:prstGeom>
          <a:solidFill>
            <a:srgbClr val="1E2761"/>
          </a:solidFill>
          <a:ln w="6350">
            <a:solidFill>
              <a:srgbClr val="1E2761"/>
            </a:solidFill>
            <a:prstDash val="solid"/>
          </a:ln>
        </p:spPr>
      </p:sp>
      <p:sp>
        <p:nvSpPr>
          <p:cNvPr id="60" name="Text 58"/>
          <p:cNvSpPr/>
          <p:nvPr/>
        </p:nvSpPr>
        <p:spPr>
          <a:xfrm>
            <a:off x="713232" y="4700016"/>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③ 버전 식별자</a:t>
            </a:r>
            <a:endParaRPr lang="en-US" sz="1050" dirty="0"/>
          </a:p>
        </p:txBody>
      </p:sp>
      <p:sp>
        <p:nvSpPr>
          <p:cNvPr id="61" name="Text 59"/>
          <p:cNvSpPr/>
          <p:nvPr/>
        </p:nvSpPr>
        <p:spPr>
          <a:xfrm>
            <a:off x="731520" y="50840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model_type</a:t>
            </a:r>
            <a:endParaRPr lang="en-US" sz="900" dirty="0"/>
          </a:p>
        </p:txBody>
      </p:sp>
      <p:sp>
        <p:nvSpPr>
          <p:cNvPr id="62" name="Text 60"/>
          <p:cNvSpPr/>
          <p:nvPr/>
        </p:nvSpPr>
        <p:spPr>
          <a:xfrm>
            <a:off x="2304288" y="50840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openai_privacy_filter</a:t>
            </a:r>
            <a:endParaRPr lang="en-US" sz="900" dirty="0"/>
          </a:p>
        </p:txBody>
      </p:sp>
      <p:sp>
        <p:nvSpPr>
          <p:cNvPr id="63" name="Text 61"/>
          <p:cNvSpPr/>
          <p:nvPr/>
        </p:nvSpPr>
        <p:spPr>
          <a:xfrm>
            <a:off x="731520" y="529894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파라미터</a:t>
            </a:r>
            <a:endParaRPr lang="en-US" sz="900" dirty="0"/>
          </a:p>
        </p:txBody>
      </p:sp>
      <p:sp>
        <p:nvSpPr>
          <p:cNvPr id="64" name="Text 62"/>
          <p:cNvSpPr/>
          <p:nvPr/>
        </p:nvSpPr>
        <p:spPr>
          <a:xfrm>
            <a:off x="2304288" y="529894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총 1.5B / 활성 50M</a:t>
            </a:r>
            <a:endParaRPr lang="en-US" sz="900" dirty="0"/>
          </a:p>
        </p:txBody>
      </p:sp>
      <p:sp>
        <p:nvSpPr>
          <p:cNvPr id="65" name="Text 63"/>
          <p:cNvSpPr/>
          <p:nvPr/>
        </p:nvSpPr>
        <p:spPr>
          <a:xfrm>
            <a:off x="731520" y="551383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구조</a:t>
            </a:r>
            <a:endParaRPr lang="en-US" sz="900" dirty="0"/>
          </a:p>
        </p:txBody>
      </p:sp>
      <p:sp>
        <p:nvSpPr>
          <p:cNvPr id="66" name="Text 64"/>
          <p:cNvSpPr/>
          <p:nvPr/>
        </p:nvSpPr>
        <p:spPr>
          <a:xfrm>
            <a:off x="2304288" y="551383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8 layers · d_model 640 · MoE 128/top-4</a:t>
            </a:r>
            <a:endParaRPr lang="en-US" sz="900" dirty="0"/>
          </a:p>
        </p:txBody>
      </p:sp>
      <p:sp>
        <p:nvSpPr>
          <p:cNvPr id="67" name="Text 65"/>
          <p:cNvSpPr/>
          <p:nvPr/>
        </p:nvSpPr>
        <p:spPr>
          <a:xfrm>
            <a:off x="731520" y="572871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라벨 체계</a:t>
            </a:r>
            <a:endParaRPr lang="en-US" sz="900" dirty="0"/>
          </a:p>
        </p:txBody>
      </p:sp>
      <p:sp>
        <p:nvSpPr>
          <p:cNvPr id="68" name="Text 66"/>
          <p:cNvSpPr/>
          <p:nvPr/>
        </p:nvSpPr>
        <p:spPr>
          <a:xfrm>
            <a:off x="2304288" y="572871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33 클래스 (O 1 + 8×BIOES 4)</a:t>
            </a:r>
            <a:endParaRPr lang="en-US" sz="900" dirty="0"/>
          </a:p>
        </p:txBody>
      </p:sp>
      <p:sp>
        <p:nvSpPr>
          <p:cNvPr id="69" name="Text 67"/>
          <p:cNvSpPr/>
          <p:nvPr/>
        </p:nvSpPr>
        <p:spPr>
          <a:xfrm>
            <a:off x="731520" y="594360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컨텍스트</a:t>
            </a:r>
            <a:endParaRPr lang="en-US" sz="900" dirty="0"/>
          </a:p>
        </p:txBody>
      </p:sp>
      <p:sp>
        <p:nvSpPr>
          <p:cNvPr id="70" name="Text 68"/>
          <p:cNvSpPr/>
          <p:nvPr/>
        </p:nvSpPr>
        <p:spPr>
          <a:xfrm>
            <a:off x="2304288" y="594360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n_ctx 128,000 · 실효 어텐션 창 257토큰</a:t>
            </a:r>
            <a:endParaRPr lang="en-US" sz="900" dirty="0"/>
          </a:p>
        </p:txBody>
      </p:sp>
      <p:sp>
        <p:nvSpPr>
          <p:cNvPr id="71" name="Shape 69"/>
          <p:cNvSpPr/>
          <p:nvPr/>
        </p:nvSpPr>
        <p:spPr>
          <a:xfrm>
            <a:off x="6223864" y="4572000"/>
            <a:ext cx="5400904" cy="1664208"/>
          </a:xfrm>
          <a:prstGeom prst="roundRect">
            <a:avLst>
              <a:gd name="adj" fmla="val 3297"/>
            </a:avLst>
          </a:prstGeom>
          <a:solidFill>
            <a:srgbClr val="F7F8FB"/>
          </a:solidFill>
          <a:ln w="9525">
            <a:solidFill>
              <a:srgbClr val="DFE3EC"/>
            </a:solidFill>
            <a:prstDash val="solid"/>
          </a:ln>
        </p:spPr>
      </p:sp>
      <p:sp>
        <p:nvSpPr>
          <p:cNvPr id="72" name="Shape 70"/>
          <p:cNvSpPr/>
          <p:nvPr/>
        </p:nvSpPr>
        <p:spPr>
          <a:xfrm>
            <a:off x="6370168" y="4700016"/>
            <a:ext cx="1691640" cy="274320"/>
          </a:xfrm>
          <a:prstGeom prst="roundRect">
            <a:avLst>
              <a:gd name="adj" fmla="val 16667"/>
            </a:avLst>
          </a:prstGeom>
          <a:solidFill>
            <a:srgbClr val="1E2761"/>
          </a:solidFill>
          <a:ln w="6350">
            <a:solidFill>
              <a:srgbClr val="1E2761"/>
            </a:solidFill>
            <a:prstDash val="solid"/>
          </a:ln>
        </p:spPr>
      </p:sp>
      <p:sp>
        <p:nvSpPr>
          <p:cNvPr id="73" name="Text 71"/>
          <p:cNvSpPr/>
          <p:nvPr/>
        </p:nvSpPr>
        <p:spPr>
          <a:xfrm>
            <a:off x="6370168" y="4700016"/>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⑥ 적용 범위 · 제약</a:t>
            </a:r>
            <a:endParaRPr lang="en-US" sz="1050" dirty="0"/>
          </a:p>
        </p:txBody>
      </p:sp>
      <p:sp>
        <p:nvSpPr>
          <p:cNvPr id="74" name="Text 72"/>
          <p:cNvSpPr/>
          <p:nvPr/>
        </p:nvSpPr>
        <p:spPr>
          <a:xfrm>
            <a:off x="6388456" y="50840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보증 범위</a:t>
            </a:r>
            <a:endParaRPr lang="en-US" sz="900" dirty="0"/>
          </a:p>
        </p:txBody>
      </p:sp>
      <p:sp>
        <p:nvSpPr>
          <p:cNvPr id="75" name="Text 73"/>
          <p:cNvSpPr/>
          <p:nvPr/>
        </p:nvSpPr>
        <p:spPr>
          <a:xfrm>
            <a:off x="7961224" y="50840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비영어 성능 저하 가능 (§4.2)</a:t>
            </a:r>
            <a:endParaRPr lang="en-US" sz="900" dirty="0"/>
          </a:p>
        </p:txBody>
      </p:sp>
      <p:sp>
        <p:nvSpPr>
          <p:cNvPr id="76" name="Text 74"/>
          <p:cNvSpPr/>
          <p:nvPr/>
        </p:nvSpPr>
        <p:spPr>
          <a:xfrm>
            <a:off x="6388456" y="529894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한국어</a:t>
            </a:r>
            <a:endParaRPr lang="en-US" sz="900" dirty="0"/>
          </a:p>
        </p:txBody>
      </p:sp>
      <p:sp>
        <p:nvSpPr>
          <p:cNvPr id="77" name="Text 75"/>
          <p:cNvSpPr/>
          <p:nvPr/>
        </p:nvSpPr>
        <p:spPr>
          <a:xfrm>
            <a:off x="7961224" y="529894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언어별 벤치마크 미포함</a:t>
            </a:r>
            <a:endParaRPr lang="en-US" sz="900" dirty="0"/>
          </a:p>
        </p:txBody>
      </p:sp>
      <p:sp>
        <p:nvSpPr>
          <p:cNvPr id="78" name="Text 76"/>
          <p:cNvSpPr/>
          <p:nvPr/>
        </p:nvSpPr>
        <p:spPr>
          <a:xfrm>
            <a:off x="6388456" y="551383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고위험 지정</a:t>
            </a:r>
            <a:endParaRPr lang="en-US" sz="900" dirty="0"/>
          </a:p>
        </p:txBody>
      </p:sp>
      <p:sp>
        <p:nvSpPr>
          <p:cNvPr id="79" name="Text 77"/>
          <p:cNvSpPr/>
          <p:nvPr/>
        </p:nvSpPr>
        <p:spPr>
          <a:xfrm>
            <a:off x="7961224" y="551383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금융 · 의료 · 법률 · HR (§4.4)</a:t>
            </a:r>
            <a:endParaRPr lang="en-US" sz="900" dirty="0"/>
          </a:p>
        </p:txBody>
      </p:sp>
      <p:sp>
        <p:nvSpPr>
          <p:cNvPr id="80" name="Text 78"/>
          <p:cNvSpPr/>
          <p:nvPr/>
        </p:nvSpPr>
        <p:spPr>
          <a:xfrm>
            <a:off x="6388456" y="572871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보증 부인</a:t>
            </a:r>
            <a:endParaRPr lang="en-US" sz="900" dirty="0"/>
          </a:p>
        </p:txBody>
      </p:sp>
      <p:sp>
        <p:nvSpPr>
          <p:cNvPr id="81" name="Text 79"/>
          <p:cNvSpPr/>
          <p:nvPr/>
        </p:nvSpPr>
        <p:spPr>
          <a:xfrm>
            <a:off x="7961224" y="572871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익명화·컴플라이언스 보증 아님 (§3.2)</a:t>
            </a:r>
            <a:endParaRPr lang="en-US" sz="900" dirty="0"/>
          </a:p>
        </p:txBody>
      </p:sp>
      <p:sp>
        <p:nvSpPr>
          <p:cNvPr id="82" name="Text 80"/>
          <p:cNvSpPr/>
          <p:nvPr/>
        </p:nvSpPr>
        <p:spPr>
          <a:xfrm>
            <a:off x="6388456" y="594360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필수 조치</a:t>
            </a:r>
            <a:endParaRPr lang="en-US" sz="900" dirty="0"/>
          </a:p>
        </p:txBody>
      </p:sp>
      <p:sp>
        <p:nvSpPr>
          <p:cNvPr id="83" name="Text 81"/>
          <p:cNvSpPr/>
          <p:nvPr/>
        </p:nvSpPr>
        <p:spPr>
          <a:xfrm>
            <a:off x="7961224" y="594360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자체 평가 · 인간 검토 경로 (§4.5)</a:t>
            </a:r>
            <a:endParaRPr lang="en-US" sz="900" dirty="0"/>
          </a:p>
        </p:txBody>
      </p:sp>
      <p:sp>
        <p:nvSpPr>
          <p:cNvPr id="84" name="Text 82"/>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 체크포인트 해시·리비전 태그 미확인 — 자산 대장 등재 시 확보 필요   |   2단계 확장 필드(입출력 규격·서빙 처리량·재현성·리스크·관리 정보·재평가 이력) 별도 제안</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04</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평가 기준</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04 / 16</a:t>
            </a:r>
            <a:endParaRPr lang="en-US" sz="1000" dirty="0"/>
          </a:p>
        </p:txBody>
      </p:sp>
      <p:sp>
        <p:nvSpPr>
          <p:cNvPr id="5" name="Shape 3"/>
          <p:cNvSpPr/>
          <p:nvPr/>
        </p:nvSpPr>
        <p:spPr>
          <a:xfrm>
            <a:off x="566928" y="969264"/>
            <a:ext cx="3533546" cy="1298448"/>
          </a:xfrm>
          <a:prstGeom prst="roundRect">
            <a:avLst>
              <a:gd name="adj" fmla="val 4225"/>
            </a:avLst>
          </a:prstGeom>
          <a:solidFill>
            <a:srgbClr val="EDF3FD"/>
          </a:solidFill>
          <a:ln w="9525">
            <a:solidFill>
              <a:srgbClr val="D0DEF6"/>
            </a:solidFill>
            <a:prstDash val="solid"/>
          </a:ln>
        </p:spPr>
      </p:sp>
      <p:sp>
        <p:nvSpPr>
          <p:cNvPr id="6" name="Text 4"/>
          <p:cNvSpPr/>
          <p:nvPr/>
        </p:nvSpPr>
        <p:spPr>
          <a:xfrm>
            <a:off x="731520" y="1078992"/>
            <a:ext cx="3204362"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최우선</a:t>
            </a:r>
            <a:endParaRPr lang="en-US" sz="950" dirty="0"/>
          </a:p>
        </p:txBody>
      </p:sp>
      <p:sp>
        <p:nvSpPr>
          <p:cNvPr id="7" name="Text 5"/>
          <p:cNvSpPr/>
          <p:nvPr/>
        </p:nvSpPr>
        <p:spPr>
          <a:xfrm>
            <a:off x="731520" y="1335024"/>
            <a:ext cx="3204362" cy="438912"/>
          </a:xfrm>
          <a:prstGeom prst="rect">
            <a:avLst/>
          </a:prstGeom>
          <a:noFill/>
          <a:ln/>
        </p:spPr>
        <p:txBody>
          <a:bodyPr wrap="square" lIns="0" tIns="0" rIns="0" bIns="0" rtlCol="0" anchor="ctr"/>
          <a:lstStyle/>
          <a:p>
            <a:pPr algn="l" indent="0" marL="0">
              <a:buNone/>
            </a:pPr>
            <a:r>
              <a:rPr lang="en-US" sz="1900" b="1" dirty="0">
                <a:solidFill>
                  <a:srgbClr val="1E2761"/>
                </a:solidFill>
                <a:latin typeface="Malgun Gothic" pitchFamily="34" charset="0"/>
                <a:ea typeface="Malgun Gothic" pitchFamily="34" charset="-122"/>
                <a:cs typeface="Malgun Gothic" pitchFamily="34" charset="-120"/>
              </a:rPr>
              <a:t>재현율 (Recall)</a:t>
            </a:r>
            <a:endParaRPr lang="en-US" sz="1900" dirty="0"/>
          </a:p>
        </p:txBody>
      </p:sp>
      <p:sp>
        <p:nvSpPr>
          <p:cNvPr id="8" name="Text 6"/>
          <p:cNvSpPr/>
          <p:nvPr/>
        </p:nvSpPr>
        <p:spPr>
          <a:xfrm>
            <a:off x="731520" y="1792224"/>
            <a:ext cx="3204362" cy="329184"/>
          </a:xfrm>
          <a:prstGeom prst="rect">
            <a:avLst/>
          </a:prstGeom>
          <a:noFill/>
          <a:ln/>
        </p:spPr>
        <p:txBody>
          <a:bodyPr wrap="square" lIns="0" tIns="0" rIns="0" bIns="0" rtlCol="0" anchor="t"/>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정답 스팬 중 예측이 덮은 비율</a:t>
            </a:r>
            <a:endParaRPr lang="en-US" sz="950" dirty="0"/>
          </a:p>
        </p:txBody>
      </p:sp>
      <p:sp>
        <p:nvSpPr>
          <p:cNvPr id="9" name="Shape 7"/>
          <p:cNvSpPr/>
          <p:nvPr/>
        </p:nvSpPr>
        <p:spPr>
          <a:xfrm>
            <a:off x="4329074" y="969264"/>
            <a:ext cx="3533546" cy="1298448"/>
          </a:xfrm>
          <a:prstGeom prst="roundRect">
            <a:avLst>
              <a:gd name="adj" fmla="val 4225"/>
            </a:avLst>
          </a:prstGeom>
          <a:solidFill>
            <a:srgbClr val="EDF3FD"/>
          </a:solidFill>
          <a:ln w="9525">
            <a:solidFill>
              <a:srgbClr val="D0DEF6"/>
            </a:solidFill>
            <a:prstDash val="solid"/>
          </a:ln>
        </p:spPr>
      </p:sp>
      <p:sp>
        <p:nvSpPr>
          <p:cNvPr id="10" name="Text 8"/>
          <p:cNvSpPr/>
          <p:nvPr/>
        </p:nvSpPr>
        <p:spPr>
          <a:xfrm>
            <a:off x="4493666" y="1078992"/>
            <a:ext cx="3204362"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종합</a:t>
            </a:r>
            <a:endParaRPr lang="en-US" sz="950" dirty="0"/>
          </a:p>
        </p:txBody>
      </p:sp>
      <p:sp>
        <p:nvSpPr>
          <p:cNvPr id="11" name="Text 9"/>
          <p:cNvSpPr/>
          <p:nvPr/>
        </p:nvSpPr>
        <p:spPr>
          <a:xfrm>
            <a:off x="4493666" y="1335024"/>
            <a:ext cx="3204362" cy="438912"/>
          </a:xfrm>
          <a:prstGeom prst="rect">
            <a:avLst/>
          </a:prstGeom>
          <a:noFill/>
          <a:ln/>
        </p:spPr>
        <p:txBody>
          <a:bodyPr wrap="square" lIns="0" tIns="0" rIns="0" bIns="0" rtlCol="0" anchor="ctr"/>
          <a:lstStyle/>
          <a:p>
            <a:pPr algn="l" indent="0" marL="0">
              <a:buNone/>
            </a:pPr>
            <a:r>
              <a:rPr lang="en-US" sz="1900" b="1" dirty="0">
                <a:solidFill>
                  <a:srgbClr val="1E2761"/>
                </a:solidFill>
                <a:latin typeface="Malgun Gothic" pitchFamily="34" charset="0"/>
                <a:ea typeface="Malgun Gothic" pitchFamily="34" charset="-122"/>
                <a:cs typeface="Malgun Gothic" pitchFamily="34" charset="-120"/>
              </a:rPr>
              <a:t>F2</a:t>
            </a:r>
            <a:endParaRPr lang="en-US" sz="1900" dirty="0"/>
          </a:p>
        </p:txBody>
      </p:sp>
      <p:sp>
        <p:nvSpPr>
          <p:cNvPr id="12" name="Text 10"/>
          <p:cNvSpPr/>
          <p:nvPr/>
        </p:nvSpPr>
        <p:spPr>
          <a:xfrm>
            <a:off x="4493666" y="1792224"/>
            <a:ext cx="3204362" cy="329184"/>
          </a:xfrm>
          <a:prstGeom prst="rect">
            <a:avLst/>
          </a:prstGeom>
          <a:noFill/>
          <a:ln/>
        </p:spPr>
        <p:txBody>
          <a:bodyPr wrap="square" lIns="0" tIns="0" rIns="0" bIns="0" rtlCol="0" anchor="t"/>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재현율에 가중치를 둔 조화평균</a:t>
            </a:r>
            <a:endParaRPr lang="en-US" sz="950" dirty="0"/>
          </a:p>
        </p:txBody>
      </p:sp>
      <p:sp>
        <p:nvSpPr>
          <p:cNvPr id="13" name="Shape 11"/>
          <p:cNvSpPr/>
          <p:nvPr/>
        </p:nvSpPr>
        <p:spPr>
          <a:xfrm>
            <a:off x="8091221" y="969264"/>
            <a:ext cx="3533546" cy="1298448"/>
          </a:xfrm>
          <a:prstGeom prst="roundRect">
            <a:avLst>
              <a:gd name="adj" fmla="val 4225"/>
            </a:avLst>
          </a:prstGeom>
          <a:solidFill>
            <a:srgbClr val="FBEDEC"/>
          </a:solidFill>
          <a:ln w="9525">
            <a:solidFill>
              <a:srgbClr val="EFD4D2"/>
            </a:solidFill>
            <a:prstDash val="solid"/>
          </a:ln>
        </p:spPr>
      </p:sp>
      <p:sp>
        <p:nvSpPr>
          <p:cNvPr id="14" name="Text 12"/>
          <p:cNvSpPr/>
          <p:nvPr/>
        </p:nvSpPr>
        <p:spPr>
          <a:xfrm>
            <a:off x="8255813" y="1078992"/>
            <a:ext cx="3204362" cy="237744"/>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컴플라이언스 대면</a:t>
            </a:r>
            <a:endParaRPr lang="en-US" sz="950" dirty="0"/>
          </a:p>
        </p:txBody>
      </p:sp>
      <p:sp>
        <p:nvSpPr>
          <p:cNvPr id="15" name="Text 13"/>
          <p:cNvSpPr/>
          <p:nvPr/>
        </p:nvSpPr>
        <p:spPr>
          <a:xfrm>
            <a:off x="8255813" y="1335024"/>
            <a:ext cx="3204362" cy="438912"/>
          </a:xfrm>
          <a:prstGeom prst="rect">
            <a:avLst/>
          </a:prstGeom>
          <a:noFill/>
          <a:ln/>
        </p:spPr>
        <p:txBody>
          <a:bodyPr wrap="square" lIns="0" tIns="0" rIns="0" bIns="0" rtlCol="0" anchor="ctr"/>
          <a:lstStyle/>
          <a:p>
            <a:pPr algn="l" indent="0" marL="0">
              <a:buNone/>
            </a:pPr>
            <a:r>
              <a:rPr lang="en-US" sz="1900" b="1" dirty="0">
                <a:solidFill>
                  <a:srgbClr val="8E2420"/>
                </a:solidFill>
                <a:latin typeface="Malgun Gothic" pitchFamily="34" charset="0"/>
                <a:ea typeface="Malgun Gothic" pitchFamily="34" charset="-122"/>
                <a:cs typeface="Malgun Gothic" pitchFamily="34" charset="-120"/>
              </a:rPr>
              <a:t>문서 단위 미탐률</a:t>
            </a:r>
            <a:endParaRPr lang="en-US" sz="1900" dirty="0"/>
          </a:p>
        </p:txBody>
      </p:sp>
      <p:sp>
        <p:nvSpPr>
          <p:cNvPr id="16" name="Text 14"/>
          <p:cNvSpPr/>
          <p:nvPr/>
        </p:nvSpPr>
        <p:spPr>
          <a:xfrm>
            <a:off x="8255813" y="1792224"/>
            <a:ext cx="3204362" cy="329184"/>
          </a:xfrm>
          <a:prstGeom prst="rect">
            <a:avLst/>
          </a:prstGeom>
          <a:noFill/>
          <a:ln/>
        </p:spPr>
        <p:txBody>
          <a:bodyPr wrap="square" lIns="0" tIns="0" rIns="0" bIns="0" rtlCol="0" anchor="t"/>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한 건이라도 남은 문서의 비율</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450592"/>
          <a:ext cx="11057839" cy="914400"/>
        </p:xfrm>
        <a:graphic>
          <a:graphicData uri="http://schemas.openxmlformats.org/drawingml/2006/table">
            <a:tbl>
              <a:tblPr/>
              <a:tblGrid>
                <a:gridCol w="1828800"/>
                <a:gridCol w="3657600"/>
                <a:gridCol w="1737360"/>
                <a:gridCol w="3834079"/>
              </a:tblGrid>
              <a:tr h="25603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정의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판정 방향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본 보고에서의 취급</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스팬을 예측 스팬이 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최우선 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예측 스팬을 정답 스팬이 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보고하되 순위 결정에 미사용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 가중 조화평균 (β=2)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종합 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8E2420"/>
                          </a:solidFill>
                          <a:latin typeface="Malgun Gothic" pitchFamily="34" charset="0"/>
                          <a:ea typeface="Malgun Gothic" pitchFamily="34" charset="-122"/>
                          <a:cs typeface="Malgun Gothic" pitchFamily="34" charset="-120"/>
                        </a:rPr>
                        <a:t>문서 단위 미탐률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 건이라도 미탐·부분노출이 있는 문서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낮을수록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컴플라이언스 대면 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정답과 예측의 경계가 정확히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경계 정확도 진단용 보조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5C6273"/>
                          </a:solidFill>
                          <a:latin typeface="Malgun Gothic" pitchFamily="34" charset="0"/>
                          <a:ea typeface="Malgun Gothic" pitchFamily="34" charset="-122"/>
                          <a:cs typeface="Malgun Gothic" pitchFamily="34" charset="-120"/>
                        </a:rPr>
                        <a:t>Accuracy</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전체 문자 중 판정이 맞은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제외 — 배경 문자 지배로 변별력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18" name="Shape 15"/>
          <p:cNvSpPr/>
          <p:nvPr/>
        </p:nvSpPr>
        <p:spPr>
          <a:xfrm>
            <a:off x="566928" y="4443984"/>
            <a:ext cx="5363052" cy="1481328"/>
          </a:xfrm>
          <a:prstGeom prst="roundRect">
            <a:avLst>
              <a:gd name="adj" fmla="val 3704"/>
            </a:avLst>
          </a:prstGeom>
          <a:solidFill>
            <a:srgbClr val="F7F8FB"/>
          </a:solidFill>
          <a:ln w="9525">
            <a:solidFill>
              <a:srgbClr val="DFE3EC"/>
            </a:solidFill>
            <a:prstDash val="solid"/>
          </a:ln>
        </p:spPr>
      </p:sp>
      <p:sp>
        <p:nvSpPr>
          <p:cNvPr id="19" name="Shape 16"/>
          <p:cNvSpPr/>
          <p:nvPr/>
        </p:nvSpPr>
        <p:spPr>
          <a:xfrm>
            <a:off x="731520" y="4572000"/>
            <a:ext cx="2103120" cy="274320"/>
          </a:xfrm>
          <a:prstGeom prst="roundRect">
            <a:avLst>
              <a:gd name="adj" fmla="val 16667"/>
            </a:avLst>
          </a:prstGeom>
          <a:solidFill>
            <a:srgbClr val="1E2761"/>
          </a:solidFill>
          <a:ln w="6350">
            <a:solidFill>
              <a:srgbClr val="1E2761"/>
            </a:solidFill>
            <a:prstDash val="solid"/>
          </a:ln>
        </p:spPr>
      </p:sp>
      <p:sp>
        <p:nvSpPr>
          <p:cNvPr id="20" name="Text 17"/>
          <p:cNvSpPr/>
          <p:nvPr/>
        </p:nvSpPr>
        <p:spPr>
          <a:xfrm>
            <a:off x="731520" y="4572000"/>
            <a:ext cx="21031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참조 기준치</a:t>
            </a:r>
            <a:endParaRPr lang="en-US" sz="1050" dirty="0"/>
          </a:p>
        </p:txBody>
      </p:sp>
      <p:sp>
        <p:nvSpPr>
          <p:cNvPr id="21" name="Text 18"/>
          <p:cNvSpPr/>
          <p:nvPr/>
        </p:nvSpPr>
        <p:spPr>
          <a:xfrm>
            <a:off x="749808" y="4956048"/>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F1</a:t>
            </a:r>
            <a:endParaRPr lang="en-US" sz="950" dirty="0"/>
          </a:p>
        </p:txBody>
      </p:sp>
      <p:sp>
        <p:nvSpPr>
          <p:cNvPr id="22" name="Text 19"/>
          <p:cNvSpPr/>
          <p:nvPr/>
        </p:nvSpPr>
        <p:spPr>
          <a:xfrm>
            <a:off x="2212848" y="4956048"/>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0.95</a:t>
            </a:r>
            <a:endParaRPr lang="en-US" sz="950" dirty="0"/>
          </a:p>
        </p:txBody>
      </p:sp>
      <p:sp>
        <p:nvSpPr>
          <p:cNvPr id="23" name="Text 20"/>
          <p:cNvSpPr/>
          <p:nvPr/>
        </p:nvSpPr>
        <p:spPr>
          <a:xfrm>
            <a:off x="749808" y="5193792"/>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식별자 제거율</a:t>
            </a:r>
            <a:endParaRPr lang="en-US" sz="950" dirty="0"/>
          </a:p>
        </p:txBody>
      </p:sp>
      <p:sp>
        <p:nvSpPr>
          <p:cNvPr id="24" name="Text 21"/>
          <p:cNvSpPr/>
          <p:nvPr/>
        </p:nvSpPr>
        <p:spPr>
          <a:xfrm>
            <a:off x="2212848" y="5193792"/>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99.9% → 허용 미탐 4건 이내</a:t>
            </a:r>
            <a:endParaRPr lang="en-US" sz="950" dirty="0"/>
          </a:p>
        </p:txBody>
      </p:sp>
      <p:sp>
        <p:nvSpPr>
          <p:cNvPr id="25" name="Text 22"/>
          <p:cNvSpPr/>
          <p:nvPr/>
        </p:nvSpPr>
        <p:spPr>
          <a:xfrm>
            <a:off x="749808" y="5431536"/>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표본검수</a:t>
            </a:r>
            <a:endParaRPr lang="en-US" sz="950" dirty="0"/>
          </a:p>
        </p:txBody>
      </p:sp>
      <p:sp>
        <p:nvSpPr>
          <p:cNvPr id="26" name="Text 23"/>
          <p:cNvSpPr/>
          <p:nvPr/>
        </p:nvSpPr>
        <p:spPr>
          <a:xfrm>
            <a:off x="2212848" y="5431536"/>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10%</a:t>
            </a:r>
            <a:endParaRPr lang="en-US" sz="950" dirty="0"/>
          </a:p>
        </p:txBody>
      </p:sp>
      <p:sp>
        <p:nvSpPr>
          <p:cNvPr id="27" name="Text 24"/>
          <p:cNvSpPr/>
          <p:nvPr/>
        </p:nvSpPr>
        <p:spPr>
          <a:xfrm>
            <a:off x="749808" y="5669280"/>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출처</a:t>
            </a:r>
            <a:endParaRPr lang="en-US" sz="950" dirty="0"/>
          </a:p>
        </p:txBody>
      </p:sp>
      <p:sp>
        <p:nvSpPr>
          <p:cNvPr id="28" name="Text 25"/>
          <p:cNvSpPr/>
          <p:nvPr/>
        </p:nvSpPr>
        <p:spPr>
          <a:xfrm>
            <a:off x="2212848" y="5669280"/>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가명정보 처리 가이드라인 2026.03 별권 제7장</a:t>
            </a:r>
            <a:endParaRPr lang="en-US" sz="950" dirty="0"/>
          </a:p>
        </p:txBody>
      </p:sp>
      <p:sp>
        <p:nvSpPr>
          <p:cNvPr id="29" name="Shape 26"/>
          <p:cNvSpPr/>
          <p:nvPr/>
        </p:nvSpPr>
        <p:spPr>
          <a:xfrm>
            <a:off x="6095848" y="4443984"/>
            <a:ext cx="5528920" cy="1481328"/>
          </a:xfrm>
          <a:prstGeom prst="roundRect">
            <a:avLst>
              <a:gd name="adj" fmla="val 3704"/>
            </a:avLst>
          </a:prstGeom>
          <a:solidFill>
            <a:srgbClr val="FBF4E4"/>
          </a:solidFill>
          <a:ln w="9525">
            <a:solidFill>
              <a:srgbClr val="EFE1C4"/>
            </a:solidFill>
            <a:prstDash val="solid"/>
          </a:ln>
        </p:spPr>
      </p:sp>
      <p:sp>
        <p:nvSpPr>
          <p:cNvPr id="30" name="Shape 27"/>
          <p:cNvSpPr/>
          <p:nvPr/>
        </p:nvSpPr>
        <p:spPr>
          <a:xfrm>
            <a:off x="6260440" y="4572000"/>
            <a:ext cx="2377440" cy="274320"/>
          </a:xfrm>
          <a:prstGeom prst="roundRect">
            <a:avLst>
              <a:gd name="adj" fmla="val 16667"/>
            </a:avLst>
          </a:prstGeom>
          <a:solidFill>
            <a:srgbClr val="8A6410"/>
          </a:solidFill>
          <a:ln w="6350">
            <a:solidFill>
              <a:srgbClr val="8A6410"/>
            </a:solidFill>
            <a:prstDash val="solid"/>
          </a:ln>
        </p:spPr>
      </p:sp>
      <p:sp>
        <p:nvSpPr>
          <p:cNvPr id="31" name="Text 28"/>
          <p:cNvSpPr/>
          <p:nvPr/>
        </p:nvSpPr>
        <p:spPr>
          <a:xfrm>
            <a:off x="6260440" y="4572000"/>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FN·FP 취급 원칙</a:t>
            </a:r>
            <a:endParaRPr lang="en-US" sz="1050" dirty="0"/>
          </a:p>
        </p:txBody>
      </p:sp>
      <p:sp>
        <p:nvSpPr>
          <p:cNvPr id="32" name="Text 29"/>
          <p:cNvSpPr/>
          <p:nvPr/>
        </p:nvSpPr>
        <p:spPr>
          <a:xfrm>
            <a:off x="6278728" y="4956048"/>
            <a:ext cx="5163160" cy="877824"/>
          </a:xfrm>
          <a:prstGeom prst="rect">
            <a:avLst/>
          </a:prstGeom>
          <a:noFill/>
          <a:ln/>
        </p:spPr>
        <p:txBody>
          <a:bodyPr wrap="square" lIns="0" tIns="0" rIns="0" bIns="0" rtlCol="0" anchor="t"/>
          <a:lstStyle/>
          <a:p>
            <a:pPr algn="l" indent="0" marL="0">
              <a:lnSpc>
                <a:spcPct val="120000"/>
              </a:lnSpc>
              <a:spcAft>
                <a:spcPts val="500"/>
              </a:spcAft>
              <a:buNone/>
            </a:pPr>
            <a:r>
              <a:rPr lang="en-US" sz="950" b="1" dirty="0">
                <a:solidFill>
                  <a:srgbClr val="8A6410"/>
                </a:solidFill>
                <a:latin typeface="Malgun Gothic" pitchFamily="34" charset="0"/>
                <a:ea typeface="Malgun Gothic" pitchFamily="34" charset="-122"/>
                <a:cs typeface="Malgun Gothic" pitchFamily="34" charset="-120"/>
              </a:rPr>
              <a:t>미탐(FN) = 개인정보 유출  ·  과탐(FP) = 문맥 손실</a:t>
            </a:r>
            <a:endParaRPr lang="en-US" sz="950" dirty="0"/>
          </a:p>
          <a:p>
            <a:pPr algn="l" indent="0" marL="0">
              <a:lnSpc>
                <a:spcPct val="120000"/>
              </a:lnSpc>
              <a:spcAft>
                <a:spcPts val="500"/>
              </a:spcAft>
              <a:buNone/>
            </a:pPr>
            <a:r>
              <a:rPr lang="en-US" sz="950" dirty="0">
                <a:solidFill>
                  <a:srgbClr val="8A6410"/>
                </a:solidFill>
                <a:latin typeface="Malgun Gothic" pitchFamily="34" charset="0"/>
                <a:ea typeface="Malgun Gothic" pitchFamily="34" charset="-122"/>
                <a:cs typeface="Malgun Gothic" pitchFamily="34" charset="-120"/>
              </a:rPr>
              <a:t>성격이 다른 오류이므로 합산하지 않고 각각 보고합니다. 모델카드 §4.4도 금융 워크플로우에서 양쪽 모두 비용이 발생한다고 명시하고 있습니다.</a:t>
            </a:r>
            <a:endParaRPr lang="en-US" sz="950" dirty="0"/>
          </a:p>
        </p:txBody>
      </p:sp>
      <p:sp>
        <p:nvSpPr>
          <p:cNvPr id="33" name="Text 30"/>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가이드라인은 권고 성격 (본권 p.3)  |  AI 모델 성능 검증은 '과학적 연구'에 해당 (본권 p.26 Q&amp;A)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05</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성능 요약 — 기준선 (bias 0)</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05 / 16</a:t>
            </a:r>
            <a:endParaRPr lang="en-US" sz="1000" dirty="0"/>
          </a:p>
        </p:txBody>
      </p:sp>
      <p:sp>
        <p:nvSpPr>
          <p:cNvPr id="5" name="Shape 3"/>
          <p:cNvSpPr/>
          <p:nvPr/>
        </p:nvSpPr>
        <p:spPr>
          <a:xfrm>
            <a:off x="566928" y="969264"/>
            <a:ext cx="2593010" cy="1225296"/>
          </a:xfrm>
          <a:prstGeom prst="roundRect">
            <a:avLst>
              <a:gd name="adj" fmla="val 4478"/>
            </a:avLst>
          </a:prstGeom>
          <a:solidFill>
            <a:srgbClr val="EDF3FD"/>
          </a:solidFill>
          <a:ln w="9525">
            <a:solidFill>
              <a:srgbClr val="D8E4F7"/>
            </a:solidFill>
            <a:prstDash val="solid"/>
          </a:ln>
        </p:spPr>
      </p:sp>
      <p:sp>
        <p:nvSpPr>
          <p:cNvPr id="6" name="Text 4"/>
          <p:cNvSpPr/>
          <p:nvPr/>
        </p:nvSpPr>
        <p:spPr>
          <a:xfrm>
            <a:off x="694944" y="1078992"/>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a:t>
            </a:r>
            <a:endParaRPr lang="en-US" sz="950" dirty="0"/>
          </a:p>
        </p:txBody>
      </p:sp>
      <p:sp>
        <p:nvSpPr>
          <p:cNvPr id="7" name="Text 5"/>
          <p:cNvSpPr/>
          <p:nvPr/>
        </p:nvSpPr>
        <p:spPr>
          <a:xfrm>
            <a:off x="694944" y="1298448"/>
            <a:ext cx="2336978" cy="621792"/>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86.17%</a:t>
            </a:r>
            <a:endParaRPr lang="en-US" sz="2100" dirty="0"/>
          </a:p>
        </p:txBody>
      </p:sp>
      <p:sp>
        <p:nvSpPr>
          <p:cNvPr id="8" name="Text 6"/>
          <p:cNvSpPr/>
          <p:nvPr/>
        </p:nvSpPr>
        <p:spPr>
          <a:xfrm>
            <a:off x="694944" y="1883664"/>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24,489 / 28,420</a:t>
            </a:r>
            <a:endParaRPr lang="en-US" sz="900" dirty="0"/>
          </a:p>
        </p:txBody>
      </p:sp>
      <p:sp>
        <p:nvSpPr>
          <p:cNvPr id="9" name="Shape 7"/>
          <p:cNvSpPr/>
          <p:nvPr/>
        </p:nvSpPr>
        <p:spPr>
          <a:xfrm>
            <a:off x="3388538" y="969264"/>
            <a:ext cx="2593010" cy="1225296"/>
          </a:xfrm>
          <a:prstGeom prst="roundRect">
            <a:avLst>
              <a:gd name="adj" fmla="val 4478"/>
            </a:avLst>
          </a:prstGeom>
          <a:solidFill>
            <a:srgbClr val="1E2761"/>
          </a:solidFill>
          <a:ln w="9525">
            <a:solidFill>
              <a:srgbClr val="1E2761"/>
            </a:solidFill>
            <a:prstDash val="solid"/>
          </a:ln>
        </p:spPr>
      </p:sp>
      <p:sp>
        <p:nvSpPr>
          <p:cNvPr id="10" name="Text 8"/>
          <p:cNvSpPr/>
          <p:nvPr/>
        </p:nvSpPr>
        <p:spPr>
          <a:xfrm>
            <a:off x="3516554" y="1078992"/>
            <a:ext cx="2336978"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F2 (종합 지표)</a:t>
            </a:r>
            <a:endParaRPr lang="en-US" sz="950" dirty="0"/>
          </a:p>
        </p:txBody>
      </p:sp>
      <p:sp>
        <p:nvSpPr>
          <p:cNvPr id="11" name="Text 9"/>
          <p:cNvSpPr/>
          <p:nvPr/>
        </p:nvSpPr>
        <p:spPr>
          <a:xfrm>
            <a:off x="3516554" y="1298448"/>
            <a:ext cx="2336978" cy="621792"/>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0.7157</a:t>
            </a:r>
            <a:endParaRPr lang="en-US" sz="2100" dirty="0"/>
          </a:p>
        </p:txBody>
      </p:sp>
      <p:sp>
        <p:nvSpPr>
          <p:cNvPr id="12" name="Text 10"/>
          <p:cNvSpPr/>
          <p:nvPr/>
        </p:nvSpPr>
        <p:spPr>
          <a:xfrm>
            <a:off x="3516554" y="1883664"/>
            <a:ext cx="2336978"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F1 0.5706</a:t>
            </a:r>
            <a:endParaRPr lang="en-US" sz="900" dirty="0"/>
          </a:p>
        </p:txBody>
      </p:sp>
      <p:sp>
        <p:nvSpPr>
          <p:cNvPr id="13" name="Shape 11"/>
          <p:cNvSpPr/>
          <p:nvPr/>
        </p:nvSpPr>
        <p:spPr>
          <a:xfrm>
            <a:off x="6210148" y="969264"/>
            <a:ext cx="2593010" cy="1225296"/>
          </a:xfrm>
          <a:prstGeom prst="roundRect">
            <a:avLst>
              <a:gd name="adj" fmla="val 4478"/>
            </a:avLst>
          </a:prstGeom>
          <a:solidFill>
            <a:srgbClr val="FBEDEC"/>
          </a:solidFill>
          <a:ln w="9525">
            <a:solidFill>
              <a:srgbClr val="EFD4D2"/>
            </a:solidFill>
            <a:prstDash val="solid"/>
          </a:ln>
        </p:spPr>
      </p:sp>
      <p:sp>
        <p:nvSpPr>
          <p:cNvPr id="14" name="Text 12"/>
          <p:cNvSpPr/>
          <p:nvPr/>
        </p:nvSpPr>
        <p:spPr>
          <a:xfrm>
            <a:off x="6338164" y="1078992"/>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미탐 (FN)</a:t>
            </a:r>
            <a:endParaRPr lang="en-US" sz="950" dirty="0"/>
          </a:p>
        </p:txBody>
      </p:sp>
      <p:sp>
        <p:nvSpPr>
          <p:cNvPr id="15" name="Text 13"/>
          <p:cNvSpPr/>
          <p:nvPr/>
        </p:nvSpPr>
        <p:spPr>
          <a:xfrm>
            <a:off x="6338164" y="1298448"/>
            <a:ext cx="2336978" cy="62179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13.83%</a:t>
            </a:r>
            <a:endParaRPr lang="en-US" sz="2100" dirty="0"/>
          </a:p>
        </p:txBody>
      </p:sp>
      <p:sp>
        <p:nvSpPr>
          <p:cNvPr id="16" name="Text 14"/>
          <p:cNvSpPr/>
          <p:nvPr/>
        </p:nvSpPr>
        <p:spPr>
          <a:xfrm>
            <a:off x="6338164" y="1883664"/>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3,931 / 28,420</a:t>
            </a:r>
            <a:endParaRPr lang="en-US" sz="900" dirty="0"/>
          </a:p>
        </p:txBody>
      </p:sp>
      <p:sp>
        <p:nvSpPr>
          <p:cNvPr id="17" name="Shape 15"/>
          <p:cNvSpPr/>
          <p:nvPr/>
        </p:nvSpPr>
        <p:spPr>
          <a:xfrm>
            <a:off x="9031757" y="969264"/>
            <a:ext cx="2593010" cy="1225296"/>
          </a:xfrm>
          <a:prstGeom prst="roundRect">
            <a:avLst>
              <a:gd name="adj" fmla="val 4478"/>
            </a:avLst>
          </a:prstGeom>
          <a:solidFill>
            <a:srgbClr val="FBEDEC"/>
          </a:solidFill>
          <a:ln w="9525">
            <a:solidFill>
              <a:srgbClr val="EFD4D2"/>
            </a:solidFill>
            <a:prstDash val="solid"/>
          </a:ln>
        </p:spPr>
      </p:sp>
      <p:sp>
        <p:nvSpPr>
          <p:cNvPr id="18" name="Text 16"/>
          <p:cNvSpPr/>
          <p:nvPr/>
        </p:nvSpPr>
        <p:spPr>
          <a:xfrm>
            <a:off x="9159773" y="1078992"/>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문서 단위 미탐</a:t>
            </a:r>
            <a:endParaRPr lang="en-US" sz="950" dirty="0"/>
          </a:p>
        </p:txBody>
      </p:sp>
      <p:sp>
        <p:nvSpPr>
          <p:cNvPr id="19" name="Text 17"/>
          <p:cNvSpPr/>
          <p:nvPr/>
        </p:nvSpPr>
        <p:spPr>
          <a:xfrm>
            <a:off x="9159773" y="1298448"/>
            <a:ext cx="2336978" cy="62179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68.00%</a:t>
            </a:r>
            <a:endParaRPr lang="en-US" sz="2100" dirty="0"/>
          </a:p>
        </p:txBody>
      </p:sp>
      <p:sp>
        <p:nvSpPr>
          <p:cNvPr id="20" name="Text 18"/>
          <p:cNvSpPr/>
          <p:nvPr/>
        </p:nvSpPr>
        <p:spPr>
          <a:xfrm>
            <a:off x="9159773" y="1883664"/>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2,040 / 3,000</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57839" cy="914400"/>
        </p:xfrm>
        <a:graphic>
          <a:graphicData uri="http://schemas.openxmlformats.org/drawingml/2006/table">
            <a:tbl>
              <a:tblPr/>
              <a:tblGrid>
                <a:gridCol w="2286000"/>
                <a:gridCol w="2377440"/>
                <a:gridCol w="1188720"/>
                <a:gridCol w="5205679"/>
              </a:tblGrid>
              <a:tr h="25146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값</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비고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24,489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스팬을 예측이 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14,784 / 34,658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42.66%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예측 스팬을 정답이 포함 — 경계 과확장 영향 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F1 / 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0.5706 / 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조화평균이므로 분수 환원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미탐 (FN)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3,931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13.83%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완전미탐 2,139 + 부분노출 705 + 분할피복 1,087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 (FP)</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19,874 / 34,658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57.34%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FN과 합산하지 않음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EM (경계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11,084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39.00%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경계 정확도 진단용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 마스킹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960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32.00%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 전부를 덮은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 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6,940 / 7,689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주민·외국인·여권·운전면허</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22" name="Shape 19"/>
          <p:cNvSpPr/>
          <p:nvPr/>
        </p:nvSpPr>
        <p:spPr>
          <a:xfrm>
            <a:off x="566928" y="4791456"/>
            <a:ext cx="11057839" cy="731520"/>
          </a:xfrm>
          <a:prstGeom prst="roundRect">
            <a:avLst>
              <a:gd name="adj" fmla="val 7500"/>
            </a:avLst>
          </a:prstGeom>
          <a:solidFill>
            <a:srgbClr val="EDF3FD"/>
          </a:solidFill>
          <a:ln w="9525">
            <a:solidFill>
              <a:srgbClr val="EDF3FD"/>
            </a:solidFill>
            <a:prstDash val="solid"/>
          </a:ln>
        </p:spPr>
      </p:sp>
      <p:sp>
        <p:nvSpPr>
          <p:cNvPr id="23" name="Text 20"/>
          <p:cNvSpPr/>
          <p:nvPr/>
        </p:nvSpPr>
        <p:spPr>
          <a:xfrm>
            <a:off x="713232" y="4828032"/>
            <a:ext cx="10765231" cy="658368"/>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제작사 공표 한국어 재현율 0.887 (Model Card Table 7) 대비 자체 실측 86.17% — 근접한 범위입니다.</a:t>
            </a:r>
            <a:endParaRPr lang="en-US" sz="950" dirty="0"/>
          </a:p>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매칭 규칙이 상이하므로 직접 비교는 아니지만, 자체 구축 테스트셋이 제작사 문서와 어긋나지 않음을 교차 확인한 결과로 봅니다.</a:t>
            </a:r>
            <a:endParaRPr lang="en-US" sz="950" dirty="0"/>
          </a:p>
        </p:txBody>
      </p:sp>
      <p:sp>
        <p:nvSpPr>
          <p:cNvPr id="24" name="Shape 21"/>
          <p:cNvSpPr/>
          <p:nvPr/>
        </p:nvSpPr>
        <p:spPr>
          <a:xfrm>
            <a:off x="566928" y="5650992"/>
            <a:ext cx="11057839" cy="457200"/>
          </a:xfrm>
          <a:prstGeom prst="roundRect">
            <a:avLst>
              <a:gd name="adj" fmla="val 12000"/>
            </a:avLst>
          </a:prstGeom>
          <a:solidFill>
            <a:srgbClr val="FBF4E4"/>
          </a:solidFill>
          <a:ln w="9525">
            <a:solidFill>
              <a:srgbClr val="FBF4E4"/>
            </a:solidFill>
            <a:prstDash val="solid"/>
          </a:ln>
        </p:spPr>
      </p:sp>
      <p:sp>
        <p:nvSpPr>
          <p:cNvPr id="25" name="Text 22"/>
          <p:cNvSpPr/>
          <p:nvPr/>
        </p:nvSpPr>
        <p:spPr>
          <a:xfrm>
            <a:off x="713232" y="5687568"/>
            <a:ext cx="10765231" cy="384048"/>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다만 F2 0.7157은 참조 기준치 F1 0.95에 미달합니다. 지표 미달 자체보다 중요한 것은 다음 장의 문서 단위 미탐입니다.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06</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문서 단위 미탐 — 컴플라이언스 핵심 지표</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06 / 16</a:t>
            </a:r>
            <a:endParaRPr lang="en-US" sz="1000" dirty="0"/>
          </a:p>
        </p:txBody>
      </p:sp>
      <p:sp>
        <p:nvSpPr>
          <p:cNvPr id="5" name="Shape 3"/>
          <p:cNvSpPr/>
          <p:nvPr/>
        </p:nvSpPr>
        <p:spPr>
          <a:xfrm>
            <a:off x="566928" y="932688"/>
            <a:ext cx="11057839" cy="969264"/>
          </a:xfrm>
          <a:prstGeom prst="roundRect">
            <a:avLst>
              <a:gd name="adj" fmla="val 5660"/>
            </a:avLst>
          </a:prstGeom>
          <a:solidFill>
            <a:srgbClr val="FBEDEC"/>
          </a:solidFill>
          <a:ln w="9525">
            <a:solidFill>
              <a:srgbClr val="EFD4D2"/>
            </a:solidFill>
            <a:prstDash val="solid"/>
          </a:ln>
        </p:spPr>
      </p:sp>
      <p:sp>
        <p:nvSpPr>
          <p:cNvPr id="6" name="Text 4"/>
          <p:cNvSpPr/>
          <p:nvPr/>
        </p:nvSpPr>
        <p:spPr>
          <a:xfrm>
            <a:off x="841248" y="1042416"/>
            <a:ext cx="1737360" cy="731520"/>
          </a:xfrm>
          <a:prstGeom prst="rect">
            <a:avLst/>
          </a:prstGeom>
          <a:noFill/>
          <a:ln/>
        </p:spPr>
        <p:txBody>
          <a:bodyPr wrap="square" lIns="0" tIns="0" rIns="0" bIns="0" rtlCol="0" anchor="ctr"/>
          <a:lstStyle/>
          <a:p>
            <a:pPr algn="l" indent="0" marL="0">
              <a:buNone/>
            </a:pPr>
            <a:r>
              <a:rPr lang="en-US" sz="3000" b="1" dirty="0">
                <a:solidFill>
                  <a:srgbClr val="5C6273"/>
                </a:solidFill>
                <a:latin typeface="Malgun Gothic" pitchFamily="34" charset="0"/>
                <a:ea typeface="Malgun Gothic" pitchFamily="34" charset="-122"/>
                <a:cs typeface="Malgun Gothic" pitchFamily="34" charset="-120"/>
              </a:rPr>
              <a:t>13.83%</a:t>
            </a:r>
            <a:endParaRPr lang="en-US" sz="3000" dirty="0"/>
          </a:p>
        </p:txBody>
      </p:sp>
      <p:sp>
        <p:nvSpPr>
          <p:cNvPr id="7" name="Text 5"/>
          <p:cNvSpPr/>
          <p:nvPr/>
        </p:nvSpPr>
        <p:spPr>
          <a:xfrm>
            <a:off x="2624328" y="1042416"/>
            <a:ext cx="1371600" cy="731520"/>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스팬 미탐률</a:t>
            </a:r>
            <a:endParaRPr lang="en-US" sz="900" dirty="0"/>
          </a:p>
          <a:p>
            <a:pPr algn="l" indent="0" marL="0">
              <a:buNone/>
            </a:pPr>
            <a:r>
              <a:rPr lang="en-US" sz="900" dirty="0">
                <a:solidFill>
                  <a:srgbClr val="5C6273"/>
                </a:solidFill>
                <a:latin typeface="Malgun Gothic" pitchFamily="34" charset="0"/>
                <a:ea typeface="Malgun Gothic" pitchFamily="34" charset="-122"/>
                <a:cs typeface="Malgun Gothic" pitchFamily="34" charset="-120"/>
              </a:rPr>
              <a:t>3,931 / 28,420</a:t>
            </a:r>
            <a:endParaRPr lang="en-US" sz="900" dirty="0"/>
          </a:p>
        </p:txBody>
      </p:sp>
      <p:sp>
        <p:nvSpPr>
          <p:cNvPr id="8" name="Shape 6"/>
          <p:cNvSpPr/>
          <p:nvPr/>
        </p:nvSpPr>
        <p:spPr>
          <a:xfrm>
            <a:off x="4087368" y="1298448"/>
            <a:ext cx="640080" cy="237744"/>
          </a:xfrm>
          <a:prstGeom prst="rightArrow">
            <a:avLst/>
          </a:prstGeom>
          <a:solidFill>
            <a:srgbClr val="8E2420"/>
          </a:solidFill>
          <a:ln w="12700">
            <a:solidFill>
              <a:srgbClr val="8E2420"/>
            </a:solidFill>
            <a:prstDash val="solid"/>
          </a:ln>
        </p:spPr>
      </p:sp>
      <p:sp>
        <p:nvSpPr>
          <p:cNvPr id="9" name="Text 7"/>
          <p:cNvSpPr/>
          <p:nvPr/>
        </p:nvSpPr>
        <p:spPr>
          <a:xfrm>
            <a:off x="3767328" y="1517904"/>
            <a:ext cx="1371600" cy="219456"/>
          </a:xfrm>
          <a:prstGeom prst="rect">
            <a:avLst/>
          </a:prstGeom>
          <a:noFill/>
          <a:ln/>
        </p:spPr>
        <p:txBody>
          <a:bodyPr wrap="square" lIns="0" tIns="0" rIns="0" bIns="0" rtlCol="0" anchor="ctr"/>
          <a:lstStyle/>
          <a:p>
            <a:pPr algn="ctr" indent="0" marL="0">
              <a:buNone/>
            </a:pPr>
            <a:r>
              <a:rPr lang="en-US" sz="850" dirty="0">
                <a:solidFill>
                  <a:srgbClr val="8E2420"/>
                </a:solidFill>
                <a:latin typeface="Malgun Gothic" pitchFamily="34" charset="0"/>
                <a:ea typeface="Malgun Gothic" pitchFamily="34" charset="-122"/>
                <a:cs typeface="Malgun Gothic" pitchFamily="34" charset="-120"/>
              </a:rPr>
              <a:t>문서당 평균 9.5스팬</a:t>
            </a:r>
            <a:endParaRPr lang="en-US" sz="850" dirty="0"/>
          </a:p>
        </p:txBody>
      </p:sp>
      <p:sp>
        <p:nvSpPr>
          <p:cNvPr id="10" name="Text 8"/>
          <p:cNvSpPr/>
          <p:nvPr/>
        </p:nvSpPr>
        <p:spPr>
          <a:xfrm>
            <a:off x="5184648" y="1042416"/>
            <a:ext cx="1828800" cy="731520"/>
          </a:xfrm>
          <a:prstGeom prst="rect">
            <a:avLst/>
          </a:prstGeom>
          <a:noFill/>
          <a:ln/>
        </p:spPr>
        <p:txBody>
          <a:bodyPr wrap="square" lIns="0" tIns="0" rIns="0" bIns="0" rtlCol="0" anchor="ctr"/>
          <a:lstStyle/>
          <a:p>
            <a:pPr algn="l" indent="0" marL="0">
              <a:buNone/>
            </a:pPr>
            <a:r>
              <a:rPr lang="en-US" sz="3000" b="1" dirty="0">
                <a:solidFill>
                  <a:srgbClr val="8E2420"/>
                </a:solidFill>
                <a:latin typeface="Malgun Gothic" pitchFamily="34" charset="0"/>
                <a:ea typeface="Malgun Gothic" pitchFamily="34" charset="-122"/>
                <a:cs typeface="Malgun Gothic" pitchFamily="34" charset="-120"/>
              </a:rPr>
              <a:t>68.00%</a:t>
            </a:r>
            <a:endParaRPr lang="en-US" sz="3000" dirty="0"/>
          </a:p>
        </p:txBody>
      </p:sp>
      <p:sp>
        <p:nvSpPr>
          <p:cNvPr id="11" name="Text 9"/>
          <p:cNvSpPr/>
          <p:nvPr/>
        </p:nvSpPr>
        <p:spPr>
          <a:xfrm>
            <a:off x="6967728" y="1042416"/>
            <a:ext cx="1554480" cy="731520"/>
          </a:xfrm>
          <a:prstGeom prst="rect">
            <a:avLst/>
          </a:prstGeom>
          <a:noFill/>
          <a:ln/>
        </p:spPr>
        <p:txBody>
          <a:bodyPr wrap="square" lIns="0" tIns="0" rIns="0" bIns="0" rtlCol="0" anchor="ctr"/>
          <a:lstStyle/>
          <a:p>
            <a:pPr algn="l" indent="0" marL="0">
              <a:buNone/>
            </a:pPr>
            <a:r>
              <a:rPr lang="en-US" sz="900" b="1" dirty="0">
                <a:solidFill>
                  <a:srgbClr val="8E2420"/>
                </a:solidFill>
                <a:latin typeface="Malgun Gothic" pitchFamily="34" charset="0"/>
                <a:ea typeface="Malgun Gothic" pitchFamily="34" charset="-122"/>
                <a:cs typeface="Malgun Gothic" pitchFamily="34" charset="-120"/>
              </a:rPr>
              <a:t>문서 단위 미탐률</a:t>
            </a:r>
            <a:endParaRPr lang="en-US" sz="900" dirty="0"/>
          </a:p>
          <a:p>
            <a:pPr algn="l" indent="0" marL="0">
              <a:buNone/>
            </a:pPr>
            <a:r>
              <a:rPr lang="en-US" sz="900" b="1" dirty="0">
                <a:solidFill>
                  <a:srgbClr val="8E2420"/>
                </a:solidFill>
                <a:latin typeface="Malgun Gothic" pitchFamily="34" charset="0"/>
                <a:ea typeface="Malgun Gothic" pitchFamily="34" charset="-122"/>
                <a:cs typeface="Malgun Gothic" pitchFamily="34" charset="-120"/>
              </a:rPr>
              <a:t>2,040 / 3,000</a:t>
            </a:r>
            <a:endParaRPr lang="en-US" sz="900" dirty="0"/>
          </a:p>
        </p:txBody>
      </p:sp>
      <p:sp>
        <p:nvSpPr>
          <p:cNvPr id="12" name="Text 10"/>
          <p:cNvSpPr/>
          <p:nvPr/>
        </p:nvSpPr>
        <p:spPr>
          <a:xfrm>
            <a:off x="8613648" y="1042416"/>
            <a:ext cx="2736799" cy="731520"/>
          </a:xfrm>
          <a:prstGeom prst="rect">
            <a:avLst/>
          </a:prstGeom>
          <a:noFill/>
          <a:ln/>
        </p:spPr>
        <p:txBody>
          <a:bodyPr wrap="square" lIns="0" tIns="0" rIns="0" bIns="0" rtlCol="0" anchor="ctr"/>
          <a:lstStyle/>
          <a:p>
            <a:pPr algn="l" indent="0" marL="0">
              <a:lnSpc>
                <a:spcPct val="120000"/>
              </a:lnSpc>
              <a:buNone/>
            </a:pPr>
            <a:r>
              <a:rPr lang="en-US" sz="1050" b="1" dirty="0">
                <a:solidFill>
                  <a:srgbClr val="8E2420"/>
                </a:solidFill>
                <a:latin typeface="Malgun Gothic" pitchFamily="34" charset="0"/>
                <a:ea typeface="Malgun Gothic" pitchFamily="34" charset="-122"/>
                <a:cs typeface="Malgun Gothic" pitchFamily="34" charset="-120"/>
              </a:rPr>
              <a:t>스팬 100건 중 14건을 놓치면, 문서 100건 중 68건에 개인정보가 남습니다.</a:t>
            </a:r>
            <a:endParaRPr lang="en-US" sz="1050" dirty="0"/>
          </a:p>
        </p:txBody>
      </p:sp>
      <p:graphicFrame>
        <p:nvGraphicFramePr>
          <p:cNvPr id="13" name="Chart 0" descr=""/>
          <p:cNvGraphicFramePr/>
          <p:nvPr/>
        </p:nvGraphicFramePr>
        <p:xfrm>
          <a:off x="566928" y="2048256"/>
          <a:ext cx="58064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93408" y="2048256"/>
          <a:ext cx="4931359" cy="914400"/>
        </p:xfrm>
        <a:graphic>
          <a:graphicData uri="http://schemas.openxmlformats.org/drawingml/2006/table">
            <a:tbl>
              <a:tblPr/>
              <a:tblGrid>
                <a:gridCol w="1234440"/>
                <a:gridCol w="1600200"/>
                <a:gridCol w="1325880"/>
                <a:gridCol w="770839"/>
              </a:tblGrid>
              <a:tr h="263347">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그룹</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문서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국문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696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영문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281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232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217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214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카드번호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148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4.93%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116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78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계좌번호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이메일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중복 제거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2,040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68.00%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15" name="Text 11"/>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판정 규칙 : 한 문서의 정답 스팬 중 하나라도 완전 미탐 또는 부분 노출이면 해당 문서를 '미탐 포함 문서'로 계수  |  완전 마스킹 문서 960 / 3,000 (32.00%)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07</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고유식별정보 4종 — 기준 미충족</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07 / 16</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969264"/>
          <a:ext cx="11057839" cy="914400"/>
        </p:xfrm>
        <a:graphic>
          <a:graphicData uri="http://schemas.openxmlformats.org/drawingml/2006/table">
            <a:tbl>
              <a:tblPr/>
              <a:tblGrid>
                <a:gridCol w="1920240"/>
                <a:gridCol w="1051560"/>
                <a:gridCol w="1691640"/>
                <a:gridCol w="960120"/>
                <a:gridCol w="868680"/>
                <a:gridCol w="1463040"/>
                <a:gridCol w="3102559"/>
              </a:tblGrid>
              <a:tr h="30175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문서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217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2,909 / 3,320 (87.62%)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1,398 / 1,580 (88.48%)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 / 1,283 (1.40%)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214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1,202 / 1,506 (79.81%)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6,940 / 7,689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749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625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5,527 / 7,689 (71.88%)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566928" y="2889504"/>
            <a:ext cx="5391760" cy="1463040"/>
          </a:xfrm>
          <a:prstGeom prst="roundRect">
            <a:avLst>
              <a:gd name="adj" fmla="val 3750"/>
            </a:avLst>
          </a:prstGeom>
          <a:solidFill>
            <a:srgbClr val="FBEDEC"/>
          </a:solidFill>
          <a:ln w="9525">
            <a:solidFill>
              <a:srgbClr val="EFD4D2"/>
            </a:solidFill>
            <a:prstDash val="solid"/>
          </a:ln>
        </p:spPr>
      </p:sp>
      <p:sp>
        <p:nvSpPr>
          <p:cNvPr id="7" name="Shape 4"/>
          <p:cNvSpPr/>
          <p:nvPr/>
        </p:nvSpPr>
        <p:spPr>
          <a:xfrm>
            <a:off x="731520" y="3017520"/>
            <a:ext cx="1737360" cy="274320"/>
          </a:xfrm>
          <a:prstGeom prst="roundRect">
            <a:avLst>
              <a:gd name="adj" fmla="val 16667"/>
            </a:avLst>
          </a:prstGeom>
          <a:solidFill>
            <a:srgbClr val="8E2420"/>
          </a:solidFill>
          <a:ln w="6350">
            <a:solidFill>
              <a:srgbClr val="8E2420"/>
            </a:solidFill>
            <a:prstDash val="solid"/>
          </a:ln>
        </p:spPr>
      </p:sp>
      <p:sp>
        <p:nvSpPr>
          <p:cNvPr id="8" name="Text 5"/>
          <p:cNvSpPr/>
          <p:nvPr/>
        </p:nvSpPr>
        <p:spPr>
          <a:xfrm>
            <a:off x="731520" y="3017520"/>
            <a:ext cx="17373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판정</a:t>
            </a:r>
            <a:endParaRPr lang="en-US" sz="1050" dirty="0"/>
          </a:p>
        </p:txBody>
      </p:sp>
      <p:sp>
        <p:nvSpPr>
          <p:cNvPr id="9" name="Text 6"/>
          <p:cNvSpPr/>
          <p:nvPr/>
        </p:nvSpPr>
        <p:spPr>
          <a:xfrm>
            <a:off x="2624328" y="2999232"/>
            <a:ext cx="1828800" cy="329184"/>
          </a:xfrm>
          <a:prstGeom prst="rect">
            <a:avLst/>
          </a:prstGeom>
          <a:noFill/>
          <a:ln/>
        </p:spPr>
        <p:txBody>
          <a:bodyPr wrap="square" lIns="0" tIns="0" rIns="0" bIns="0" rtlCol="0" anchor="ctr"/>
          <a:lstStyle/>
          <a:p>
            <a:pPr algn="l" indent="0" marL="0">
              <a:buNone/>
            </a:pPr>
            <a:r>
              <a:rPr lang="en-US" sz="1700" b="1" dirty="0">
                <a:solidFill>
                  <a:srgbClr val="8E2420"/>
                </a:solidFill>
                <a:latin typeface="Malgun Gothic" pitchFamily="34" charset="0"/>
                <a:ea typeface="Malgun Gothic" pitchFamily="34" charset="-122"/>
                <a:cs typeface="Malgun Gothic" pitchFamily="34" charset="-120"/>
              </a:rPr>
              <a:t>미충족</a:t>
            </a:r>
            <a:endParaRPr lang="en-US" sz="1700" dirty="0"/>
          </a:p>
        </p:txBody>
      </p:sp>
      <p:sp>
        <p:nvSpPr>
          <p:cNvPr id="10" name="Text 7"/>
          <p:cNvSpPr/>
          <p:nvPr/>
        </p:nvSpPr>
        <p:spPr>
          <a:xfrm>
            <a:off x="749808" y="3438144"/>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참조 기준</a:t>
            </a:r>
            <a:endParaRPr lang="en-US" sz="950" dirty="0"/>
          </a:p>
        </p:txBody>
      </p:sp>
      <p:sp>
        <p:nvSpPr>
          <p:cNvPr id="11" name="Text 8"/>
          <p:cNvSpPr/>
          <p:nvPr/>
        </p:nvSpPr>
        <p:spPr>
          <a:xfrm>
            <a:off x="2304288" y="3438144"/>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식별자 제거율 99.9%</a:t>
            </a:r>
            <a:endParaRPr lang="en-US" sz="950" dirty="0"/>
          </a:p>
        </p:txBody>
      </p:sp>
      <p:sp>
        <p:nvSpPr>
          <p:cNvPr id="12" name="Text 9"/>
          <p:cNvSpPr/>
          <p:nvPr/>
        </p:nvSpPr>
        <p:spPr>
          <a:xfrm>
            <a:off x="749808" y="3662172"/>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허용 미탐</a:t>
            </a:r>
            <a:endParaRPr lang="en-US" sz="950" dirty="0"/>
          </a:p>
        </p:txBody>
      </p:sp>
      <p:sp>
        <p:nvSpPr>
          <p:cNvPr id="13" name="Text 10"/>
          <p:cNvSpPr/>
          <p:nvPr/>
        </p:nvSpPr>
        <p:spPr>
          <a:xfrm>
            <a:off x="2304288" y="3662172"/>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4건 이내</a:t>
            </a:r>
            <a:endParaRPr lang="en-US" sz="950" dirty="0"/>
          </a:p>
        </p:txBody>
      </p:sp>
      <p:sp>
        <p:nvSpPr>
          <p:cNvPr id="14" name="Text 11"/>
          <p:cNvSpPr/>
          <p:nvPr/>
        </p:nvSpPr>
        <p:spPr>
          <a:xfrm>
            <a:off x="749808" y="3886200"/>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실측 미탐</a:t>
            </a:r>
            <a:endParaRPr lang="en-US" sz="950" dirty="0"/>
          </a:p>
        </p:txBody>
      </p:sp>
      <p:sp>
        <p:nvSpPr>
          <p:cNvPr id="15" name="Text 12"/>
          <p:cNvSpPr/>
          <p:nvPr/>
        </p:nvSpPr>
        <p:spPr>
          <a:xfrm>
            <a:off x="2304288" y="3886200"/>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749건</a:t>
            </a:r>
            <a:endParaRPr lang="en-US" sz="950" dirty="0"/>
          </a:p>
        </p:txBody>
      </p:sp>
      <p:sp>
        <p:nvSpPr>
          <p:cNvPr id="16" name="Text 13"/>
          <p:cNvSpPr/>
          <p:nvPr/>
        </p:nvSpPr>
        <p:spPr>
          <a:xfrm>
            <a:off x="749808" y="4110228"/>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기준 대비</a:t>
            </a:r>
            <a:endParaRPr lang="en-US" sz="950" dirty="0"/>
          </a:p>
        </p:txBody>
      </p:sp>
      <p:sp>
        <p:nvSpPr>
          <p:cNvPr id="17" name="Text 14"/>
          <p:cNvSpPr/>
          <p:nvPr/>
        </p:nvSpPr>
        <p:spPr>
          <a:xfrm>
            <a:off x="2304288" y="4110228"/>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약 187배</a:t>
            </a:r>
            <a:endParaRPr lang="en-US" sz="950" dirty="0"/>
          </a:p>
        </p:txBody>
      </p:sp>
      <p:sp>
        <p:nvSpPr>
          <p:cNvPr id="18" name="Shape 15"/>
          <p:cNvSpPr/>
          <p:nvPr/>
        </p:nvSpPr>
        <p:spPr>
          <a:xfrm>
            <a:off x="6233008" y="2889504"/>
            <a:ext cx="5391760" cy="1463040"/>
          </a:xfrm>
          <a:prstGeom prst="roundRect">
            <a:avLst>
              <a:gd name="adj" fmla="val 3750"/>
            </a:avLst>
          </a:prstGeom>
          <a:solidFill>
            <a:srgbClr val="F7F8FB"/>
          </a:solidFill>
          <a:ln w="9525">
            <a:solidFill>
              <a:srgbClr val="DFE3EC"/>
            </a:solidFill>
            <a:prstDash val="solid"/>
          </a:ln>
        </p:spPr>
      </p:sp>
      <p:sp>
        <p:nvSpPr>
          <p:cNvPr id="19" name="Shape 16"/>
          <p:cNvSpPr/>
          <p:nvPr/>
        </p:nvSpPr>
        <p:spPr>
          <a:xfrm>
            <a:off x="6397600" y="3017520"/>
            <a:ext cx="2194560" cy="274320"/>
          </a:xfrm>
          <a:prstGeom prst="roundRect">
            <a:avLst>
              <a:gd name="adj" fmla="val 16667"/>
            </a:avLst>
          </a:prstGeom>
          <a:solidFill>
            <a:srgbClr val="8A6410"/>
          </a:solidFill>
          <a:ln w="6350">
            <a:solidFill>
              <a:srgbClr val="8A6410"/>
            </a:solidFill>
            <a:prstDash val="solid"/>
          </a:ln>
        </p:spPr>
      </p:sp>
      <p:sp>
        <p:nvSpPr>
          <p:cNvPr id="20" name="Text 17"/>
          <p:cNvSpPr/>
          <p:nvPr/>
        </p:nvSpPr>
        <p:spPr>
          <a:xfrm>
            <a:off x="6397600" y="3017520"/>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여권번호 EM 특이점</a:t>
            </a:r>
            <a:endParaRPr lang="en-US" sz="1050" dirty="0"/>
          </a:p>
        </p:txBody>
      </p:sp>
      <p:sp>
        <p:nvSpPr>
          <p:cNvPr id="21" name="Text 18"/>
          <p:cNvSpPr/>
          <p:nvPr/>
        </p:nvSpPr>
        <p:spPr>
          <a:xfrm>
            <a:off x="6415888" y="3401568"/>
            <a:ext cx="5026000" cy="786384"/>
          </a:xfrm>
          <a:prstGeom prst="rect">
            <a:avLst/>
          </a:prstGeom>
          <a:noFill/>
          <a:ln/>
        </p:spPr>
        <p:txBody>
          <a:bodyPr wrap="square" lIns="0" tIns="0" rIns="0" bIns="0" rtlCol="0" anchor="t"/>
          <a:lstStyle/>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여권번호는 재현율 93.92%로 4종 중 두 번째로 높지만 EM은 18 / 1,283 (1.40%)입니다. 값은 덮이지만 경계가 거의 항상 어긋난다는 뜻으로, 재현율 지표만으로는 드러나지 않는 경계 불안정성을 보여줍니다.</a:t>
            </a:r>
            <a:endParaRPr lang="en-US" sz="950" dirty="0"/>
          </a:p>
        </p:txBody>
      </p:sp>
      <p:sp>
        <p:nvSpPr>
          <p:cNvPr id="22" name="Shape 19"/>
          <p:cNvSpPr/>
          <p:nvPr/>
        </p:nvSpPr>
        <p:spPr>
          <a:xfrm>
            <a:off x="566928" y="4517136"/>
            <a:ext cx="11057839" cy="1316736"/>
          </a:xfrm>
          <a:prstGeom prst="roundRect">
            <a:avLst>
              <a:gd name="adj" fmla="val 4167"/>
            </a:avLst>
          </a:prstGeom>
          <a:solidFill>
            <a:srgbClr val="1E2761"/>
          </a:solidFill>
          <a:ln w="9525">
            <a:solidFill>
              <a:srgbClr val="1E2761"/>
            </a:solidFill>
            <a:prstDash val="solid"/>
          </a:ln>
        </p:spPr>
      </p:sp>
      <p:sp>
        <p:nvSpPr>
          <p:cNvPr id="23" name="Text 20"/>
          <p:cNvSpPr/>
          <p:nvPr/>
        </p:nvSpPr>
        <p:spPr>
          <a:xfrm>
            <a:off x="822960" y="4626864"/>
            <a:ext cx="2743200" cy="274320"/>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운영상 의미</a:t>
            </a:r>
            <a:endParaRPr lang="en-US" sz="1000" dirty="0"/>
          </a:p>
        </p:txBody>
      </p:sp>
      <p:sp>
        <p:nvSpPr>
          <p:cNvPr id="24" name="Text 21"/>
          <p:cNvSpPr/>
          <p:nvPr/>
        </p:nvSpPr>
        <p:spPr>
          <a:xfrm>
            <a:off x="822960" y="4956048"/>
            <a:ext cx="10545775" cy="749808"/>
          </a:xfrm>
          <a:prstGeom prst="rect">
            <a:avLst/>
          </a:prstGeom>
          <a:noFill/>
          <a:ln/>
        </p:spPr>
        <p:txBody>
          <a:bodyPr wrap="square" lIns="0" tIns="0" rIns="0" bIns="0" rtlCol="0" anchor="t"/>
          <a:lstStyle/>
          <a:p>
            <a:pPr algn="l" indent="0" marL="0">
              <a:lnSpc>
                <a:spcPct val="120000"/>
              </a:lnSpc>
              <a:spcAft>
                <a:spcPts val="500"/>
              </a:spcAft>
              <a:buNone/>
            </a:pPr>
            <a:r>
              <a:rPr lang="en-US" sz="1150" b="1" dirty="0">
                <a:solidFill>
                  <a:srgbClr val="FFFFFF"/>
                </a:solidFill>
                <a:latin typeface="Malgun Gothic" pitchFamily="34" charset="0"/>
                <a:ea typeface="Malgun Gothic" pitchFamily="34" charset="-122"/>
                <a:cs typeface="Malgun Gothic" pitchFamily="34" charset="-120"/>
              </a:rPr>
              <a:t>고유식별정보는 개인정보보호법상 별도 취급 대상이며, 단 1건의 노출도 사고로 처리됩니다.</a:t>
            </a:r>
            <a:endParaRPr lang="en-US" sz="1150" dirty="0"/>
          </a:p>
          <a:p>
            <a:pPr algn="l" indent="0" marL="0">
              <a:lnSpc>
                <a:spcPct val="120000"/>
              </a:lnSpc>
              <a:spcAft>
                <a:spcPts val="500"/>
              </a:spcAft>
              <a:buNone/>
            </a:pPr>
            <a:r>
              <a:rPr lang="en-US" sz="1150" dirty="0">
                <a:solidFill>
                  <a:srgbClr val="FFFFFF"/>
                </a:solidFill>
                <a:latin typeface="Malgun Gothic" pitchFamily="34" charset="0"/>
                <a:ea typeface="Malgun Gothic" pitchFamily="34" charset="-122"/>
                <a:cs typeface="Malgun Gothic" pitchFamily="34" charset="-120"/>
              </a:rPr>
              <a:t>749건 · 문서 625 / 3,000 (20.83%)의 미탐은 OPF 단독 운용이 이 항목군에 대해 충분하지 않다는 근거가 됩니다. 개선안은 12번 장에서 다룹니다.</a:t>
            </a:r>
            <a:endParaRPr lang="en-US" sz="1150" dirty="0"/>
          </a:p>
        </p:txBody>
      </p:sp>
      <p:sp>
        <p:nvSpPr>
          <p:cNvPr id="25" name="Text 22"/>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미탐 = 완전 미탐 + 부분 노출 + 분할 피복  |  문서 미탐 합계는 4종 범위 내 중복 제거 기준</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08</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항목별 재현율 — 형식 확정 vs 문맥 의존</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08 / 16</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7360920" cy="914400"/>
        </p:xfrm>
        <a:graphic>
          <a:graphicData uri="http://schemas.openxmlformats.org/drawingml/2006/table">
            <a:tbl>
              <a:tblPr/>
              <a:tblGrid>
                <a:gridCol w="1417320"/>
                <a:gridCol w="1234440"/>
                <a:gridCol w="731520"/>
                <a:gridCol w="1965960"/>
                <a:gridCol w="685800"/>
                <a:gridCol w="685800"/>
                <a:gridCol w="640080"/>
              </a:tblGrid>
              <a:tr h="258775">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F1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계좌번호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814 / 815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815 / 816 (99.88%)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이메일 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3,090 / 3,095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99.84%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214 / 3,097 (6.91%)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0.1293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0.2706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2,676 / 2,803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95.47%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2,926 / 2,987 (97.96%)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0.9670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0.9596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94 / 1,309 (7.18%)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0.1334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0.2750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1,729 / 1,785 (96.86%)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0.9455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0.9321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3,720 / 3,821 (97.36%)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0.9400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0.9210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카드번호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1,575 / 1,788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88.09%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2,206 / 2,275 (96.97%)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0.9231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0.8973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5,535 / 6,423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645 / 4,784 (13.48%)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0.2332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0.4146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888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1,993 / 2,058 (96.84%)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0.8973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0.8595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영문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1,864 / 2,512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74.20%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304 / 2,009 (15.13%)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0.2514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0.4167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648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국문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1,995 / 3,295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60.55%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138 / 2,066 (6.68%)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0.1203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0.2317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24,489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14,784 / 34,658 (42.66%)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0.5706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3,931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566928" y="4864608"/>
            <a:ext cx="7360920" cy="969264"/>
          </a:xfrm>
          <a:prstGeom prst="roundRect">
            <a:avLst>
              <a:gd name="adj" fmla="val 5660"/>
            </a:avLst>
          </a:prstGeom>
          <a:solidFill>
            <a:srgbClr val="F7F8FB"/>
          </a:solidFill>
          <a:ln w="9525">
            <a:solidFill>
              <a:srgbClr val="DFE3EC"/>
            </a:solidFill>
            <a:prstDash val="solid"/>
          </a:ln>
        </p:spPr>
      </p:sp>
      <p:sp>
        <p:nvSpPr>
          <p:cNvPr id="7" name="Text 4"/>
          <p:cNvSpPr/>
          <p:nvPr/>
        </p:nvSpPr>
        <p:spPr>
          <a:xfrm>
            <a:off x="749808" y="4937760"/>
            <a:ext cx="2926080" cy="237744"/>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미탐 3,931건의 항목군 분해</a:t>
            </a:r>
            <a:endParaRPr lang="en-US" sz="1000" dirty="0"/>
          </a:p>
        </p:txBody>
      </p:sp>
      <p:sp>
        <p:nvSpPr>
          <p:cNvPr id="8" name="Text 5"/>
          <p:cNvSpPr/>
          <p:nvPr/>
        </p:nvSpPr>
        <p:spPr>
          <a:xfrm>
            <a:off x="749808" y="5230368"/>
            <a:ext cx="2286000" cy="219456"/>
          </a:xfrm>
          <a:prstGeom prst="rect">
            <a:avLst/>
          </a:prstGeom>
          <a:noFill/>
          <a:ln/>
        </p:spPr>
        <p:txBody>
          <a:bodyPr wrap="square" lIns="0" tIns="0" rIns="0" bIns="0" rtlCol="0" anchor="ctr"/>
          <a:lstStyle/>
          <a:p>
            <a:pPr algn="l" indent="0" marL="0">
              <a:buNone/>
            </a:pPr>
            <a:r>
              <a:rPr lang="en-US" sz="850" dirty="0">
                <a:solidFill>
                  <a:srgbClr val="5C6273"/>
                </a:solidFill>
                <a:latin typeface="Malgun Gothic" pitchFamily="34" charset="0"/>
                <a:ea typeface="Malgun Gothic" pitchFamily="34" charset="-122"/>
                <a:cs typeface="Malgun Gothic" pitchFamily="34" charset="-120"/>
              </a:rPr>
              <a:t>문맥 의존 (국문·영문 성명 · 주소)</a:t>
            </a:r>
            <a:endParaRPr lang="en-US" sz="850" dirty="0"/>
          </a:p>
        </p:txBody>
      </p:sp>
      <p:sp>
        <p:nvSpPr>
          <p:cNvPr id="9" name="Text 6"/>
          <p:cNvSpPr/>
          <p:nvPr/>
        </p:nvSpPr>
        <p:spPr>
          <a:xfrm>
            <a:off x="749808" y="5449824"/>
            <a:ext cx="2286000" cy="256032"/>
          </a:xfrm>
          <a:prstGeom prst="rect">
            <a:avLst/>
          </a:prstGeom>
          <a:noFill/>
          <a:ln/>
        </p:spPr>
        <p:txBody>
          <a:bodyPr wrap="square" lIns="0" tIns="0" rIns="0" bIns="0" rtlCol="0" anchor="ctr"/>
          <a:lstStyle/>
          <a:p>
            <a:pPr algn="l" indent="0" marL="0">
              <a:buNone/>
            </a:pPr>
            <a:r>
              <a:rPr lang="en-US" sz="1100" b="1" dirty="0">
                <a:solidFill>
                  <a:srgbClr val="8E2420"/>
                </a:solidFill>
                <a:latin typeface="Malgun Gothic" pitchFamily="34" charset="0"/>
                <a:ea typeface="Malgun Gothic" pitchFamily="34" charset="-122"/>
                <a:cs typeface="Malgun Gothic" pitchFamily="34" charset="-120"/>
              </a:rPr>
              <a:t>2,836 / 3,931 (72.14%)</a:t>
            </a:r>
            <a:endParaRPr lang="en-US" sz="1100" dirty="0"/>
          </a:p>
        </p:txBody>
      </p:sp>
      <p:sp>
        <p:nvSpPr>
          <p:cNvPr id="10" name="Text 7"/>
          <p:cNvSpPr/>
          <p:nvPr/>
        </p:nvSpPr>
        <p:spPr>
          <a:xfrm>
            <a:off x="3127248" y="5230368"/>
            <a:ext cx="2286000" cy="219456"/>
          </a:xfrm>
          <a:prstGeom prst="rect">
            <a:avLst/>
          </a:prstGeom>
          <a:noFill/>
          <a:ln/>
        </p:spPr>
        <p:txBody>
          <a:bodyPr wrap="square" lIns="0" tIns="0" rIns="0" bIns="0" rtlCol="0" anchor="ctr"/>
          <a:lstStyle/>
          <a:p>
            <a:pPr algn="l" indent="0" marL="0">
              <a:buNone/>
            </a:pPr>
            <a:r>
              <a:rPr lang="en-US" sz="850" dirty="0">
                <a:solidFill>
                  <a:srgbClr val="5C6273"/>
                </a:solidFill>
                <a:latin typeface="Malgun Gothic" pitchFamily="34" charset="0"/>
                <a:ea typeface="Malgun Gothic" pitchFamily="34" charset="-122"/>
                <a:cs typeface="Malgun Gothic" pitchFamily="34" charset="-120"/>
              </a:rPr>
              <a:t>고유식별 4종 (주민·외국인·여권·운전면허)</a:t>
            </a:r>
            <a:endParaRPr lang="en-US" sz="850" dirty="0"/>
          </a:p>
        </p:txBody>
      </p:sp>
      <p:sp>
        <p:nvSpPr>
          <p:cNvPr id="11" name="Text 8"/>
          <p:cNvSpPr/>
          <p:nvPr/>
        </p:nvSpPr>
        <p:spPr>
          <a:xfrm>
            <a:off x="3127248" y="5449824"/>
            <a:ext cx="2286000" cy="256032"/>
          </a:xfrm>
          <a:prstGeom prst="rect">
            <a:avLst/>
          </a:prstGeom>
          <a:noFill/>
          <a:ln/>
        </p:spPr>
        <p:txBody>
          <a:bodyPr wrap="square" lIns="0" tIns="0" rIns="0" bIns="0" rtlCol="0" anchor="ctr"/>
          <a:lstStyle/>
          <a:p>
            <a:pPr algn="l" indent="0" marL="0">
              <a:buNone/>
            </a:pPr>
            <a:r>
              <a:rPr lang="en-US" sz="1100" b="1" dirty="0">
                <a:solidFill>
                  <a:srgbClr val="16181D"/>
                </a:solidFill>
                <a:latin typeface="Malgun Gothic" pitchFamily="34" charset="0"/>
                <a:ea typeface="Malgun Gothic" pitchFamily="34" charset="-122"/>
                <a:cs typeface="Malgun Gothic" pitchFamily="34" charset="-120"/>
              </a:rPr>
              <a:t>749 / 3,931 (19.05%)</a:t>
            </a:r>
            <a:endParaRPr lang="en-US" sz="1100" dirty="0"/>
          </a:p>
        </p:txBody>
      </p:sp>
      <p:sp>
        <p:nvSpPr>
          <p:cNvPr id="12" name="Text 9"/>
          <p:cNvSpPr/>
          <p:nvPr/>
        </p:nvSpPr>
        <p:spPr>
          <a:xfrm>
            <a:off x="5504688" y="5230368"/>
            <a:ext cx="2286000" cy="219456"/>
          </a:xfrm>
          <a:prstGeom prst="rect">
            <a:avLst/>
          </a:prstGeom>
          <a:noFill/>
          <a:ln/>
        </p:spPr>
        <p:txBody>
          <a:bodyPr wrap="square" lIns="0" tIns="0" rIns="0" bIns="0" rtlCol="0" anchor="ctr"/>
          <a:lstStyle/>
          <a:p>
            <a:pPr algn="l" indent="0" marL="0">
              <a:buNone/>
            </a:pPr>
            <a:r>
              <a:rPr lang="en-US" sz="850" dirty="0">
                <a:solidFill>
                  <a:srgbClr val="5C6273"/>
                </a:solidFill>
                <a:latin typeface="Malgun Gothic" pitchFamily="34" charset="0"/>
                <a:ea typeface="Malgun Gothic" pitchFamily="34" charset="-122"/>
                <a:cs typeface="Malgun Gothic" pitchFamily="34" charset="-120"/>
              </a:rPr>
              <a:t>금융·연락 (계좌·카드·연락처·이메일)</a:t>
            </a:r>
            <a:endParaRPr lang="en-US" sz="850" dirty="0"/>
          </a:p>
        </p:txBody>
      </p:sp>
      <p:sp>
        <p:nvSpPr>
          <p:cNvPr id="13" name="Text 10"/>
          <p:cNvSpPr/>
          <p:nvPr/>
        </p:nvSpPr>
        <p:spPr>
          <a:xfrm>
            <a:off x="5504688" y="5449824"/>
            <a:ext cx="2286000" cy="256032"/>
          </a:xfrm>
          <a:prstGeom prst="rect">
            <a:avLst/>
          </a:prstGeom>
          <a:noFill/>
          <a:ln/>
        </p:spPr>
        <p:txBody>
          <a:bodyPr wrap="square" lIns="0" tIns="0" rIns="0" bIns="0" rtlCol="0" anchor="ctr"/>
          <a:lstStyle/>
          <a:p>
            <a:pPr algn="l" indent="0" marL="0">
              <a:buNone/>
            </a:pPr>
            <a:r>
              <a:rPr lang="en-US" sz="1100" b="1" dirty="0">
                <a:solidFill>
                  <a:srgbClr val="16181D"/>
                </a:solidFill>
                <a:latin typeface="Malgun Gothic" pitchFamily="34" charset="0"/>
                <a:ea typeface="Malgun Gothic" pitchFamily="34" charset="-122"/>
                <a:cs typeface="Malgun Gothic" pitchFamily="34" charset="-120"/>
              </a:rPr>
              <a:t>346 / 3,931 (8.80%)</a:t>
            </a:r>
            <a:endParaRPr lang="en-US" sz="1100" dirty="0"/>
          </a:p>
        </p:txBody>
      </p:sp>
      <p:sp>
        <p:nvSpPr>
          <p:cNvPr id="14" name="Shape 11"/>
          <p:cNvSpPr/>
          <p:nvPr/>
        </p:nvSpPr>
        <p:spPr>
          <a:xfrm>
            <a:off x="8156448" y="950976"/>
            <a:ext cx="3468319" cy="1572768"/>
          </a:xfrm>
          <a:prstGeom prst="roundRect">
            <a:avLst>
              <a:gd name="adj" fmla="val 3488"/>
            </a:avLst>
          </a:prstGeom>
          <a:solidFill>
            <a:srgbClr val="F7F8FB"/>
          </a:solidFill>
          <a:ln w="9525">
            <a:solidFill>
              <a:srgbClr val="DFE3EC"/>
            </a:solidFill>
            <a:prstDash val="solid"/>
          </a:ln>
        </p:spPr>
      </p:sp>
      <p:sp>
        <p:nvSpPr>
          <p:cNvPr id="15" name="Shape 12"/>
          <p:cNvSpPr/>
          <p:nvPr/>
        </p:nvSpPr>
        <p:spPr>
          <a:xfrm>
            <a:off x="8302752" y="1078992"/>
            <a:ext cx="1645920" cy="274320"/>
          </a:xfrm>
          <a:prstGeom prst="roundRect">
            <a:avLst>
              <a:gd name="adj" fmla="val 16667"/>
            </a:avLst>
          </a:prstGeom>
          <a:solidFill>
            <a:srgbClr val="1E2761"/>
          </a:solidFill>
          <a:ln w="6350">
            <a:solidFill>
              <a:srgbClr val="1E2761"/>
            </a:solidFill>
            <a:prstDash val="solid"/>
          </a:ln>
        </p:spPr>
      </p:sp>
      <p:sp>
        <p:nvSpPr>
          <p:cNvPr id="16" name="Text 13"/>
          <p:cNvSpPr/>
          <p:nvPr/>
        </p:nvSpPr>
        <p:spPr>
          <a:xfrm>
            <a:off x="8302752" y="1078992"/>
            <a:ext cx="16459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미탐 원인</a:t>
            </a:r>
            <a:endParaRPr lang="en-US" sz="1050" dirty="0"/>
          </a:p>
        </p:txBody>
      </p:sp>
      <p:sp>
        <p:nvSpPr>
          <p:cNvPr id="17" name="Text 14"/>
          <p:cNvSpPr/>
          <p:nvPr/>
        </p:nvSpPr>
        <p:spPr>
          <a:xfrm>
            <a:off x="8321040" y="1463040"/>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단서 부재</a:t>
            </a:r>
            <a:endParaRPr lang="en-US" sz="950" dirty="0"/>
          </a:p>
        </p:txBody>
      </p:sp>
      <p:sp>
        <p:nvSpPr>
          <p:cNvPr id="18" name="Text 15"/>
          <p:cNvSpPr/>
          <p:nvPr/>
        </p:nvSpPr>
        <p:spPr>
          <a:xfrm>
            <a:off x="9646920" y="1463040"/>
            <a:ext cx="1813255" cy="237744"/>
          </a:xfrm>
          <a:prstGeom prst="rect">
            <a:avLst/>
          </a:prstGeom>
          <a:noFill/>
          <a:ln/>
        </p:spPr>
        <p:txBody>
          <a:bodyPr wrap="square" lIns="0" tIns="0" rIns="0" bIns="0" rtlCol="0" anchor="ct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1,948건 (49.55%)</a:t>
            </a:r>
            <a:endParaRPr lang="en-US" sz="950" dirty="0"/>
          </a:p>
        </p:txBody>
      </p:sp>
      <p:sp>
        <p:nvSpPr>
          <p:cNvPr id="19" name="Text 16"/>
          <p:cNvSpPr/>
          <p:nvPr/>
        </p:nvSpPr>
        <p:spPr>
          <a:xfrm>
            <a:off x="8321040" y="1700784"/>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경계 절단</a:t>
            </a:r>
            <a:endParaRPr lang="en-US" sz="950" dirty="0"/>
          </a:p>
        </p:txBody>
      </p:sp>
      <p:sp>
        <p:nvSpPr>
          <p:cNvPr id="20" name="Text 17"/>
          <p:cNvSpPr/>
          <p:nvPr/>
        </p:nvSpPr>
        <p:spPr>
          <a:xfrm>
            <a:off x="9646920" y="1700784"/>
            <a:ext cx="1813255" cy="237744"/>
          </a:xfrm>
          <a:prstGeom prst="rect">
            <a:avLst/>
          </a:prstGeom>
          <a:noFill/>
          <a:ln/>
        </p:spPr>
        <p:txBody>
          <a:bodyPr wrap="square" lIns="0" tIns="0" rIns="0" bIns="0" rtlCol="0" anchor="ct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888건 (22.59%)</a:t>
            </a:r>
            <a:endParaRPr lang="en-US" sz="950" dirty="0"/>
          </a:p>
        </p:txBody>
      </p:sp>
      <p:sp>
        <p:nvSpPr>
          <p:cNvPr id="21" name="Text 18"/>
          <p:cNvSpPr/>
          <p:nvPr/>
        </p:nvSpPr>
        <p:spPr>
          <a:xfrm>
            <a:off x="8321040" y="1938528"/>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형식 미인식</a:t>
            </a:r>
            <a:endParaRPr lang="en-US" sz="950" dirty="0"/>
          </a:p>
        </p:txBody>
      </p:sp>
      <p:sp>
        <p:nvSpPr>
          <p:cNvPr id="22" name="Text 19"/>
          <p:cNvSpPr/>
          <p:nvPr/>
        </p:nvSpPr>
        <p:spPr>
          <a:xfrm>
            <a:off x="9646920" y="1938528"/>
            <a:ext cx="1813255" cy="237744"/>
          </a:xfrm>
          <a:prstGeom prst="rect">
            <a:avLst/>
          </a:prstGeom>
          <a:noFill/>
          <a:ln/>
        </p:spPr>
        <p:txBody>
          <a:bodyPr wrap="square" lIns="0" tIns="0" rIns="0" bIns="0" rtlCol="0" anchor="ct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375건 (9.54%)</a:t>
            </a:r>
            <a:endParaRPr lang="en-US" sz="950" dirty="0"/>
          </a:p>
        </p:txBody>
      </p:sp>
      <p:sp>
        <p:nvSpPr>
          <p:cNvPr id="23" name="Text 20"/>
          <p:cNvSpPr/>
          <p:nvPr/>
        </p:nvSpPr>
        <p:spPr>
          <a:xfrm>
            <a:off x="8321040" y="2176272"/>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기타·복합</a:t>
            </a:r>
            <a:endParaRPr lang="en-US" sz="950" dirty="0"/>
          </a:p>
        </p:txBody>
      </p:sp>
      <p:sp>
        <p:nvSpPr>
          <p:cNvPr id="24" name="Text 21"/>
          <p:cNvSpPr/>
          <p:nvPr/>
        </p:nvSpPr>
        <p:spPr>
          <a:xfrm>
            <a:off x="9646920" y="2176272"/>
            <a:ext cx="1813255"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720건 (18.32%)</a:t>
            </a:r>
            <a:endParaRPr lang="en-US" sz="950" dirty="0"/>
          </a:p>
        </p:txBody>
      </p:sp>
      <p:sp>
        <p:nvSpPr>
          <p:cNvPr id="25" name="Shape 22"/>
          <p:cNvSpPr/>
          <p:nvPr/>
        </p:nvSpPr>
        <p:spPr>
          <a:xfrm>
            <a:off x="8156448" y="2688336"/>
            <a:ext cx="3468319" cy="1481328"/>
          </a:xfrm>
          <a:prstGeom prst="roundRect">
            <a:avLst>
              <a:gd name="adj" fmla="val 3704"/>
            </a:avLst>
          </a:prstGeom>
          <a:solidFill>
            <a:srgbClr val="EDF3FD"/>
          </a:solidFill>
          <a:ln w="9525">
            <a:solidFill>
              <a:srgbClr val="D0DEF6"/>
            </a:solidFill>
            <a:prstDash val="solid"/>
          </a:ln>
        </p:spPr>
      </p:sp>
      <p:sp>
        <p:nvSpPr>
          <p:cNvPr id="26" name="Shape 23"/>
          <p:cNvSpPr/>
          <p:nvPr/>
        </p:nvSpPr>
        <p:spPr>
          <a:xfrm>
            <a:off x="8302752" y="2816352"/>
            <a:ext cx="2011680" cy="274320"/>
          </a:xfrm>
          <a:prstGeom prst="roundRect">
            <a:avLst>
              <a:gd name="adj" fmla="val 16667"/>
            </a:avLst>
          </a:prstGeom>
          <a:solidFill>
            <a:srgbClr val="1E2761"/>
          </a:solidFill>
          <a:ln w="6350">
            <a:solidFill>
              <a:srgbClr val="1E2761"/>
            </a:solidFill>
            <a:prstDash val="solid"/>
          </a:ln>
        </p:spPr>
      </p:sp>
      <p:sp>
        <p:nvSpPr>
          <p:cNvPr id="27" name="Text 24"/>
          <p:cNvSpPr/>
          <p:nvPr/>
        </p:nvSpPr>
        <p:spPr>
          <a:xfrm>
            <a:off x="8302752" y="281635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형식 확정 항목</a:t>
            </a:r>
            <a:endParaRPr lang="en-US" sz="1050" dirty="0"/>
          </a:p>
        </p:txBody>
      </p:sp>
      <p:sp>
        <p:nvSpPr>
          <p:cNvPr id="28" name="Text 25"/>
          <p:cNvSpPr/>
          <p:nvPr/>
        </p:nvSpPr>
        <p:spPr>
          <a:xfrm>
            <a:off x="8321040" y="3200400"/>
            <a:ext cx="3139135" cy="457200"/>
          </a:xfrm>
          <a:prstGeom prst="rect">
            <a:avLst/>
          </a:prstGeom>
          <a:noFill/>
          <a:ln/>
        </p:spPr>
        <p:txBody>
          <a:bodyPr wrap="square" lIns="0" tIns="0" rIns="0" bIns="0" rtlCol="0" anchor="t"/>
          <a:lstStyle/>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계좌 · 연락처 · 주민 · 외국인 · 카드</a:t>
            </a:r>
            <a:endParaRPr lang="en-US" sz="950" dirty="0"/>
          </a:p>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 재현율 88% 이상, 정밀도도 96% 이상</a:t>
            </a:r>
            <a:endParaRPr lang="en-US" sz="950" dirty="0"/>
          </a:p>
        </p:txBody>
      </p:sp>
      <p:sp>
        <p:nvSpPr>
          <p:cNvPr id="29" name="Text 26"/>
          <p:cNvSpPr/>
          <p:nvPr/>
        </p:nvSpPr>
        <p:spPr>
          <a:xfrm>
            <a:off x="8321040" y="3694176"/>
            <a:ext cx="3139135" cy="384048"/>
          </a:xfrm>
          <a:prstGeom prst="rect">
            <a:avLst/>
          </a:prstGeom>
          <a:noFill/>
          <a:ln/>
        </p:spPr>
        <p:txBody>
          <a:bodyPr wrap="square" lIns="0" tIns="0" rIns="0" bIns="0" rtlCol="0" anchor="t"/>
          <a:lstStyle/>
          <a:p>
            <a:pPr algn="l" indent="0" marL="0">
              <a:lnSpc>
                <a:spcPct val="115000"/>
              </a:lnSpc>
              <a:buNone/>
            </a:pPr>
            <a:r>
              <a:rPr lang="en-US" sz="900" dirty="0">
                <a:solidFill>
                  <a:srgbClr val="5C6273"/>
                </a:solidFill>
                <a:latin typeface="Malgun Gothic" pitchFamily="34" charset="0"/>
                <a:ea typeface="Malgun Gothic" pitchFamily="34" charset="-122"/>
                <a:cs typeface="Malgun Gothic" pitchFamily="34" charset="-120"/>
              </a:rPr>
              <a:t>구분자·자릿수 등 표층 신호만으로 판정 가능한 항목은 안정적입니다.</a:t>
            </a:r>
            <a:endParaRPr lang="en-US" sz="900" dirty="0"/>
          </a:p>
        </p:txBody>
      </p:sp>
      <p:sp>
        <p:nvSpPr>
          <p:cNvPr id="30" name="Shape 27"/>
          <p:cNvSpPr/>
          <p:nvPr/>
        </p:nvSpPr>
        <p:spPr>
          <a:xfrm>
            <a:off x="8156448" y="4334256"/>
            <a:ext cx="3468319" cy="1517904"/>
          </a:xfrm>
          <a:prstGeom prst="roundRect">
            <a:avLst>
              <a:gd name="adj" fmla="val 3614"/>
            </a:avLst>
          </a:prstGeom>
          <a:solidFill>
            <a:srgbClr val="FBEDEC"/>
          </a:solidFill>
          <a:ln w="9525">
            <a:solidFill>
              <a:srgbClr val="EFD4D2"/>
            </a:solidFill>
            <a:prstDash val="solid"/>
          </a:ln>
        </p:spPr>
      </p:sp>
      <p:sp>
        <p:nvSpPr>
          <p:cNvPr id="31" name="Shape 28"/>
          <p:cNvSpPr/>
          <p:nvPr/>
        </p:nvSpPr>
        <p:spPr>
          <a:xfrm>
            <a:off x="8302752" y="4462272"/>
            <a:ext cx="2011680" cy="274320"/>
          </a:xfrm>
          <a:prstGeom prst="roundRect">
            <a:avLst>
              <a:gd name="adj" fmla="val 16667"/>
            </a:avLst>
          </a:prstGeom>
          <a:solidFill>
            <a:srgbClr val="8E2420"/>
          </a:solidFill>
          <a:ln w="6350">
            <a:solidFill>
              <a:srgbClr val="8E2420"/>
            </a:solidFill>
            <a:prstDash val="solid"/>
          </a:ln>
        </p:spPr>
      </p:sp>
      <p:sp>
        <p:nvSpPr>
          <p:cNvPr id="32" name="Text 29"/>
          <p:cNvSpPr/>
          <p:nvPr/>
        </p:nvSpPr>
        <p:spPr>
          <a:xfrm>
            <a:off x="8302752" y="446227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문맥 의존 항목</a:t>
            </a:r>
            <a:endParaRPr lang="en-US" sz="1050" dirty="0"/>
          </a:p>
        </p:txBody>
      </p:sp>
      <p:sp>
        <p:nvSpPr>
          <p:cNvPr id="33" name="Text 30"/>
          <p:cNvSpPr/>
          <p:nvPr/>
        </p:nvSpPr>
        <p:spPr>
          <a:xfrm>
            <a:off x="8321040" y="4828032"/>
            <a:ext cx="3139135" cy="475488"/>
          </a:xfrm>
          <a:prstGeom prst="rect">
            <a:avLst/>
          </a:prstGeom>
          <a:noFill/>
          <a:ln/>
        </p:spPr>
        <p:txBody>
          <a:bodyPr wrap="square" lIns="0" tIns="0" rIns="0" bIns="0" rtlCol="0" anchor="t"/>
          <a:lstStyle/>
          <a:p>
            <a:pPr algn="l" indent="0" marL="0">
              <a:lnSpc>
                <a:spcPct val="120000"/>
              </a:lnSpc>
              <a:buNone/>
            </a:pPr>
            <a:r>
              <a:rPr lang="en-US" sz="950" b="1" dirty="0">
                <a:solidFill>
                  <a:srgbClr val="8E2420"/>
                </a:solidFill>
                <a:latin typeface="Malgun Gothic" pitchFamily="34" charset="0"/>
                <a:ea typeface="Malgun Gothic" pitchFamily="34" charset="-122"/>
                <a:cs typeface="Malgun Gothic" pitchFamily="34" charset="-120"/>
              </a:rPr>
              <a:t>국문 성명 60.55% · 영문 성명 74.20% · 주소 86.17%</a:t>
            </a:r>
            <a:endParaRPr lang="en-US" sz="950" dirty="0"/>
          </a:p>
          <a:p>
            <a:pPr algn="l" indent="0" marL="0">
              <a:lnSpc>
                <a:spcPct val="120000"/>
              </a:lnSpc>
              <a:buNone/>
            </a:pPr>
            <a:r>
              <a:rPr lang="en-US" sz="950" b="1" dirty="0">
                <a:solidFill>
                  <a:srgbClr val="8E2420"/>
                </a:solidFill>
                <a:latin typeface="Malgun Gothic" pitchFamily="34" charset="0"/>
                <a:ea typeface="Malgun Gothic" pitchFamily="34" charset="-122"/>
                <a:cs typeface="Malgun Gothic" pitchFamily="34" charset="-120"/>
              </a:rPr>
              <a:t>→ 미탐 2,836건, 전체 미탐의 72.14%</a:t>
            </a:r>
            <a:endParaRPr lang="en-US" sz="950" dirty="0"/>
          </a:p>
        </p:txBody>
      </p:sp>
      <p:sp>
        <p:nvSpPr>
          <p:cNvPr id="34" name="Text 31"/>
          <p:cNvSpPr/>
          <p:nvPr/>
        </p:nvSpPr>
        <p:spPr>
          <a:xfrm>
            <a:off x="8321040" y="5358384"/>
            <a:ext cx="3139135" cy="420624"/>
          </a:xfrm>
          <a:prstGeom prst="rect">
            <a:avLst/>
          </a:prstGeom>
          <a:noFill/>
          <a:ln/>
        </p:spPr>
        <p:txBody>
          <a:bodyPr wrap="square" lIns="0" tIns="0" rIns="0" bIns="0" rtlCol="0" anchor="t"/>
          <a:lstStyle/>
          <a:p>
            <a:pPr algn="l" indent="0" marL="0">
              <a:lnSpc>
                <a:spcPct val="115000"/>
              </a:lnSpc>
              <a:buNone/>
            </a:pPr>
            <a:r>
              <a:rPr lang="en-US" sz="900" dirty="0">
                <a:solidFill>
                  <a:srgbClr val="8E2420"/>
                </a:solidFill>
                <a:latin typeface="Malgun Gothic" pitchFamily="34" charset="0"/>
                <a:ea typeface="Malgun Gothic" pitchFamily="34" charset="-122"/>
                <a:cs typeface="Malgun Gothic" pitchFamily="34" charset="-120"/>
              </a:rPr>
              <a:t>모델카드 §4.3이 경칭 과다 표현·지역 명명 관습 미탐을 알려진 실패 모드로 명시 — 실측과 일치합니다.</a:t>
            </a:r>
            <a:endParaRPr lang="en-US" sz="900" dirty="0"/>
          </a:p>
        </p:txBody>
      </p:sp>
      <p:sp>
        <p:nvSpPr>
          <p:cNvPr id="35" name="Text 32"/>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F1·F2는 조화평균이므로 분수 환원이 불가하여 소수로 표기  |  항목별 EM 상세는 부록 A8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09</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과탐 및 노출 구조</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09 / 16</a:t>
            </a:r>
            <a:endParaRPr lang="en-US" sz="1000" dirty="0"/>
          </a:p>
        </p:txBody>
      </p:sp>
      <p:sp>
        <p:nvSpPr>
          <p:cNvPr id="5" name="Shape 3"/>
          <p:cNvSpPr/>
          <p:nvPr/>
        </p:nvSpPr>
        <p:spPr>
          <a:xfrm>
            <a:off x="566928" y="950976"/>
            <a:ext cx="2593010" cy="1188720"/>
          </a:xfrm>
          <a:prstGeom prst="roundRect">
            <a:avLst>
              <a:gd name="adj" fmla="val 4615"/>
            </a:avLst>
          </a:prstGeom>
          <a:solidFill>
            <a:srgbClr val="EDF3FD"/>
          </a:solidFill>
          <a:ln w="9525">
            <a:solidFill>
              <a:srgbClr val="D8E4F7"/>
            </a:solidFill>
            <a:prstDash val="solid"/>
          </a:ln>
        </p:spPr>
      </p:sp>
      <p:sp>
        <p:nvSpPr>
          <p:cNvPr id="6" name="Text 4"/>
          <p:cNvSpPr/>
          <p:nvPr/>
        </p:nvSpPr>
        <p:spPr>
          <a:xfrm>
            <a:off x="694944" y="106070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과탐 (FP)</a:t>
            </a:r>
            <a:endParaRPr lang="en-US" sz="950" dirty="0"/>
          </a:p>
        </p:txBody>
      </p:sp>
      <p:sp>
        <p:nvSpPr>
          <p:cNvPr id="7" name="Text 5"/>
          <p:cNvSpPr/>
          <p:nvPr/>
        </p:nvSpPr>
        <p:spPr>
          <a:xfrm>
            <a:off x="694944" y="1280160"/>
            <a:ext cx="2336978" cy="585216"/>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57.34%</a:t>
            </a:r>
            <a:endParaRPr lang="en-US" sz="2100" dirty="0"/>
          </a:p>
        </p:txBody>
      </p:sp>
      <p:sp>
        <p:nvSpPr>
          <p:cNvPr id="8" name="Text 6"/>
          <p:cNvSpPr/>
          <p:nvPr/>
        </p:nvSpPr>
        <p:spPr>
          <a:xfrm>
            <a:off x="694944" y="1828800"/>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19,874 / 34,658</a:t>
            </a:r>
            <a:endParaRPr lang="en-US" sz="900" dirty="0"/>
          </a:p>
        </p:txBody>
      </p:sp>
      <p:sp>
        <p:nvSpPr>
          <p:cNvPr id="9" name="Shape 7"/>
          <p:cNvSpPr/>
          <p:nvPr/>
        </p:nvSpPr>
        <p:spPr>
          <a:xfrm>
            <a:off x="3388538" y="950976"/>
            <a:ext cx="2593010" cy="1188720"/>
          </a:xfrm>
          <a:prstGeom prst="roundRect">
            <a:avLst>
              <a:gd name="adj" fmla="val 4615"/>
            </a:avLst>
          </a:prstGeom>
          <a:solidFill>
            <a:srgbClr val="EDF3FD"/>
          </a:solidFill>
          <a:ln w="9525">
            <a:solidFill>
              <a:srgbClr val="D8E4F7"/>
            </a:solidFill>
            <a:prstDash val="solid"/>
          </a:ln>
        </p:spPr>
      </p:sp>
      <p:sp>
        <p:nvSpPr>
          <p:cNvPr id="10" name="Text 8"/>
          <p:cNvSpPr/>
          <p:nvPr/>
        </p:nvSpPr>
        <p:spPr>
          <a:xfrm>
            <a:off x="3516554" y="106070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과잉 마스킹 문자</a:t>
            </a:r>
            <a:endParaRPr lang="en-US" sz="950" dirty="0"/>
          </a:p>
        </p:txBody>
      </p:sp>
      <p:sp>
        <p:nvSpPr>
          <p:cNvPr id="11" name="Text 9"/>
          <p:cNvSpPr/>
          <p:nvPr/>
        </p:nvSpPr>
        <p:spPr>
          <a:xfrm>
            <a:off x="3516554" y="1280160"/>
            <a:ext cx="2336978" cy="585216"/>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8.46%</a:t>
            </a:r>
            <a:endParaRPr lang="en-US" sz="2100" dirty="0"/>
          </a:p>
        </p:txBody>
      </p:sp>
      <p:sp>
        <p:nvSpPr>
          <p:cNvPr id="12" name="Text 10"/>
          <p:cNvSpPr/>
          <p:nvPr/>
        </p:nvSpPr>
        <p:spPr>
          <a:xfrm>
            <a:off x="3516554" y="1828800"/>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117,746 / 1,392,067자</a:t>
            </a:r>
            <a:endParaRPr lang="en-US" sz="900" dirty="0"/>
          </a:p>
        </p:txBody>
      </p:sp>
      <p:sp>
        <p:nvSpPr>
          <p:cNvPr id="13" name="Shape 11"/>
          <p:cNvSpPr/>
          <p:nvPr/>
        </p:nvSpPr>
        <p:spPr>
          <a:xfrm>
            <a:off x="6210148" y="950976"/>
            <a:ext cx="2593010" cy="1188720"/>
          </a:xfrm>
          <a:prstGeom prst="roundRect">
            <a:avLst>
              <a:gd name="adj" fmla="val 4615"/>
            </a:avLst>
          </a:prstGeom>
          <a:solidFill>
            <a:srgbClr val="FBEDEC"/>
          </a:solidFill>
          <a:ln w="9525">
            <a:solidFill>
              <a:srgbClr val="EFD4D2"/>
            </a:solidFill>
            <a:prstDash val="solid"/>
          </a:ln>
        </p:spPr>
      </p:sp>
      <p:sp>
        <p:nvSpPr>
          <p:cNvPr id="14" name="Text 12"/>
          <p:cNvSpPr/>
          <p:nvPr/>
        </p:nvSpPr>
        <p:spPr>
          <a:xfrm>
            <a:off x="6338164" y="106070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노출된 문자</a:t>
            </a:r>
            <a:endParaRPr lang="en-US" sz="950" dirty="0"/>
          </a:p>
        </p:txBody>
      </p:sp>
      <p:sp>
        <p:nvSpPr>
          <p:cNvPr id="15" name="Text 13"/>
          <p:cNvSpPr/>
          <p:nvPr/>
        </p:nvSpPr>
        <p:spPr>
          <a:xfrm>
            <a:off x="6338164" y="1280160"/>
            <a:ext cx="2336978" cy="585216"/>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0.27%</a:t>
            </a:r>
            <a:endParaRPr lang="en-US" sz="2100" dirty="0"/>
          </a:p>
        </p:txBody>
      </p:sp>
      <p:sp>
        <p:nvSpPr>
          <p:cNvPr id="16" name="Text 14"/>
          <p:cNvSpPr/>
          <p:nvPr/>
        </p:nvSpPr>
        <p:spPr>
          <a:xfrm>
            <a:off x="6338164" y="1828800"/>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3,827 / 1,392,067자</a:t>
            </a:r>
            <a:endParaRPr lang="en-US" sz="900" dirty="0"/>
          </a:p>
        </p:txBody>
      </p:sp>
      <p:sp>
        <p:nvSpPr>
          <p:cNvPr id="17" name="Shape 15"/>
          <p:cNvSpPr/>
          <p:nvPr/>
        </p:nvSpPr>
        <p:spPr>
          <a:xfrm>
            <a:off x="9031757" y="950976"/>
            <a:ext cx="2593010" cy="1188720"/>
          </a:xfrm>
          <a:prstGeom prst="roundRect">
            <a:avLst>
              <a:gd name="adj" fmla="val 4615"/>
            </a:avLst>
          </a:prstGeom>
          <a:solidFill>
            <a:srgbClr val="1E2761"/>
          </a:solidFill>
          <a:ln w="9525">
            <a:solidFill>
              <a:srgbClr val="1E2761"/>
            </a:solidFill>
            <a:prstDash val="solid"/>
          </a:ln>
        </p:spPr>
      </p:sp>
      <p:sp>
        <p:nvSpPr>
          <p:cNvPr id="18" name="Text 16"/>
          <p:cNvSpPr/>
          <p:nvPr/>
        </p:nvSpPr>
        <p:spPr>
          <a:xfrm>
            <a:off x="9159773" y="1060704"/>
            <a:ext cx="2336978"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완전 피복 스팬</a:t>
            </a:r>
            <a:endParaRPr lang="en-US" sz="950" dirty="0"/>
          </a:p>
        </p:txBody>
      </p:sp>
      <p:sp>
        <p:nvSpPr>
          <p:cNvPr id="19" name="Text 17"/>
          <p:cNvSpPr/>
          <p:nvPr/>
        </p:nvSpPr>
        <p:spPr>
          <a:xfrm>
            <a:off x="9159773" y="1280160"/>
            <a:ext cx="2336978" cy="585216"/>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89.99%</a:t>
            </a:r>
            <a:endParaRPr lang="en-US" sz="2100" dirty="0"/>
          </a:p>
        </p:txBody>
      </p:sp>
      <p:sp>
        <p:nvSpPr>
          <p:cNvPr id="20" name="Text 18"/>
          <p:cNvSpPr/>
          <p:nvPr/>
        </p:nvSpPr>
        <p:spPr>
          <a:xfrm>
            <a:off x="9159773" y="1828800"/>
            <a:ext cx="2336978"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25,576 / 28,420</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340864"/>
          <a:ext cx="5806440" cy="914400"/>
        </p:xfrm>
        <a:graphic>
          <a:graphicData uri="http://schemas.openxmlformats.org/drawingml/2006/table">
            <a:tbl>
              <a:tblPr/>
              <a:tblGrid>
                <a:gridCol w="1371600"/>
                <a:gridCol w="1645920"/>
                <a:gridCol w="868680"/>
                <a:gridCol w="1920240"/>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노출 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스팬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정의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 피복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25,576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89.99%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구간 전체가 마스킹됨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부분 노출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705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일부만 덮여 나머지 문자가 그대로 남음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완전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2,139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7.53%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전혀 탐지되지 않음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22" name="Shape 19"/>
          <p:cNvSpPr/>
          <p:nvPr/>
        </p:nvSpPr>
        <p:spPr>
          <a:xfrm>
            <a:off x="566928" y="3657600"/>
            <a:ext cx="5806440" cy="2121408"/>
          </a:xfrm>
          <a:prstGeom prst="roundRect">
            <a:avLst>
              <a:gd name="adj" fmla="val 2586"/>
            </a:avLst>
          </a:prstGeom>
          <a:solidFill>
            <a:srgbClr val="FBEDEC"/>
          </a:solidFill>
          <a:ln w="9525">
            <a:solidFill>
              <a:srgbClr val="EFD4D2"/>
            </a:solidFill>
            <a:prstDash val="solid"/>
          </a:ln>
        </p:spPr>
      </p:sp>
      <p:sp>
        <p:nvSpPr>
          <p:cNvPr id="23" name="Shape 20"/>
          <p:cNvSpPr/>
          <p:nvPr/>
        </p:nvSpPr>
        <p:spPr>
          <a:xfrm>
            <a:off x="713232" y="3785616"/>
            <a:ext cx="2194560" cy="274320"/>
          </a:xfrm>
          <a:prstGeom prst="roundRect">
            <a:avLst>
              <a:gd name="adj" fmla="val 16667"/>
            </a:avLst>
          </a:prstGeom>
          <a:solidFill>
            <a:srgbClr val="8E2420"/>
          </a:solidFill>
          <a:ln w="6350">
            <a:solidFill>
              <a:srgbClr val="8E2420"/>
            </a:solidFill>
            <a:prstDash val="solid"/>
          </a:ln>
        </p:spPr>
      </p:sp>
      <p:sp>
        <p:nvSpPr>
          <p:cNvPr id="24" name="Text 21"/>
          <p:cNvSpPr/>
          <p:nvPr/>
        </p:nvSpPr>
        <p:spPr>
          <a:xfrm>
            <a:off x="713232" y="3785616"/>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부분 노출 대표 사례</a:t>
            </a:r>
            <a:endParaRPr lang="en-US" sz="1050" dirty="0"/>
          </a:p>
        </p:txBody>
      </p:sp>
      <p:sp>
        <p:nvSpPr>
          <p:cNvPr id="25" name="Text 22"/>
          <p:cNvSpPr/>
          <p:nvPr/>
        </p:nvSpPr>
        <p:spPr>
          <a:xfrm>
            <a:off x="749808" y="4224528"/>
            <a:ext cx="5486400" cy="237744"/>
          </a:xfrm>
          <a:prstGeom prst="rect">
            <a:avLst/>
          </a:prstGeom>
          <a:noFill/>
          <a:ln/>
        </p:spPr>
        <p:txBody>
          <a:bodyPr wrap="square" lIns="0" tIns="0" rIns="0" bIns="0" rtlCol="0" anchor="ctr"/>
          <a:lstStyle/>
          <a:p>
            <a:pPr algn="l" indent="0" marL="0">
              <a:buNone/>
            </a:pPr>
            <a:r>
              <a:rPr lang="en-US" sz="1000" b="1" dirty="0">
                <a:solidFill>
                  <a:srgbClr val="16181D"/>
                </a:solidFill>
                <a:latin typeface="Consolas" pitchFamily="34" charset="0"/>
                <a:ea typeface="Consolas" pitchFamily="34" charset="-122"/>
                <a:cs typeface="Consolas" pitchFamily="34" charset="-120"/>
              </a:rPr>
              <a:t>충청북도 청주시 흥덕구 디지털로 133</a:t>
            </a:r>
            <a:endParaRPr lang="en-US" sz="1000" dirty="0"/>
          </a:p>
        </p:txBody>
      </p:sp>
      <p:sp>
        <p:nvSpPr>
          <p:cNvPr id="26" name="Text 23"/>
          <p:cNvSpPr/>
          <p:nvPr/>
        </p:nvSpPr>
        <p:spPr>
          <a:xfrm>
            <a:off x="749808" y="4443984"/>
            <a:ext cx="54864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「로」 · 남은 문자 20자</a:t>
            </a:r>
            <a:endParaRPr lang="en-US" sz="900" dirty="0"/>
          </a:p>
        </p:txBody>
      </p:sp>
      <p:sp>
        <p:nvSpPr>
          <p:cNvPr id="27" name="Text 24"/>
          <p:cNvSpPr/>
          <p:nvPr/>
        </p:nvSpPr>
        <p:spPr>
          <a:xfrm>
            <a:off x="749808" y="4727448"/>
            <a:ext cx="5486400" cy="237744"/>
          </a:xfrm>
          <a:prstGeom prst="rect">
            <a:avLst/>
          </a:prstGeom>
          <a:noFill/>
          <a:ln/>
        </p:spPr>
        <p:txBody>
          <a:bodyPr wrap="square" lIns="0" tIns="0" rIns="0" bIns="0" rtlCol="0" anchor="ctr"/>
          <a:lstStyle/>
          <a:p>
            <a:pPr algn="l" indent="0" marL="0">
              <a:buNone/>
            </a:pPr>
            <a:r>
              <a:rPr lang="en-US" sz="1000" b="1" dirty="0">
                <a:solidFill>
                  <a:srgbClr val="16181D"/>
                </a:solidFill>
                <a:latin typeface="Consolas" pitchFamily="34" charset="0"/>
                <a:ea typeface="Consolas" pitchFamily="34" charset="-122"/>
                <a:cs typeface="Consolas" pitchFamily="34" charset="-120"/>
              </a:rPr>
              <a:t>세종특별자치시 도담동 여의대로 216</a:t>
            </a:r>
            <a:endParaRPr lang="en-US" sz="1000" dirty="0"/>
          </a:p>
        </p:txBody>
      </p:sp>
      <p:sp>
        <p:nvSpPr>
          <p:cNvPr id="28" name="Text 25"/>
          <p:cNvSpPr/>
          <p:nvPr/>
        </p:nvSpPr>
        <p:spPr>
          <a:xfrm>
            <a:off x="749808" y="4946904"/>
            <a:ext cx="54864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「동」 · 남은 문자 19자</a:t>
            </a:r>
            <a:endParaRPr lang="en-US" sz="900" dirty="0"/>
          </a:p>
        </p:txBody>
      </p:sp>
      <p:sp>
        <p:nvSpPr>
          <p:cNvPr id="29" name="Text 26"/>
          <p:cNvSpPr/>
          <p:nvPr/>
        </p:nvSpPr>
        <p:spPr>
          <a:xfrm>
            <a:off x="749808" y="5230368"/>
            <a:ext cx="5486400" cy="237744"/>
          </a:xfrm>
          <a:prstGeom prst="rect">
            <a:avLst/>
          </a:prstGeom>
          <a:noFill/>
          <a:ln/>
        </p:spPr>
        <p:txBody>
          <a:bodyPr wrap="square" lIns="0" tIns="0" rIns="0" bIns="0" rtlCol="0" anchor="ctr"/>
          <a:lstStyle/>
          <a:p>
            <a:pPr algn="l" indent="0" marL="0">
              <a:buNone/>
            </a:pPr>
            <a:r>
              <a:rPr lang="en-US" sz="1000" b="1" dirty="0">
                <a:solidFill>
                  <a:srgbClr val="16181D"/>
                </a:solidFill>
                <a:latin typeface="Consolas" pitchFamily="34" charset="0"/>
                <a:ea typeface="Consolas" pitchFamily="34" charset="-122"/>
                <a:cs typeface="Consolas" pitchFamily="34" charset="-120"/>
              </a:rPr>
              <a:t>5425-1253-2994-9092</a:t>
            </a:r>
            <a:endParaRPr lang="en-US" sz="1000" dirty="0"/>
          </a:p>
        </p:txBody>
      </p:sp>
      <p:sp>
        <p:nvSpPr>
          <p:cNvPr id="30" name="Text 27"/>
          <p:cNvSpPr/>
          <p:nvPr/>
        </p:nvSpPr>
        <p:spPr>
          <a:xfrm>
            <a:off x="749808" y="5449824"/>
            <a:ext cx="54864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 · 남은 문자 18자</a:t>
            </a:r>
            <a:endParaRPr lang="en-US" sz="900" dirty="0"/>
          </a:p>
        </p:txBody>
      </p:sp>
      <p:sp>
        <p:nvSpPr>
          <p:cNvPr id="31" name="Shape 28"/>
          <p:cNvSpPr/>
          <p:nvPr/>
        </p:nvSpPr>
        <p:spPr>
          <a:xfrm>
            <a:off x="6693408" y="2340864"/>
            <a:ext cx="4931359" cy="2286000"/>
          </a:xfrm>
          <a:prstGeom prst="roundRect">
            <a:avLst>
              <a:gd name="adj" fmla="val 2400"/>
            </a:avLst>
          </a:prstGeom>
          <a:solidFill>
            <a:srgbClr val="FBF4E4"/>
          </a:solidFill>
          <a:ln w="9525">
            <a:solidFill>
              <a:srgbClr val="EFE1C4"/>
            </a:solidFill>
            <a:prstDash val="solid"/>
          </a:ln>
        </p:spPr>
      </p:sp>
      <p:sp>
        <p:nvSpPr>
          <p:cNvPr id="32" name="Shape 29"/>
          <p:cNvSpPr/>
          <p:nvPr/>
        </p:nvSpPr>
        <p:spPr>
          <a:xfrm>
            <a:off x="6858000" y="2468880"/>
            <a:ext cx="3108960" cy="274320"/>
          </a:xfrm>
          <a:prstGeom prst="roundRect">
            <a:avLst>
              <a:gd name="adj" fmla="val 16667"/>
            </a:avLst>
          </a:prstGeom>
          <a:solidFill>
            <a:srgbClr val="8A6410"/>
          </a:solidFill>
          <a:ln w="6350">
            <a:solidFill>
              <a:srgbClr val="8A6410"/>
            </a:solidFill>
            <a:prstDash val="solid"/>
          </a:ln>
        </p:spPr>
      </p:sp>
      <p:sp>
        <p:nvSpPr>
          <p:cNvPr id="33" name="Text 30"/>
          <p:cNvSpPr/>
          <p:nvPr/>
        </p:nvSpPr>
        <p:spPr>
          <a:xfrm>
            <a:off x="6858000" y="2468880"/>
            <a:ext cx="31089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정밀도 해석 시 유의</a:t>
            </a:r>
            <a:endParaRPr lang="en-US" sz="1050" dirty="0"/>
          </a:p>
        </p:txBody>
      </p:sp>
      <p:sp>
        <p:nvSpPr>
          <p:cNvPr id="34" name="Text 31"/>
          <p:cNvSpPr/>
          <p:nvPr/>
        </p:nvSpPr>
        <p:spPr>
          <a:xfrm>
            <a:off x="6876288" y="2852928"/>
            <a:ext cx="4565599" cy="1645920"/>
          </a:xfrm>
          <a:prstGeom prst="rect">
            <a:avLst/>
          </a:prstGeom>
          <a:noFill/>
          <a:ln/>
        </p:spPr>
        <p:txBody>
          <a:bodyPr wrap="square" lIns="0" tIns="0" rIns="0" bIns="0" rtlCol="0" anchor="t"/>
          <a:lstStyle/>
          <a:p>
            <a:pPr algn="l" indent="0" marL="0">
              <a:lnSpc>
                <a:spcPct val="118000"/>
              </a:lnSpc>
              <a:spcAft>
                <a:spcPts val="300"/>
              </a:spcAft>
              <a:buNone/>
            </a:pPr>
            <a:r>
              <a:rPr lang="en-US" sz="950" b="1" dirty="0">
                <a:solidFill>
                  <a:srgbClr val="8A6410"/>
                </a:solidFill>
                <a:latin typeface="Malgun Gothic" pitchFamily="34" charset="0"/>
                <a:ea typeface="Malgun Gothic" pitchFamily="34" charset="-122"/>
                <a:cs typeface="Malgun Gothic" pitchFamily="34" charset="-120"/>
              </a:rPr>
              <a:t>정밀도가 낮은 항목이 재현율은 오히려 높습니다.</a:t>
            </a:r>
            <a:endParaRPr lang="en-US" sz="950" dirty="0"/>
          </a:p>
          <a:p>
            <a:pPr algn="l" indent="0" marL="0">
              <a:lnSpc>
                <a:spcPct val="118000"/>
              </a:lnSpc>
              <a:spcAft>
                <a:spcPts val="300"/>
              </a:spcAft>
              <a:buNone/>
            </a:pPr>
            <a:r>
              <a:rPr lang="en-US" sz="950" dirty="0">
                <a:solidFill>
                  <a:srgbClr val="8A6410"/>
                </a:solidFill>
                <a:latin typeface="Malgun Gothic" pitchFamily="34" charset="0"/>
                <a:ea typeface="Malgun Gothic" pitchFamily="34" charset="-122"/>
                <a:cs typeface="Malgun Gothic" pitchFamily="34" charset="-120"/>
              </a:rPr>
              <a:t>이메일 정밀도 6.91% ↔ 재현율 99.84%</a:t>
            </a:r>
            <a:endParaRPr lang="en-US" sz="950" dirty="0"/>
          </a:p>
          <a:p>
            <a:pPr algn="l" indent="0" marL="0">
              <a:lnSpc>
                <a:spcPct val="118000"/>
              </a:lnSpc>
              <a:spcAft>
                <a:spcPts val="300"/>
              </a:spcAft>
              <a:buNone/>
            </a:pPr>
            <a:r>
              <a:rPr lang="en-US" sz="950" dirty="0">
                <a:solidFill>
                  <a:srgbClr val="8A6410"/>
                </a:solidFill>
                <a:latin typeface="Malgun Gothic" pitchFamily="34" charset="0"/>
                <a:ea typeface="Malgun Gothic" pitchFamily="34" charset="-122"/>
                <a:cs typeface="Malgun Gothic" pitchFamily="34" charset="-120"/>
              </a:rPr>
              <a:t>국문 성명 정밀도 6.68% · 여권 정밀도 7.18%</a:t>
            </a:r>
            <a:endParaRPr lang="en-US" sz="950" dirty="0"/>
          </a:p>
          <a:p>
            <a:pPr algn="l" indent="0" marL="0">
              <a:lnSpc>
                <a:spcPct val="118000"/>
              </a:lnSpc>
              <a:spcAft>
                <a:spcPts val="300"/>
              </a:spcAft>
              <a:buNone/>
            </a:pPr>
            <a:endParaRPr lang="en-US" sz="950" dirty="0"/>
          </a:p>
          <a:p>
            <a:pPr algn="l" indent="0" marL="0">
              <a:lnSpc>
                <a:spcPct val="118000"/>
              </a:lnSpc>
              <a:spcAft>
                <a:spcPts val="300"/>
              </a:spcAft>
              <a:buNone/>
            </a:pPr>
            <a:r>
              <a:rPr lang="en-US" sz="950" dirty="0">
                <a:solidFill>
                  <a:srgbClr val="8A6410"/>
                </a:solidFill>
                <a:latin typeface="Malgun Gothic" pitchFamily="34" charset="0"/>
                <a:ea typeface="Malgun Gothic" pitchFamily="34" charset="-122"/>
                <a:cs typeface="Malgun Gothic" pitchFamily="34" charset="-120"/>
              </a:rPr>
              <a:t>매칭 규칙상 예측이 정답보다 넓으면 재현율은 통과하고 정밀도는 실패합니다. 즉 낮은 정밀도의 상당 부분은 엉뚱한 곳을 잡은 오탐이 아니라 경계를 넓게 잡은 결과로 보입니다.</a:t>
            </a:r>
            <a:endParaRPr lang="en-US" sz="950" dirty="0"/>
          </a:p>
        </p:txBody>
      </p:sp>
      <p:sp>
        <p:nvSpPr>
          <p:cNvPr id="35" name="Shape 32"/>
          <p:cNvSpPr/>
          <p:nvPr/>
        </p:nvSpPr>
        <p:spPr>
          <a:xfrm>
            <a:off x="6693408" y="4736592"/>
            <a:ext cx="4931359" cy="1042416"/>
          </a:xfrm>
          <a:prstGeom prst="roundRect">
            <a:avLst>
              <a:gd name="adj" fmla="val 5263"/>
            </a:avLst>
          </a:prstGeom>
          <a:solidFill>
            <a:srgbClr val="F7F8FB"/>
          </a:solidFill>
          <a:ln w="9525">
            <a:solidFill>
              <a:srgbClr val="DFE3EC"/>
            </a:solidFill>
            <a:prstDash val="solid"/>
          </a:ln>
        </p:spPr>
      </p:sp>
      <p:sp>
        <p:nvSpPr>
          <p:cNvPr id="36" name="Text 33"/>
          <p:cNvSpPr/>
          <p:nvPr/>
        </p:nvSpPr>
        <p:spPr>
          <a:xfrm>
            <a:off x="6876288" y="4828032"/>
            <a:ext cx="4565599" cy="859536"/>
          </a:xfrm>
          <a:prstGeom prst="rect">
            <a:avLst/>
          </a:prstGeom>
          <a:noFill/>
          <a:ln/>
        </p:spPr>
        <p:txBody>
          <a:bodyPr wrap="square" lIns="0" tIns="0" rIns="0" bIns="0" rtlCol="0" anchor="t"/>
          <a:lstStyle/>
          <a:p>
            <a:pPr algn="l" indent="0" marL="0">
              <a:lnSpc>
                <a:spcPct val="120000"/>
              </a:lnSpc>
              <a:buNone/>
            </a:pPr>
            <a:r>
              <a:rPr lang="en-US" sz="950" dirty="0">
                <a:solidFill>
                  <a:srgbClr val="5C6273"/>
                </a:solidFill>
                <a:latin typeface="Malgun Gothic" pitchFamily="34" charset="0"/>
                <a:ea typeface="Malgun Gothic" pitchFamily="34" charset="-122"/>
                <a:cs typeface="Malgun Gothic" pitchFamily="34" charset="-120"/>
              </a:rPr>
              <a:t>⚠ 이 해석은 정량 검증 전입니다. 경계 과확장과 순수 오탐의 분해는 후속 과제로 남깁니다. 본 보고에서는 과탐 총량과 과잉 마스킹 문자 수만 확정 수치로 제시합니다.</a:t>
            </a:r>
            <a:endParaRPr lang="en-US" sz="950" dirty="0"/>
          </a:p>
        </p:txBody>
      </p:sp>
      <p:sp>
        <p:nvSpPr>
          <p:cNvPr id="37" name="Text 34"/>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미탐 대사 : 완전 미탐 2,139 + 부분 노출 705 + 분할 피복 1,087 = 3,931  |  FN과 FP는 성격이 다르므로 합산하지 않음</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1051560" y="2286000"/>
            <a:ext cx="10058400" cy="822960"/>
          </a:xfrm>
          <a:prstGeom prst="rect">
            <a:avLst/>
          </a:prstGeom>
          <a:noFill/>
          <a:ln/>
        </p:spPr>
        <p:txBody>
          <a:bodyPr wrap="square" lIns="0" tIns="0" rIns="0" bIns="0" rtlCol="0" anchor="ctr"/>
          <a:lstStyle/>
          <a:p>
            <a:pPr algn="l" indent="0" marL="0">
              <a:buNone/>
            </a:pPr>
            <a:r>
              <a:rPr lang="en-US" sz="4600" b="1" spc="300" kern="0" dirty="0">
                <a:solidFill>
                  <a:srgbClr val="FFFFFF"/>
                </a:solidFill>
                <a:latin typeface="Malgun Gothic" pitchFamily="34" charset="0"/>
                <a:ea typeface="Malgun Gothic" pitchFamily="34" charset="-122"/>
                <a:cs typeface="Malgun Gothic" pitchFamily="34" charset="-120"/>
              </a:rPr>
              <a:t>ADDITIONAL</a:t>
            </a:r>
            <a:endParaRPr lang="en-US" sz="4600" dirty="0"/>
          </a:p>
        </p:txBody>
      </p:sp>
      <p:sp>
        <p:nvSpPr>
          <p:cNvPr id="4" name="Text 2"/>
          <p:cNvSpPr/>
          <p:nvPr/>
        </p:nvSpPr>
        <p:spPr>
          <a:xfrm>
            <a:off x="1051560" y="3163824"/>
            <a:ext cx="10058400" cy="457200"/>
          </a:xfrm>
          <a:prstGeom prst="rect">
            <a:avLst/>
          </a:prstGeom>
          <a:noFill/>
          <a:ln/>
        </p:spPr>
        <p:txBody>
          <a:bodyPr wrap="square" lIns="0" tIns="0" rIns="0" bIns="0" rtlCol="0" anchor="ctr"/>
          <a:lstStyle/>
          <a:p>
            <a:pPr algn="l" indent="0" marL="0">
              <a:buNone/>
            </a:pPr>
            <a:r>
              <a:rPr lang="en-US" sz="1700" dirty="0">
                <a:solidFill>
                  <a:srgbClr val="CADCFC"/>
                </a:solidFill>
                <a:latin typeface="Malgun Gothic" pitchFamily="34" charset="0"/>
                <a:ea typeface="Malgun Gothic" pitchFamily="34" charset="-122"/>
                <a:cs typeface="Malgun Gothic" pitchFamily="34" charset="-120"/>
              </a:rPr>
              <a:t>추가 검토 — 프로브셋 · 개선안 · 로드맵</a:t>
            </a:r>
            <a:endParaRPr lang="en-US" sz="1700" dirty="0"/>
          </a:p>
        </p:txBody>
      </p:sp>
      <p:sp>
        <p:nvSpPr>
          <p:cNvPr id="5" name="Text 3"/>
          <p:cNvSpPr/>
          <p:nvPr/>
        </p:nvSpPr>
        <p:spPr>
          <a:xfrm>
            <a:off x="1051560" y="4114800"/>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10  부분 발화 프로브셋</a:t>
            </a:r>
            <a:endParaRPr lang="en-US" sz="1150" dirty="0"/>
          </a:p>
        </p:txBody>
      </p:sp>
      <p:sp>
        <p:nvSpPr>
          <p:cNvPr id="6" name="Text 4"/>
          <p:cNvSpPr/>
          <p:nvPr/>
        </p:nvSpPr>
        <p:spPr>
          <a:xfrm>
            <a:off x="4343400" y="4114800"/>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11  규칙 vs 문맥</a:t>
            </a:r>
            <a:endParaRPr lang="en-US" sz="1150" dirty="0"/>
          </a:p>
        </p:txBody>
      </p:sp>
      <p:sp>
        <p:nvSpPr>
          <p:cNvPr id="7" name="Text 5"/>
          <p:cNvSpPr/>
          <p:nvPr/>
        </p:nvSpPr>
        <p:spPr>
          <a:xfrm>
            <a:off x="7635240" y="4114800"/>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12  고도화① 하이브리드</a:t>
            </a:r>
            <a:endParaRPr lang="en-US" sz="1150" dirty="0"/>
          </a:p>
        </p:txBody>
      </p:sp>
      <p:sp>
        <p:nvSpPr>
          <p:cNvPr id="8" name="Text 6"/>
          <p:cNvSpPr/>
          <p:nvPr/>
        </p:nvSpPr>
        <p:spPr>
          <a:xfrm>
            <a:off x="1051560" y="4535424"/>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13  고도화② 운영점·디코딩</a:t>
            </a:r>
            <a:endParaRPr lang="en-US" sz="1150" dirty="0"/>
          </a:p>
        </p:txBody>
      </p:sp>
      <p:sp>
        <p:nvSpPr>
          <p:cNvPr id="9" name="Text 7"/>
          <p:cNvSpPr/>
          <p:nvPr/>
        </p:nvSpPr>
        <p:spPr>
          <a:xfrm>
            <a:off x="4343400" y="4535424"/>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14  고도화③ 파인튜닝</a:t>
            </a:r>
            <a:endParaRPr lang="en-US" sz="1150" dirty="0"/>
          </a:p>
        </p:txBody>
      </p:sp>
      <p:sp>
        <p:nvSpPr>
          <p:cNvPr id="10" name="Text 8"/>
          <p:cNvSpPr/>
          <p:nvPr/>
        </p:nvSpPr>
        <p:spPr>
          <a:xfrm>
            <a:off x="7635240" y="4535424"/>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15  운영 권고</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10</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부분 발화 프로브셋 (300건)</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10 / 16</a:t>
            </a:r>
            <a:endParaRPr lang="en-US" sz="1000" dirty="0"/>
          </a:p>
        </p:txBody>
      </p:sp>
      <p:sp>
        <p:nvSpPr>
          <p:cNvPr id="5" name="Shape 3"/>
          <p:cNvSpPr/>
          <p:nvPr/>
        </p:nvSpPr>
        <p:spPr>
          <a:xfrm>
            <a:off x="566928" y="896112"/>
            <a:ext cx="11057839" cy="475488"/>
          </a:xfrm>
          <a:prstGeom prst="roundRect">
            <a:avLst>
              <a:gd name="adj" fmla="val 11538"/>
            </a:avLst>
          </a:prstGeom>
          <a:solidFill>
            <a:srgbClr val="FBF4E4"/>
          </a:solidFill>
          <a:ln w="9525">
            <a:solidFill>
              <a:srgbClr val="FBF4E4"/>
            </a:solidFill>
            <a:prstDash val="solid"/>
          </a:ln>
        </p:spPr>
      </p:sp>
      <p:sp>
        <p:nvSpPr>
          <p:cNvPr id="6" name="Text 4"/>
          <p:cNvSpPr/>
          <p:nvPr/>
        </p:nvSpPr>
        <p:spPr>
          <a:xfrm>
            <a:off x="713232" y="932688"/>
            <a:ext cx="10765231" cy="402336"/>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상담 STT 텍스트에서 관찰되는 형태 — 값 절단, 구어체 삽입, 띄어쓰기 파괴 — 를 합성으로 재현한 별도 검증셋입니다. 합성 변형이며 실 상담 로그가 아니므로 합격 판정 기준에서 제외하고 참고 지표로만 제시합니다.</a:t>
            </a:r>
            <a:endParaRPr lang="en-US" sz="950" dirty="0"/>
          </a:p>
        </p:txBody>
      </p:sp>
      <p:sp>
        <p:nvSpPr>
          <p:cNvPr id="7" name="Shape 5"/>
          <p:cNvSpPr/>
          <p:nvPr/>
        </p:nvSpPr>
        <p:spPr>
          <a:xfrm>
            <a:off x="566928" y="1499616"/>
            <a:ext cx="2593010" cy="1133856"/>
          </a:xfrm>
          <a:prstGeom prst="roundRect">
            <a:avLst>
              <a:gd name="adj" fmla="val 4839"/>
            </a:avLst>
          </a:prstGeom>
          <a:solidFill>
            <a:srgbClr val="FBEDEC"/>
          </a:solidFill>
          <a:ln w="9525">
            <a:solidFill>
              <a:srgbClr val="EFD4D2"/>
            </a:solidFill>
            <a:prstDash val="solid"/>
          </a:ln>
        </p:spPr>
      </p:sp>
      <p:sp>
        <p:nvSpPr>
          <p:cNvPr id="8" name="Text 6"/>
          <p:cNvSpPr/>
          <p:nvPr/>
        </p:nvSpPr>
        <p:spPr>
          <a:xfrm>
            <a:off x="694944"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a:t>
            </a:r>
            <a:endParaRPr lang="en-US" sz="950" dirty="0"/>
          </a:p>
        </p:txBody>
      </p:sp>
      <p:sp>
        <p:nvSpPr>
          <p:cNvPr id="9" name="Text 7"/>
          <p:cNvSpPr/>
          <p:nvPr/>
        </p:nvSpPr>
        <p:spPr>
          <a:xfrm>
            <a:off x="694944" y="1828800"/>
            <a:ext cx="2336978" cy="53035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65.67%</a:t>
            </a:r>
            <a:endParaRPr lang="en-US" sz="2100" dirty="0"/>
          </a:p>
        </p:txBody>
      </p:sp>
      <p:sp>
        <p:nvSpPr>
          <p:cNvPr id="10" name="Text 8"/>
          <p:cNvSpPr/>
          <p:nvPr/>
        </p:nvSpPr>
        <p:spPr>
          <a:xfrm>
            <a:off x="694944"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197 / 300 · 기준선 86.17%</a:t>
            </a:r>
            <a:endParaRPr lang="en-US" sz="900" dirty="0"/>
          </a:p>
        </p:txBody>
      </p:sp>
      <p:sp>
        <p:nvSpPr>
          <p:cNvPr id="11" name="Shape 9"/>
          <p:cNvSpPr/>
          <p:nvPr/>
        </p:nvSpPr>
        <p:spPr>
          <a:xfrm>
            <a:off x="3388538" y="1499616"/>
            <a:ext cx="2593010" cy="1133856"/>
          </a:xfrm>
          <a:prstGeom prst="roundRect">
            <a:avLst>
              <a:gd name="adj" fmla="val 4839"/>
            </a:avLst>
          </a:prstGeom>
          <a:solidFill>
            <a:srgbClr val="EDF3FD"/>
          </a:solidFill>
          <a:ln w="9525">
            <a:solidFill>
              <a:srgbClr val="D8E4F7"/>
            </a:solidFill>
            <a:prstDash val="solid"/>
          </a:ln>
        </p:spPr>
      </p:sp>
      <p:sp>
        <p:nvSpPr>
          <p:cNvPr id="12" name="Text 10"/>
          <p:cNvSpPr/>
          <p:nvPr/>
        </p:nvSpPr>
        <p:spPr>
          <a:xfrm>
            <a:off x="3516554"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F2 / F1</a:t>
            </a:r>
            <a:endParaRPr lang="en-US" sz="950" dirty="0"/>
          </a:p>
        </p:txBody>
      </p:sp>
      <p:sp>
        <p:nvSpPr>
          <p:cNvPr id="13" name="Text 11"/>
          <p:cNvSpPr/>
          <p:nvPr/>
        </p:nvSpPr>
        <p:spPr>
          <a:xfrm>
            <a:off x="3516554" y="1828800"/>
            <a:ext cx="2336978" cy="530352"/>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0.6728</a:t>
            </a:r>
            <a:endParaRPr lang="en-US" sz="2100" dirty="0"/>
          </a:p>
        </p:txBody>
      </p:sp>
      <p:sp>
        <p:nvSpPr>
          <p:cNvPr id="14" name="Text 12"/>
          <p:cNvSpPr/>
          <p:nvPr/>
        </p:nvSpPr>
        <p:spPr>
          <a:xfrm>
            <a:off x="3516554"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F1 0.6985</a:t>
            </a:r>
            <a:endParaRPr lang="en-US" sz="900" dirty="0"/>
          </a:p>
        </p:txBody>
      </p:sp>
      <p:sp>
        <p:nvSpPr>
          <p:cNvPr id="15" name="Shape 13"/>
          <p:cNvSpPr/>
          <p:nvPr/>
        </p:nvSpPr>
        <p:spPr>
          <a:xfrm>
            <a:off x="6210148" y="1499616"/>
            <a:ext cx="2593010" cy="1133856"/>
          </a:xfrm>
          <a:prstGeom prst="roundRect">
            <a:avLst>
              <a:gd name="adj" fmla="val 4839"/>
            </a:avLst>
          </a:prstGeom>
          <a:solidFill>
            <a:srgbClr val="FBEDEC"/>
          </a:solidFill>
          <a:ln w="9525">
            <a:solidFill>
              <a:srgbClr val="EFD4D2"/>
            </a:solidFill>
            <a:prstDash val="solid"/>
          </a:ln>
        </p:spPr>
      </p:sp>
      <p:sp>
        <p:nvSpPr>
          <p:cNvPr id="16" name="Text 14"/>
          <p:cNvSpPr/>
          <p:nvPr/>
        </p:nvSpPr>
        <p:spPr>
          <a:xfrm>
            <a:off x="6338164"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미탐</a:t>
            </a:r>
            <a:endParaRPr lang="en-US" sz="950" dirty="0"/>
          </a:p>
        </p:txBody>
      </p:sp>
      <p:sp>
        <p:nvSpPr>
          <p:cNvPr id="17" name="Text 15"/>
          <p:cNvSpPr/>
          <p:nvPr/>
        </p:nvSpPr>
        <p:spPr>
          <a:xfrm>
            <a:off x="6338164" y="1828800"/>
            <a:ext cx="2336978" cy="53035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34.33%</a:t>
            </a:r>
            <a:endParaRPr lang="en-US" sz="2100" dirty="0"/>
          </a:p>
        </p:txBody>
      </p:sp>
      <p:sp>
        <p:nvSpPr>
          <p:cNvPr id="18" name="Text 16"/>
          <p:cNvSpPr/>
          <p:nvPr/>
        </p:nvSpPr>
        <p:spPr>
          <a:xfrm>
            <a:off x="6338164"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103 / 300</a:t>
            </a:r>
            <a:endParaRPr lang="en-US" sz="900" dirty="0"/>
          </a:p>
        </p:txBody>
      </p:sp>
      <p:sp>
        <p:nvSpPr>
          <p:cNvPr id="19" name="Shape 17"/>
          <p:cNvSpPr/>
          <p:nvPr/>
        </p:nvSpPr>
        <p:spPr>
          <a:xfrm>
            <a:off x="9031757" y="1499616"/>
            <a:ext cx="2593010" cy="1133856"/>
          </a:xfrm>
          <a:prstGeom prst="roundRect">
            <a:avLst>
              <a:gd name="adj" fmla="val 4839"/>
            </a:avLst>
          </a:prstGeom>
          <a:solidFill>
            <a:srgbClr val="EDF3FD"/>
          </a:solidFill>
          <a:ln w="9525">
            <a:solidFill>
              <a:srgbClr val="D8E4F7"/>
            </a:solidFill>
            <a:prstDash val="solid"/>
          </a:ln>
        </p:spPr>
      </p:sp>
      <p:sp>
        <p:nvSpPr>
          <p:cNvPr id="20" name="Text 18"/>
          <p:cNvSpPr/>
          <p:nvPr/>
        </p:nvSpPr>
        <p:spPr>
          <a:xfrm>
            <a:off x="9159773"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EM</a:t>
            </a:r>
            <a:endParaRPr lang="en-US" sz="950" dirty="0"/>
          </a:p>
        </p:txBody>
      </p:sp>
      <p:sp>
        <p:nvSpPr>
          <p:cNvPr id="21" name="Text 19"/>
          <p:cNvSpPr/>
          <p:nvPr/>
        </p:nvSpPr>
        <p:spPr>
          <a:xfrm>
            <a:off x="9159773" y="1828800"/>
            <a:ext cx="2336978" cy="530352"/>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52.33%</a:t>
            </a:r>
            <a:endParaRPr lang="en-US" sz="2100" dirty="0"/>
          </a:p>
        </p:txBody>
      </p:sp>
      <p:sp>
        <p:nvSpPr>
          <p:cNvPr id="22" name="Text 20"/>
          <p:cNvSpPr/>
          <p:nvPr/>
        </p:nvSpPr>
        <p:spPr>
          <a:xfrm>
            <a:off x="9159773"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157 / 300</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2779776"/>
          <a:ext cx="6492240" cy="914400"/>
        </p:xfrm>
        <a:graphic>
          <a:graphicData uri="http://schemas.openxmlformats.org/drawingml/2006/table">
            <a:tbl>
              <a:tblPr/>
              <a:tblGrid>
                <a:gridCol w="1600200"/>
                <a:gridCol w="685800"/>
                <a:gridCol w="1005840"/>
                <a:gridCol w="777240"/>
                <a:gridCol w="640080"/>
                <a:gridCol w="1783080"/>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OPF 라벨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account_number</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117 / 180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65.00%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63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110 / 180 (61.11%)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private_phone</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51 / 65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47 / 65 (72.31%)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private_person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 / 25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44.00%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25 (0.00%)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private_email</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 / 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20 (0.00%)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private_address</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 / 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10 (0.00%)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197 / 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65.67%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103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157 / 300 (52.33%)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24" name="Shape 21"/>
          <p:cNvSpPr/>
          <p:nvPr/>
        </p:nvSpPr>
        <p:spPr>
          <a:xfrm>
            <a:off x="566928" y="4956048"/>
            <a:ext cx="6492240" cy="877824"/>
          </a:xfrm>
          <a:prstGeom prst="roundRect">
            <a:avLst>
              <a:gd name="adj" fmla="val 6250"/>
            </a:avLst>
          </a:prstGeom>
          <a:solidFill>
            <a:srgbClr val="F7F8FB"/>
          </a:solidFill>
          <a:ln w="9525">
            <a:solidFill>
              <a:srgbClr val="DFE3EC"/>
            </a:solidFill>
            <a:prstDash val="solid"/>
          </a:ln>
        </p:spPr>
      </p:sp>
      <p:sp>
        <p:nvSpPr>
          <p:cNvPr id="25" name="Text 22"/>
          <p:cNvSpPr/>
          <p:nvPr/>
        </p:nvSpPr>
        <p:spPr>
          <a:xfrm>
            <a:off x="749808" y="5047488"/>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노출 3분류</a:t>
            </a:r>
            <a:endParaRPr lang="en-US" sz="900" dirty="0"/>
          </a:p>
        </p:txBody>
      </p:sp>
      <p:sp>
        <p:nvSpPr>
          <p:cNvPr id="26" name="Text 23"/>
          <p:cNvSpPr/>
          <p:nvPr/>
        </p:nvSpPr>
        <p:spPr>
          <a:xfrm>
            <a:off x="2121408" y="5047488"/>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완전 피복 205 / 부분 노출 40 (326자) / 완전 미탐 55</a:t>
            </a:r>
            <a:endParaRPr lang="en-US" sz="900" dirty="0"/>
          </a:p>
        </p:txBody>
      </p:sp>
      <p:sp>
        <p:nvSpPr>
          <p:cNvPr id="27" name="Text 24"/>
          <p:cNvSpPr/>
          <p:nvPr/>
        </p:nvSpPr>
        <p:spPr>
          <a:xfrm>
            <a:off x="749808" y="5244084"/>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과잉 마스킹</a:t>
            </a:r>
            <a:endParaRPr lang="en-US" sz="900" dirty="0"/>
          </a:p>
        </p:txBody>
      </p:sp>
      <p:sp>
        <p:nvSpPr>
          <p:cNvPr id="28" name="Text 25"/>
          <p:cNvSpPr/>
          <p:nvPr/>
        </p:nvSpPr>
        <p:spPr>
          <a:xfrm>
            <a:off x="2121408" y="5244084"/>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229자</a:t>
            </a:r>
            <a:endParaRPr lang="en-US" sz="900" dirty="0"/>
          </a:p>
        </p:txBody>
      </p:sp>
      <p:sp>
        <p:nvSpPr>
          <p:cNvPr id="29" name="Text 26"/>
          <p:cNvSpPr/>
          <p:nvPr/>
        </p:nvSpPr>
        <p:spPr>
          <a:xfrm>
            <a:off x="749808" y="5440680"/>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처리</a:t>
            </a:r>
            <a:endParaRPr lang="en-US" sz="900" dirty="0"/>
          </a:p>
        </p:txBody>
      </p:sp>
      <p:sp>
        <p:nvSpPr>
          <p:cNvPr id="30" name="Text 27"/>
          <p:cNvSpPr/>
          <p:nvPr/>
        </p:nvSpPr>
        <p:spPr>
          <a:xfrm>
            <a:off x="2121408" y="5440680"/>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300건 1.5초</a:t>
            </a:r>
            <a:endParaRPr lang="en-US" sz="900" dirty="0"/>
          </a:p>
        </p:txBody>
      </p:sp>
      <p:sp>
        <p:nvSpPr>
          <p:cNvPr id="31" name="Text 28"/>
          <p:cNvSpPr/>
          <p:nvPr/>
        </p:nvSpPr>
        <p:spPr>
          <a:xfrm>
            <a:off x="749808" y="5637276"/>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길이 계층</a:t>
            </a:r>
            <a:endParaRPr lang="en-US" sz="900" dirty="0"/>
          </a:p>
        </p:txBody>
      </p:sp>
      <p:sp>
        <p:nvSpPr>
          <p:cNvPr id="32" name="Text 29"/>
          <p:cNvSpPr/>
          <p:nvPr/>
        </p:nvSpPr>
        <p:spPr>
          <a:xfrm>
            <a:off x="2121408" y="5637276"/>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T1 64 / 97 · T2 69 / 96 · T3 64 / 107</a:t>
            </a:r>
            <a:endParaRPr lang="en-US" sz="900" dirty="0"/>
          </a:p>
        </p:txBody>
      </p:sp>
      <p:sp>
        <p:nvSpPr>
          <p:cNvPr id="33" name="Shape 30"/>
          <p:cNvSpPr/>
          <p:nvPr/>
        </p:nvSpPr>
        <p:spPr>
          <a:xfrm>
            <a:off x="7379208" y="2779776"/>
            <a:ext cx="4245559" cy="1572768"/>
          </a:xfrm>
          <a:prstGeom prst="roundRect">
            <a:avLst>
              <a:gd name="adj" fmla="val 3488"/>
            </a:avLst>
          </a:prstGeom>
          <a:solidFill>
            <a:srgbClr val="FBEDEC"/>
          </a:solidFill>
          <a:ln w="9525">
            <a:solidFill>
              <a:srgbClr val="EFD4D2"/>
            </a:solidFill>
            <a:prstDash val="solid"/>
          </a:ln>
        </p:spPr>
      </p:sp>
      <p:sp>
        <p:nvSpPr>
          <p:cNvPr id="34" name="Shape 31"/>
          <p:cNvSpPr/>
          <p:nvPr/>
        </p:nvSpPr>
        <p:spPr>
          <a:xfrm>
            <a:off x="7543800" y="2907792"/>
            <a:ext cx="3200400" cy="274320"/>
          </a:xfrm>
          <a:prstGeom prst="roundRect">
            <a:avLst>
              <a:gd name="adj" fmla="val 16667"/>
            </a:avLst>
          </a:prstGeom>
          <a:solidFill>
            <a:srgbClr val="8E2420"/>
          </a:solidFill>
          <a:ln w="6350">
            <a:solidFill>
              <a:srgbClr val="8E2420"/>
            </a:solidFill>
            <a:prstDash val="solid"/>
          </a:ln>
        </p:spPr>
      </p:sp>
      <p:sp>
        <p:nvSpPr>
          <p:cNvPr id="35" name="Text 32"/>
          <p:cNvSpPr/>
          <p:nvPr/>
        </p:nvSpPr>
        <p:spPr>
          <a:xfrm>
            <a:off x="7543800" y="2907792"/>
            <a:ext cx="32004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규칙 레이어 완전 붕괴</a:t>
            </a:r>
            <a:endParaRPr lang="en-US" sz="1050" dirty="0"/>
          </a:p>
        </p:txBody>
      </p:sp>
      <p:sp>
        <p:nvSpPr>
          <p:cNvPr id="36" name="Text 33"/>
          <p:cNvSpPr/>
          <p:nvPr/>
        </p:nvSpPr>
        <p:spPr>
          <a:xfrm>
            <a:off x="7562088" y="3291840"/>
            <a:ext cx="3879799" cy="365760"/>
          </a:xfrm>
          <a:prstGeom prst="rect">
            <a:avLst/>
          </a:prstGeom>
          <a:noFill/>
          <a:ln/>
        </p:spPr>
        <p:txBody>
          <a:bodyPr wrap="square" lIns="0" tIns="0" rIns="0" bIns="0" rtlCol="0" anchor="ctr"/>
          <a:lstStyle/>
          <a:p>
            <a:pPr algn="l" indent="0" marL="0">
              <a:buNone/>
            </a:pPr>
            <a:r>
              <a:rPr lang="en-US" sz="1800" b="1" dirty="0">
                <a:solidFill>
                  <a:srgbClr val="8E2420"/>
                </a:solidFill>
                <a:latin typeface="Malgun Gothic" pitchFamily="34" charset="0"/>
                <a:ea typeface="Malgun Gothic" pitchFamily="34" charset="-122"/>
                <a:cs typeface="Malgun Gothic" pitchFamily="34" charset="-120"/>
              </a:rPr>
              <a:t>고유식별 4종  0 / 0</a:t>
            </a:r>
            <a:endParaRPr lang="en-US" sz="1800" dirty="0"/>
          </a:p>
        </p:txBody>
      </p:sp>
      <p:sp>
        <p:nvSpPr>
          <p:cNvPr id="37" name="Text 34"/>
          <p:cNvSpPr/>
          <p:nvPr/>
        </p:nvSpPr>
        <p:spPr>
          <a:xfrm>
            <a:off x="7562088" y="3694176"/>
            <a:ext cx="3879799" cy="603504"/>
          </a:xfrm>
          <a:prstGeom prst="rect">
            <a:avLst/>
          </a:prstGeom>
          <a:noFill/>
          <a:ln/>
        </p:spPr>
        <p:txBody>
          <a:bodyPr wrap="square" lIns="0" tIns="0" rIns="0" bIns="0" rtlCol="0" anchor="t"/>
          <a:lstStyle/>
          <a:p>
            <a:pPr algn="l" indent="0" marL="0">
              <a:lnSpc>
                <a:spcPct val="120000"/>
              </a:lnSpc>
              <a:buNone/>
            </a:pPr>
            <a:r>
              <a:rPr lang="en-US" sz="950" dirty="0">
                <a:solidFill>
                  <a:srgbClr val="8E2420"/>
                </a:solidFill>
                <a:latin typeface="Malgun Gothic" pitchFamily="34" charset="0"/>
                <a:ea typeface="Malgun Gothic" pitchFamily="34" charset="-122"/>
                <a:cs typeface="Malgun Gothic" pitchFamily="34" charset="-120"/>
              </a:rPr>
              <a:t>형식이 깨져 정규식 매칭 자체가 성립하지 않습니다. 기준선에서 100%였던 규칙 레이어가 이 조건에서는 아무것도 잡지 못합니다.</a:t>
            </a:r>
            <a:endParaRPr lang="en-US" sz="950" dirty="0"/>
          </a:p>
        </p:txBody>
      </p:sp>
      <p:sp>
        <p:nvSpPr>
          <p:cNvPr id="38" name="Shape 35"/>
          <p:cNvSpPr/>
          <p:nvPr/>
        </p:nvSpPr>
        <p:spPr>
          <a:xfrm>
            <a:off x="7379208" y="4498848"/>
            <a:ext cx="4245559" cy="1335024"/>
          </a:xfrm>
          <a:prstGeom prst="roundRect">
            <a:avLst>
              <a:gd name="adj" fmla="val 4110"/>
            </a:avLst>
          </a:prstGeom>
          <a:solidFill>
            <a:srgbClr val="F7F8FB"/>
          </a:solidFill>
          <a:ln w="9525">
            <a:solidFill>
              <a:srgbClr val="DFE3EC"/>
            </a:solidFill>
            <a:prstDash val="solid"/>
          </a:ln>
        </p:spPr>
      </p:sp>
      <p:sp>
        <p:nvSpPr>
          <p:cNvPr id="39" name="Shape 36"/>
          <p:cNvSpPr/>
          <p:nvPr/>
        </p:nvSpPr>
        <p:spPr>
          <a:xfrm>
            <a:off x="7543800" y="4626864"/>
            <a:ext cx="2194560" cy="274320"/>
          </a:xfrm>
          <a:prstGeom prst="roundRect">
            <a:avLst>
              <a:gd name="adj" fmla="val 16667"/>
            </a:avLst>
          </a:prstGeom>
          <a:solidFill>
            <a:srgbClr val="1E2761"/>
          </a:solidFill>
          <a:ln w="6350">
            <a:solidFill>
              <a:srgbClr val="1E2761"/>
            </a:solidFill>
            <a:prstDash val="solid"/>
          </a:ln>
        </p:spPr>
      </p:sp>
      <p:sp>
        <p:nvSpPr>
          <p:cNvPr id="40" name="Text 37"/>
          <p:cNvSpPr/>
          <p:nvPr/>
        </p:nvSpPr>
        <p:spPr>
          <a:xfrm>
            <a:off x="7543800" y="4626864"/>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대표 미탐 사례</a:t>
            </a:r>
            <a:endParaRPr lang="en-US" sz="1050" dirty="0"/>
          </a:p>
        </p:txBody>
      </p:sp>
      <p:sp>
        <p:nvSpPr>
          <p:cNvPr id="41" name="Text 38"/>
          <p:cNvSpPr/>
          <p:nvPr/>
        </p:nvSpPr>
        <p:spPr>
          <a:xfrm>
            <a:off x="7562088" y="4992624"/>
            <a:ext cx="3879799" cy="786384"/>
          </a:xfrm>
          <a:prstGeom prst="rect">
            <a:avLst/>
          </a:prstGeom>
          <a:noFill/>
          <a:ln/>
        </p:spPr>
        <p:txBody>
          <a:bodyPr wrap="square" lIns="0" tIns="0" rIns="0" bIns="0" rtlCol="0" anchor="t"/>
          <a:lstStyle/>
          <a:p>
            <a:pPr algn="l" indent="0" marL="0">
              <a:lnSpc>
                <a:spcPct val="125000"/>
              </a:lnSpc>
              <a:buNone/>
            </a:pPr>
            <a:r>
              <a:rPr lang="en-US" sz="850" dirty="0">
                <a:solidFill>
                  <a:srgbClr val="16181D"/>
                </a:solidFill>
                <a:latin typeface="Consolas" pitchFamily="34" charset="0"/>
                <a:ea typeface="Consolas" pitchFamily="34" charset="-122"/>
                <a:cs typeface="Consolas" pitchFamily="34" charset="-120"/>
              </a:rPr>
              <a:t>366 다시 27 다시 979337 다시 84   →  덮인 구간 「366」</a:t>
            </a:r>
            <a:endParaRPr lang="en-US" sz="850" dirty="0"/>
          </a:p>
          <a:p>
            <a:pPr algn="l" indent="0" marL="0">
              <a:lnSpc>
                <a:spcPct val="125000"/>
              </a:lnSpc>
              <a:buNone/>
            </a:pPr>
            <a:r>
              <a:rPr lang="en-US" sz="850" dirty="0">
                <a:solidFill>
                  <a:srgbClr val="16181D"/>
                </a:solidFill>
                <a:latin typeface="Consolas" pitchFamily="34" charset="0"/>
                <a:ea typeface="Consolas" pitchFamily="34" charset="-122"/>
                <a:cs typeface="Consolas" pitchFamily="34" charset="-120"/>
              </a:rPr>
              <a:t>4732이랑 3555이랑 5909이랑 9013   →  덮인 구간 「9013」</a:t>
            </a:r>
            <a:endParaRPr lang="en-US" sz="850" dirty="0"/>
          </a:p>
          <a:p>
            <a:pPr algn="l" indent="0" marL="0">
              <a:lnSpc>
                <a:spcPct val="125000"/>
              </a:lnSpc>
              <a:buNone/>
            </a:pPr>
            <a:r>
              <a:rPr lang="en-US" sz="850" dirty="0">
                <a:solidFill>
                  <a:srgbClr val="16181D"/>
                </a:solidFill>
                <a:latin typeface="Consolas" pitchFamily="34" charset="0"/>
                <a:ea typeface="Consolas" pitchFamily="34" charset="-122"/>
                <a:cs typeface="Consolas" pitchFamily="34" charset="-120"/>
              </a:rPr>
              <a:t>eunsu에 cho32@kakao에 com   →  「에 com」 노출</a:t>
            </a:r>
            <a:endParaRPr lang="en-US" sz="850" dirty="0"/>
          </a:p>
        </p:txBody>
      </p:sp>
      <p:sp>
        <p:nvSpPr>
          <p:cNvPr id="42" name="Text 39"/>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프로브셋 구성 : P1 절단형 · P2 구어체 삽입 · P3 띄어쓰기 파괴  |  사양·타당성 검토는 부록 A6·A7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11</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규칙 vs 문맥 — 배타적 선택이 아닌 역할 분담</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11 / 16</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2377440"/>
                <a:gridCol w="2651760"/>
                <a:gridCol w="2743200"/>
                <a:gridCol w="3285439"/>
              </a:tblGrid>
              <a:tr h="30175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조건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OPF (문맥 기반)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규칙 레이어 (형식 기반)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해석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 · 기준선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6,940 / 7,689 (90.26%)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7,689 / 7,689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규칙 우위 — 단, 아래 유의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성명 · 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9,394 / 12,230 (76.81%)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적용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형식이 없어 규칙 정의 자체가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부분 발화 프로브셋</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197 / 300 (65.67%)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규칙 완전 붕괴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전체 커버리지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28,420 / 28,420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7,689 / 28,420 (27.05%)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규칙은 전체의 1/4만 담당 가능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2615184"/>
            <a:ext cx="11057839" cy="512064"/>
          </a:xfrm>
          <a:prstGeom prst="roundRect">
            <a:avLst>
              <a:gd name="adj" fmla="val 10714"/>
            </a:avLst>
          </a:prstGeom>
          <a:solidFill>
            <a:srgbClr val="FBF4E4"/>
          </a:solidFill>
          <a:ln w="9525">
            <a:solidFill>
              <a:srgbClr val="FBF4E4"/>
            </a:solidFill>
            <a:prstDash val="solid"/>
          </a:ln>
        </p:spPr>
      </p:sp>
      <p:sp>
        <p:nvSpPr>
          <p:cNvPr id="7" name="Text 4"/>
          <p:cNvSpPr/>
          <p:nvPr/>
        </p:nvSpPr>
        <p:spPr>
          <a:xfrm>
            <a:off x="713232" y="2651760"/>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 규칙 레이어의 기준선 100.00%는 테스트셋 생성 방식의 산물입니다. 값이 규칙적 형식으로 합성되었기 때문이며, 실제 상담 로그에서의 성능을 의미하지 않습니다. 바로 위 프로브셋 0 / 0이 그 근거입니다.</a:t>
            </a:r>
            <a:endParaRPr lang="en-US" sz="950" dirty="0"/>
          </a:p>
        </p:txBody>
      </p:sp>
      <p:sp>
        <p:nvSpPr>
          <p:cNvPr id="8" name="Shape 5"/>
          <p:cNvSpPr/>
          <p:nvPr/>
        </p:nvSpPr>
        <p:spPr>
          <a:xfrm>
            <a:off x="566928" y="3346704"/>
            <a:ext cx="5391760" cy="1883664"/>
          </a:xfrm>
          <a:prstGeom prst="roundRect">
            <a:avLst>
              <a:gd name="adj" fmla="val 2913"/>
            </a:avLst>
          </a:prstGeom>
          <a:solidFill>
            <a:srgbClr val="EDF3FD"/>
          </a:solidFill>
          <a:ln w="9525">
            <a:solidFill>
              <a:srgbClr val="D0DEF6"/>
            </a:solidFill>
            <a:prstDash val="solid"/>
          </a:ln>
        </p:spPr>
      </p:sp>
      <p:sp>
        <p:nvSpPr>
          <p:cNvPr id="9" name="Shape 6"/>
          <p:cNvSpPr/>
          <p:nvPr/>
        </p:nvSpPr>
        <p:spPr>
          <a:xfrm>
            <a:off x="731520" y="3474720"/>
            <a:ext cx="2377440" cy="274320"/>
          </a:xfrm>
          <a:prstGeom prst="roundRect">
            <a:avLst>
              <a:gd name="adj" fmla="val 16667"/>
            </a:avLst>
          </a:prstGeom>
          <a:solidFill>
            <a:srgbClr val="1E2761"/>
          </a:solidFill>
          <a:ln w="6350">
            <a:solidFill>
              <a:srgbClr val="1E2761"/>
            </a:solidFill>
            <a:prstDash val="solid"/>
          </a:ln>
        </p:spPr>
      </p:sp>
      <p:sp>
        <p:nvSpPr>
          <p:cNvPr id="10" name="Text 7"/>
          <p:cNvSpPr/>
          <p:nvPr/>
        </p:nvSpPr>
        <p:spPr>
          <a:xfrm>
            <a:off x="731520" y="3474720"/>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규칙 레이어의 강점</a:t>
            </a:r>
            <a:endParaRPr lang="en-US" sz="1050" dirty="0"/>
          </a:p>
        </p:txBody>
      </p:sp>
      <p:sp>
        <p:nvSpPr>
          <p:cNvPr id="11" name="Text 8"/>
          <p:cNvSpPr/>
          <p:nvPr/>
        </p:nvSpPr>
        <p:spPr>
          <a:xfrm>
            <a:off x="768096" y="3877056"/>
            <a:ext cx="4989424" cy="1225296"/>
          </a:xfrm>
          <a:prstGeom prst="rect">
            <a:avLst/>
          </a:prstGeom>
          <a:noFill/>
          <a:ln/>
        </p:spPr>
        <p:txBody>
          <a:bodyPr wrap="square" lIns="0" tIns="0" rIns="0" bIns="0" rtlCol="0" anchor="t"/>
          <a:lstStyle/>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결정론적 — 동일 입력에 동일 출력</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검증번호·Luhn으로 형식 타당성까지 확인</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판정 근거를 사람이 읽고 검증 가능</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형식이 확정된 항목에서 미탐 0</a:t>
            </a:r>
            <a:endParaRPr lang="en-US" sz="1050" dirty="0"/>
          </a:p>
        </p:txBody>
      </p:sp>
      <p:sp>
        <p:nvSpPr>
          <p:cNvPr id="12" name="Shape 9"/>
          <p:cNvSpPr/>
          <p:nvPr/>
        </p:nvSpPr>
        <p:spPr>
          <a:xfrm>
            <a:off x="6233008" y="3346704"/>
            <a:ext cx="5391760" cy="1883664"/>
          </a:xfrm>
          <a:prstGeom prst="roundRect">
            <a:avLst>
              <a:gd name="adj" fmla="val 2913"/>
            </a:avLst>
          </a:prstGeom>
          <a:solidFill>
            <a:srgbClr val="F7F8FB"/>
          </a:solidFill>
          <a:ln w="9525">
            <a:solidFill>
              <a:srgbClr val="DFE3EC"/>
            </a:solidFill>
            <a:prstDash val="solid"/>
          </a:ln>
        </p:spPr>
      </p:sp>
      <p:sp>
        <p:nvSpPr>
          <p:cNvPr id="13" name="Shape 10"/>
          <p:cNvSpPr/>
          <p:nvPr/>
        </p:nvSpPr>
        <p:spPr>
          <a:xfrm>
            <a:off x="6397600" y="3474720"/>
            <a:ext cx="2377440" cy="274320"/>
          </a:xfrm>
          <a:prstGeom prst="roundRect">
            <a:avLst>
              <a:gd name="adj" fmla="val 16667"/>
            </a:avLst>
          </a:prstGeom>
          <a:solidFill>
            <a:srgbClr val="1E2761"/>
          </a:solidFill>
          <a:ln w="6350">
            <a:solidFill>
              <a:srgbClr val="1E2761"/>
            </a:solidFill>
            <a:prstDash val="solid"/>
          </a:ln>
        </p:spPr>
      </p:sp>
      <p:sp>
        <p:nvSpPr>
          <p:cNvPr id="14" name="Text 11"/>
          <p:cNvSpPr/>
          <p:nvPr/>
        </p:nvSpPr>
        <p:spPr>
          <a:xfrm>
            <a:off x="6397600" y="3474720"/>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규칙 레이어의 한계</a:t>
            </a:r>
            <a:endParaRPr lang="en-US" sz="1050" dirty="0"/>
          </a:p>
        </p:txBody>
      </p:sp>
      <p:sp>
        <p:nvSpPr>
          <p:cNvPr id="15" name="Text 12"/>
          <p:cNvSpPr/>
          <p:nvPr/>
        </p:nvSpPr>
        <p:spPr>
          <a:xfrm>
            <a:off x="6434176" y="3877056"/>
            <a:ext cx="4989424" cy="1225296"/>
          </a:xfrm>
          <a:prstGeom prst="rect">
            <a:avLst/>
          </a:prstGeom>
          <a:noFill/>
          <a:ln/>
        </p:spPr>
        <p:txBody>
          <a:bodyPr wrap="square" lIns="0" tIns="0" rIns="0" bIns="0" rtlCol="0" anchor="t"/>
          <a:lstStyle/>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커버리지 7,689 / 28,420 (27.05%)</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성명·주소는 형식이 없어 정의 불가</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형식이 깨지면 즉시 붕괴 (프로브셋 0 / 0)</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기관별 형식 차이를 전부 등록·유지해야 함</a:t>
            </a:r>
            <a:endParaRPr lang="en-US" sz="1050" dirty="0"/>
          </a:p>
        </p:txBody>
      </p:sp>
      <p:sp>
        <p:nvSpPr>
          <p:cNvPr id="16" name="Shape 13"/>
          <p:cNvSpPr/>
          <p:nvPr/>
        </p:nvSpPr>
        <p:spPr>
          <a:xfrm>
            <a:off x="566928" y="5431536"/>
            <a:ext cx="11057839" cy="786384"/>
          </a:xfrm>
          <a:prstGeom prst="roundRect">
            <a:avLst>
              <a:gd name="adj" fmla="val 6977"/>
            </a:avLst>
          </a:prstGeom>
          <a:solidFill>
            <a:srgbClr val="1E2761"/>
          </a:solidFill>
          <a:ln w="9525">
            <a:solidFill>
              <a:srgbClr val="1E2761"/>
            </a:solidFill>
            <a:prstDash val="solid"/>
          </a:ln>
        </p:spPr>
      </p:sp>
      <p:sp>
        <p:nvSpPr>
          <p:cNvPr id="17" name="Text 14"/>
          <p:cNvSpPr/>
          <p:nvPr/>
        </p:nvSpPr>
        <p:spPr>
          <a:xfrm>
            <a:off x="822960" y="5431536"/>
            <a:ext cx="10545775" cy="786384"/>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두 방식은 서로를 대체하지 않습니다. 형식이 확정된 항목은 규칙이, 문맥 판단이 필요한 항목은 모델이 담당하는 역할 분담이 타당합니다.</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12</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고도화 ① 하이브리드 — 고유식별 4종 규칙 병행</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12 / 16</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920240"/>
                <a:gridCol w="2377440"/>
                <a:gridCol w="2377440"/>
                <a:gridCol w="2377440"/>
                <a:gridCol w="2005279"/>
              </a:tblGrid>
              <a:tr h="28346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OPF 단독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규칙 단독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합집합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규칙이 구제한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 (90.87%)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3,320 / 3,320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3,318 / 3,320 (99.94%)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 (92.34%)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 / 1,580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 / 1,580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 (93.92%)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1,283 / 1,283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1,280 / 1,283 (99.77%)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 (83.60%)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1,506 / 1,506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1,503 / 1,506 (99.80%)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6,940 / 7,689 (90.26%)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7,689 / 7,689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7,681 / 7,689 (99.90%)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741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r h="28346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749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2F5D45"/>
                          </a:solidFill>
                          <a:latin typeface="Malgun Gothic" pitchFamily="34" charset="0"/>
                          <a:ea typeface="Malgun Gothic" pitchFamily="34" charset="-122"/>
                          <a:cs typeface="Malgun Gothic" pitchFamily="34" charset="-120"/>
                        </a:rPr>
                        <a:t>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3108960"/>
            <a:ext cx="3533546" cy="1170432"/>
          </a:xfrm>
          <a:prstGeom prst="roundRect">
            <a:avLst>
              <a:gd name="adj" fmla="val 4688"/>
            </a:avLst>
          </a:prstGeom>
          <a:solidFill>
            <a:srgbClr val="1E2761"/>
          </a:solidFill>
          <a:ln w="9525">
            <a:solidFill>
              <a:srgbClr val="1E2761"/>
            </a:solidFill>
            <a:prstDash val="solid"/>
          </a:ln>
        </p:spPr>
      </p:sp>
      <p:sp>
        <p:nvSpPr>
          <p:cNvPr id="7" name="Text 4"/>
          <p:cNvSpPr/>
          <p:nvPr/>
        </p:nvSpPr>
        <p:spPr>
          <a:xfrm>
            <a:off x="694944" y="3218688"/>
            <a:ext cx="3277514"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고유식별 4종 미탐</a:t>
            </a:r>
            <a:endParaRPr lang="en-US" sz="950" dirty="0"/>
          </a:p>
        </p:txBody>
      </p:sp>
      <p:sp>
        <p:nvSpPr>
          <p:cNvPr id="8" name="Text 5"/>
          <p:cNvSpPr/>
          <p:nvPr/>
        </p:nvSpPr>
        <p:spPr>
          <a:xfrm>
            <a:off x="694944" y="3438144"/>
            <a:ext cx="3277514" cy="566928"/>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749 → 8</a:t>
            </a:r>
            <a:endParaRPr lang="en-US" sz="2100" dirty="0"/>
          </a:p>
        </p:txBody>
      </p:sp>
      <p:sp>
        <p:nvSpPr>
          <p:cNvPr id="9" name="Text 6"/>
          <p:cNvSpPr/>
          <p:nvPr/>
        </p:nvSpPr>
        <p:spPr>
          <a:xfrm>
            <a:off x="694944" y="3968496"/>
            <a:ext cx="3277514"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99.90% 커버</a:t>
            </a:r>
            <a:endParaRPr lang="en-US" sz="900" dirty="0"/>
          </a:p>
        </p:txBody>
      </p:sp>
      <p:sp>
        <p:nvSpPr>
          <p:cNvPr id="10" name="Shape 7"/>
          <p:cNvSpPr/>
          <p:nvPr/>
        </p:nvSpPr>
        <p:spPr>
          <a:xfrm>
            <a:off x="4329074" y="3108960"/>
            <a:ext cx="3533546" cy="1170432"/>
          </a:xfrm>
          <a:prstGeom prst="roundRect">
            <a:avLst>
              <a:gd name="adj" fmla="val 4688"/>
            </a:avLst>
          </a:prstGeom>
          <a:solidFill>
            <a:srgbClr val="1E2761"/>
          </a:solidFill>
          <a:ln w="9525">
            <a:solidFill>
              <a:srgbClr val="1E2761"/>
            </a:solidFill>
            <a:prstDash val="solid"/>
          </a:ln>
        </p:spPr>
      </p:sp>
      <p:sp>
        <p:nvSpPr>
          <p:cNvPr id="11" name="Text 8"/>
          <p:cNvSpPr/>
          <p:nvPr/>
        </p:nvSpPr>
        <p:spPr>
          <a:xfrm>
            <a:off x="4457090" y="3218688"/>
            <a:ext cx="3277514"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문서 단위 미탐 (4종 범위)</a:t>
            </a:r>
            <a:endParaRPr lang="en-US" sz="950" dirty="0"/>
          </a:p>
        </p:txBody>
      </p:sp>
      <p:sp>
        <p:nvSpPr>
          <p:cNvPr id="12" name="Text 9"/>
          <p:cNvSpPr/>
          <p:nvPr/>
        </p:nvSpPr>
        <p:spPr>
          <a:xfrm>
            <a:off x="4457090" y="3438144"/>
            <a:ext cx="3277514" cy="566928"/>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625 → 8</a:t>
            </a:r>
            <a:endParaRPr lang="en-US" sz="2100" dirty="0"/>
          </a:p>
        </p:txBody>
      </p:sp>
      <p:sp>
        <p:nvSpPr>
          <p:cNvPr id="13" name="Text 10"/>
          <p:cNvSpPr/>
          <p:nvPr/>
        </p:nvSpPr>
        <p:spPr>
          <a:xfrm>
            <a:off x="4457090" y="3968496"/>
            <a:ext cx="3277514"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20.83% → 0.27%</a:t>
            </a:r>
            <a:endParaRPr lang="en-US" sz="900" dirty="0"/>
          </a:p>
        </p:txBody>
      </p:sp>
      <p:sp>
        <p:nvSpPr>
          <p:cNvPr id="14" name="Shape 11"/>
          <p:cNvSpPr/>
          <p:nvPr/>
        </p:nvSpPr>
        <p:spPr>
          <a:xfrm>
            <a:off x="8091221" y="3108960"/>
            <a:ext cx="3533546" cy="1170432"/>
          </a:xfrm>
          <a:prstGeom prst="roundRect">
            <a:avLst>
              <a:gd name="adj" fmla="val 4688"/>
            </a:avLst>
          </a:prstGeom>
          <a:solidFill>
            <a:srgbClr val="EDF3FD"/>
          </a:solidFill>
          <a:ln w="9525">
            <a:solidFill>
              <a:srgbClr val="D8E4F7"/>
            </a:solidFill>
            <a:prstDash val="solid"/>
          </a:ln>
        </p:spPr>
      </p:sp>
      <p:sp>
        <p:nvSpPr>
          <p:cNvPr id="15" name="Text 12"/>
          <p:cNvSpPr/>
          <p:nvPr/>
        </p:nvSpPr>
        <p:spPr>
          <a:xfrm>
            <a:off x="8219237" y="3218688"/>
            <a:ext cx="3277514"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과탐 변화</a:t>
            </a:r>
            <a:endParaRPr lang="en-US" sz="950" dirty="0"/>
          </a:p>
        </p:txBody>
      </p:sp>
      <p:sp>
        <p:nvSpPr>
          <p:cNvPr id="16" name="Text 13"/>
          <p:cNvSpPr/>
          <p:nvPr/>
        </p:nvSpPr>
        <p:spPr>
          <a:xfrm>
            <a:off x="8219237" y="3438144"/>
            <a:ext cx="3277514" cy="566928"/>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19,874 → 19,819</a:t>
            </a:r>
            <a:endParaRPr lang="en-US" sz="2100" dirty="0"/>
          </a:p>
        </p:txBody>
      </p:sp>
      <p:sp>
        <p:nvSpPr>
          <p:cNvPr id="17" name="Text 14"/>
          <p:cNvSpPr/>
          <p:nvPr/>
        </p:nvSpPr>
        <p:spPr>
          <a:xfrm>
            <a:off x="8219237" y="3968496"/>
            <a:ext cx="3277514"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실질 동일 수준 유지</a:t>
            </a:r>
            <a:endParaRPr lang="en-US" sz="900" dirty="0"/>
          </a:p>
        </p:txBody>
      </p:sp>
      <p:sp>
        <p:nvSpPr>
          <p:cNvPr id="18" name="Shape 15"/>
          <p:cNvSpPr/>
          <p:nvPr/>
        </p:nvSpPr>
        <p:spPr>
          <a:xfrm>
            <a:off x="566928" y="4498848"/>
            <a:ext cx="5363052" cy="1298448"/>
          </a:xfrm>
          <a:prstGeom prst="roundRect">
            <a:avLst>
              <a:gd name="adj" fmla="val 4225"/>
            </a:avLst>
          </a:prstGeom>
          <a:solidFill>
            <a:srgbClr val="FBF4E4"/>
          </a:solidFill>
          <a:ln w="9525">
            <a:solidFill>
              <a:srgbClr val="EFE1C4"/>
            </a:solidFill>
            <a:prstDash val="solid"/>
          </a:ln>
        </p:spPr>
      </p:sp>
      <p:sp>
        <p:nvSpPr>
          <p:cNvPr id="19" name="Shape 16"/>
          <p:cNvSpPr/>
          <p:nvPr/>
        </p:nvSpPr>
        <p:spPr>
          <a:xfrm>
            <a:off x="731520" y="4608576"/>
            <a:ext cx="2743200" cy="274320"/>
          </a:xfrm>
          <a:prstGeom prst="roundRect">
            <a:avLst>
              <a:gd name="adj" fmla="val 16667"/>
            </a:avLst>
          </a:prstGeom>
          <a:solidFill>
            <a:srgbClr val="8A6410"/>
          </a:solidFill>
          <a:ln w="6350">
            <a:solidFill>
              <a:srgbClr val="8A6410"/>
            </a:solidFill>
            <a:prstDash val="solid"/>
          </a:ln>
        </p:spPr>
      </p:sp>
      <p:sp>
        <p:nvSpPr>
          <p:cNvPr id="20" name="Text 17"/>
          <p:cNvSpPr/>
          <p:nvPr/>
        </p:nvSpPr>
        <p:spPr>
          <a:xfrm>
            <a:off x="731520" y="4608576"/>
            <a:ext cx="2743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과탐 −55의 정확한 의미</a:t>
            </a:r>
            <a:endParaRPr lang="en-US" sz="1050" dirty="0"/>
          </a:p>
        </p:txBody>
      </p:sp>
      <p:sp>
        <p:nvSpPr>
          <p:cNvPr id="21" name="Text 18"/>
          <p:cNvSpPr/>
          <p:nvPr/>
        </p:nvSpPr>
        <p:spPr>
          <a:xfrm>
            <a:off x="749808" y="4974336"/>
            <a:ext cx="4997292" cy="749808"/>
          </a:xfrm>
          <a:prstGeom prst="rect">
            <a:avLst/>
          </a:prstGeom>
          <a:noFill/>
          <a:ln/>
        </p:spPr>
        <p:txBody>
          <a:bodyPr wrap="square" lIns="0" tIns="0" rIns="0" bIns="0" rtlCol="0" anchor="t"/>
          <a:lstStyle/>
          <a:p>
            <a:pPr algn="l" indent="0" marL="0">
              <a:lnSpc>
                <a:spcPct val="118000"/>
              </a:lnSpc>
              <a:buNone/>
            </a:pPr>
            <a:r>
              <a:rPr lang="en-US" sz="950" dirty="0">
                <a:solidFill>
                  <a:srgbClr val="8A6410"/>
                </a:solidFill>
                <a:latin typeface="Malgun Gothic" pitchFamily="34" charset="0"/>
                <a:ea typeface="Malgun Gothic" pitchFamily="34" charset="-122"/>
                <a:cs typeface="Malgun Gothic" pitchFamily="34" charset="-120"/>
              </a:rPr>
              <a:t>과탐이 감소한 것이 아닙니다. 겹치는 위치의 과탐 두 건이 병합 과정에서 한 건으로 합쳐진 결과입니다. 예측 스팬은 34,658 → 33,335로 줄었고 병합된 스팬은 9,012건입니다. 정확한 표현은 「과탐 실질 동일 수준 유지」입니다.</a:t>
            </a:r>
            <a:endParaRPr lang="en-US" sz="950" dirty="0"/>
          </a:p>
        </p:txBody>
      </p:sp>
      <p:sp>
        <p:nvSpPr>
          <p:cNvPr id="22" name="Shape 19"/>
          <p:cNvSpPr/>
          <p:nvPr/>
        </p:nvSpPr>
        <p:spPr>
          <a:xfrm>
            <a:off x="6095848" y="4498848"/>
            <a:ext cx="5528920" cy="1298448"/>
          </a:xfrm>
          <a:prstGeom prst="roundRect">
            <a:avLst>
              <a:gd name="adj" fmla="val 4225"/>
            </a:avLst>
          </a:prstGeom>
          <a:solidFill>
            <a:srgbClr val="F7F8FB"/>
          </a:solidFill>
          <a:ln w="9525">
            <a:solidFill>
              <a:srgbClr val="DFE3EC"/>
            </a:solidFill>
            <a:prstDash val="solid"/>
          </a:ln>
        </p:spPr>
      </p:sp>
      <p:sp>
        <p:nvSpPr>
          <p:cNvPr id="23" name="Shape 20"/>
          <p:cNvSpPr/>
          <p:nvPr/>
        </p:nvSpPr>
        <p:spPr>
          <a:xfrm>
            <a:off x="6260440" y="4608576"/>
            <a:ext cx="2560320" cy="274320"/>
          </a:xfrm>
          <a:prstGeom prst="roundRect">
            <a:avLst>
              <a:gd name="adj" fmla="val 16667"/>
            </a:avLst>
          </a:prstGeom>
          <a:solidFill>
            <a:srgbClr val="1E2761"/>
          </a:solidFill>
          <a:ln w="6350">
            <a:solidFill>
              <a:srgbClr val="1E2761"/>
            </a:solidFill>
            <a:prstDash val="solid"/>
          </a:ln>
        </p:spPr>
      </p:sp>
      <p:sp>
        <p:nvSpPr>
          <p:cNvPr id="24" name="Text 21"/>
          <p:cNvSpPr/>
          <p:nvPr/>
        </p:nvSpPr>
        <p:spPr>
          <a:xfrm>
            <a:off x="6260440" y="4608576"/>
            <a:ext cx="2560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잔여 미탐 8건 · 원인 확인</a:t>
            </a:r>
            <a:endParaRPr lang="en-US" sz="1050" dirty="0"/>
          </a:p>
        </p:txBody>
      </p:sp>
      <p:sp>
        <p:nvSpPr>
          <p:cNvPr id="25" name="Text 22"/>
          <p:cNvSpPr/>
          <p:nvPr/>
        </p:nvSpPr>
        <p:spPr>
          <a:xfrm>
            <a:off x="6278728" y="4974336"/>
            <a:ext cx="5163160" cy="749808"/>
          </a:xfrm>
          <a:prstGeom prst="rect">
            <a:avLst/>
          </a:prstGeom>
          <a:noFill/>
          <a:ln/>
        </p:spPr>
        <p:txBody>
          <a:bodyPr wrap="square" lIns="0" tIns="0" rIns="0" bIns="0" rtlCol="0" anchor="t"/>
          <a:lstStyle/>
          <a:p>
            <a:pPr algn="l" indent="0" marL="0">
              <a:lnSpc>
                <a:spcPct val="118000"/>
              </a:lnSpc>
              <a:buNone/>
            </a:pPr>
            <a:r>
              <a:rPr lang="en-US" sz="950" dirty="0">
                <a:solidFill>
                  <a:srgbClr val="16181D"/>
                </a:solidFill>
                <a:latin typeface="Malgun Gothic" pitchFamily="34" charset="0"/>
                <a:ea typeface="Malgun Gothic" pitchFamily="34" charset="-122"/>
                <a:cs typeface="Malgun Gothic" pitchFamily="34" charset="-120"/>
              </a:rPr>
              <a:t>병합 규칙이 「겹치면 넓은 쪽 채택」으로 되어 있어, 규칙 레이어가 정확히 잡은 예측을 경계가 밀린 OPF 예측이 밀어냈습니다. 「구간 합집합 유지」로 변경 시 0건이 될 것으로 예상되나, 발표 시점 기준 미수정 상태입니다.</a:t>
            </a:r>
            <a:endParaRPr lang="en-US" sz="950" dirty="0"/>
          </a:p>
        </p:txBody>
      </p:sp>
      <p:sp>
        <p:nvSpPr>
          <p:cNvPr id="26" name="Text 23"/>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현재 상태 : 평가 단계에서 검증한 후처리 방식이며 서비스 파이프라인에는 미반영  |  검증 범위는 자체 합성 테스트셋 3,000문서 한정</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13</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고도화 ② 운영점 조정 및 디코딩 구성</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13 / 16</a:t>
            </a:r>
            <a:endParaRPr lang="en-US" sz="1000" dirty="0"/>
          </a:p>
        </p:txBody>
      </p:sp>
      <p:sp>
        <p:nvSpPr>
          <p:cNvPr id="5" name="Shape 3"/>
          <p:cNvSpPr/>
          <p:nvPr/>
        </p:nvSpPr>
        <p:spPr>
          <a:xfrm>
            <a:off x="566928" y="914400"/>
            <a:ext cx="11057839" cy="512064"/>
          </a:xfrm>
          <a:prstGeom prst="roundRect">
            <a:avLst>
              <a:gd name="adj" fmla="val 10714"/>
            </a:avLst>
          </a:prstGeom>
          <a:solidFill>
            <a:srgbClr val="EDF3FD"/>
          </a:solidFill>
          <a:ln w="9525">
            <a:solidFill>
              <a:srgbClr val="EDF3FD"/>
            </a:solidFill>
            <a:prstDash val="solid"/>
          </a:ln>
        </p:spPr>
      </p:sp>
      <p:sp>
        <p:nvSpPr>
          <p:cNvPr id="6" name="Text 4"/>
          <p:cNvSpPr/>
          <p:nvPr/>
        </p:nvSpPr>
        <p:spPr>
          <a:xfrm>
            <a:off x="713232" y="950976"/>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실험 목적 — 제공된 추론 환경은 argmax 디코딩입니다. 이 조건에서 재현율을 끌어올릴 여지가 있는지 확인하기 위해, 배경 클래스(O)의 로짓을 감산하는 방식으로 운영점 조정을 시도했습니다.</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7040880" cy="914400"/>
        </p:xfrm>
        <a:graphic>
          <a:graphicData uri="http://schemas.openxmlformats.org/drawingml/2006/table">
            <a:tbl>
              <a:tblPr/>
              <a:tblGrid>
                <a:gridCol w="1645920"/>
                <a:gridCol w="2194560"/>
                <a:gridCol w="2377440"/>
                <a:gridCol w="822960"/>
              </a:tblGrid>
              <a:tr h="248717">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bias 0 (기준선)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bias 1 / 2 / 4 (동일 결과)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변화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24,489 / 28,420 (86.17%)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26,660 / 28,420 (93.81%)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미탐 (FN)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3,931 / 28,420 (13.83%)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1,760 / 28,420 (6.19%)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문서 단위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2,040 / 3,000 (68.00%)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1,265 / 3,000 (42.17%)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749 / 7,689 (9.74%)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696 / 7,689 (9.05%)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 소폭</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부분 노출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705 (3,827자)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 (0자)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예측 스팬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34,658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297,474 (8.58배)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 악화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과잉 마스킹 문자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117,746자 (8.46%)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982,700자 (70.59%)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 악화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F1 / 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0.5706 / 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0.0977 / 0.2112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 악화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8" name="Shape 5"/>
          <p:cNvSpPr/>
          <p:nvPr/>
        </p:nvSpPr>
        <p:spPr>
          <a:xfrm>
            <a:off x="566928" y="3913632"/>
            <a:ext cx="7040880" cy="969264"/>
          </a:xfrm>
          <a:prstGeom prst="roundRect">
            <a:avLst>
              <a:gd name="adj" fmla="val 5660"/>
            </a:avLst>
          </a:prstGeom>
          <a:solidFill>
            <a:srgbClr val="FBEDEC"/>
          </a:solidFill>
          <a:ln w="9525">
            <a:solidFill>
              <a:srgbClr val="EFD4D2"/>
            </a:solidFill>
            <a:prstDash val="solid"/>
          </a:ln>
        </p:spPr>
      </p:sp>
      <p:sp>
        <p:nvSpPr>
          <p:cNvPr id="9" name="Text 6"/>
          <p:cNvSpPr/>
          <p:nvPr/>
        </p:nvSpPr>
        <p:spPr>
          <a:xfrm>
            <a:off x="749808" y="3986784"/>
            <a:ext cx="6675120" cy="292608"/>
          </a:xfrm>
          <a:prstGeom prst="rect">
            <a:avLst/>
          </a:prstGeom>
          <a:noFill/>
          <a:ln/>
        </p:spPr>
        <p:txBody>
          <a:bodyPr wrap="square" lIns="0" tIns="0" rIns="0" bIns="0" rtlCol="0" anchor="ctr"/>
          <a:lstStyle/>
          <a:p>
            <a:pPr algn="l" indent="0" marL="0">
              <a:buNone/>
            </a:pPr>
            <a:r>
              <a:rPr lang="en-US" sz="1000" b="1" dirty="0">
                <a:solidFill>
                  <a:srgbClr val="8E2420"/>
                </a:solidFill>
                <a:latin typeface="Malgun Gothic" pitchFamily="34" charset="0"/>
                <a:ea typeface="Malgun Gothic" pitchFamily="34" charset="-122"/>
                <a:cs typeface="Malgun Gothic" pitchFamily="34" charset="-120"/>
              </a:rPr>
              <a:t>bias 1 · 2 · 4가 완전히 동일한 결과를 냈습니다. 로짓 차이 분포가 이미 1.0 지점에서 포화되었기 때문입니다.</a:t>
            </a:r>
            <a:endParaRPr lang="en-US" sz="1000" dirty="0"/>
          </a:p>
        </p:txBody>
      </p:sp>
      <p:sp>
        <p:nvSpPr>
          <p:cNvPr id="10" name="Text 7"/>
          <p:cNvSpPr/>
          <p:nvPr/>
        </p:nvSpPr>
        <p:spPr>
          <a:xfrm>
            <a:off x="749808" y="4279392"/>
            <a:ext cx="6675120" cy="530352"/>
          </a:xfrm>
          <a:prstGeom prst="rect">
            <a:avLst/>
          </a:prstGeom>
          <a:noFill/>
          <a:ln/>
        </p:spPr>
        <p:txBody>
          <a:bodyPr wrap="square" lIns="0" tIns="0" rIns="0" bIns="0" rtlCol="0" anchor="t"/>
          <a:lstStyle/>
          <a:p>
            <a:pPr algn="l" indent="0" marL="0">
              <a:lnSpc>
                <a:spcPct val="118000"/>
              </a:lnSpc>
              <a:buNone/>
            </a:pPr>
            <a:r>
              <a:rPr lang="en-US" sz="950" dirty="0">
                <a:solidFill>
                  <a:srgbClr val="8E2420"/>
                </a:solidFill>
                <a:latin typeface="Malgun Gothic" pitchFamily="34" charset="0"/>
                <a:ea typeface="Malgun Gothic" pitchFamily="34" charset="-122"/>
                <a:cs typeface="Malgun Gothic" pitchFamily="34" charset="-120"/>
              </a:rPr>
              <a:t>→ argmax + 단일 스칼라 bias는 연속 조절 손잡이가 아니라 on / off 스위치입니다. 「미탐은 줄이되 과잉 마스킹은 감당 가능한 선에서」라는 실무 요구를 만족하는 중간 운영점을 만들 수 없습니다.</a:t>
            </a:r>
            <a:endParaRPr lang="en-US" sz="950" dirty="0"/>
          </a:p>
        </p:txBody>
      </p:sp>
      <p:sp>
        <p:nvSpPr>
          <p:cNvPr id="11" name="Shape 8"/>
          <p:cNvSpPr/>
          <p:nvPr/>
        </p:nvSpPr>
        <p:spPr>
          <a:xfrm>
            <a:off x="566928" y="5010912"/>
            <a:ext cx="7040880" cy="822960"/>
          </a:xfrm>
          <a:prstGeom prst="roundRect">
            <a:avLst>
              <a:gd name="adj" fmla="val 6667"/>
            </a:avLst>
          </a:prstGeom>
          <a:solidFill>
            <a:srgbClr val="F7F8FB"/>
          </a:solidFill>
          <a:ln w="9525">
            <a:solidFill>
              <a:srgbClr val="DFE3EC"/>
            </a:solidFill>
            <a:prstDash val="solid"/>
          </a:ln>
        </p:spPr>
      </p:sp>
      <p:sp>
        <p:nvSpPr>
          <p:cNvPr id="12" name="Text 9"/>
          <p:cNvSpPr/>
          <p:nvPr/>
        </p:nvSpPr>
        <p:spPr>
          <a:xfrm>
            <a:off x="749808" y="5047488"/>
            <a:ext cx="6675120" cy="749808"/>
          </a:xfrm>
          <a:prstGeom prst="rect">
            <a:avLst/>
          </a:prstGeom>
          <a:noFill/>
          <a:ln/>
        </p:spPr>
        <p:txBody>
          <a:bodyPr wrap="square" lIns="0" tIns="0" rIns="0" bIns="0" rtlCol="0" anchor="ctr"/>
          <a:lstStyle/>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본문의 70.59%가 마스킹되면 상담 내용 자체를 읽을 수 없습니다. 따라서 bias 조정은 현재 형태로는 운영 적용 후보가 아니며, 「미탐과 문맥 보존의 교환관계를 정량화한 결과」로 보고드립니다.</a:t>
            </a:r>
            <a:endParaRPr lang="en-US" sz="950" dirty="0"/>
          </a:p>
        </p:txBody>
      </p:sp>
      <p:sp>
        <p:nvSpPr>
          <p:cNvPr id="13" name="Shape 10"/>
          <p:cNvSpPr/>
          <p:nvPr/>
        </p:nvSpPr>
        <p:spPr>
          <a:xfrm>
            <a:off x="7927848" y="1517904"/>
            <a:ext cx="3696919" cy="4315968"/>
          </a:xfrm>
          <a:prstGeom prst="roundRect">
            <a:avLst>
              <a:gd name="adj" fmla="val 1484"/>
            </a:avLst>
          </a:prstGeom>
          <a:solidFill>
            <a:srgbClr val="1E2761"/>
          </a:solidFill>
          <a:ln w="9525">
            <a:solidFill>
              <a:srgbClr val="1E2761"/>
            </a:solidFill>
            <a:prstDash val="solid"/>
          </a:ln>
        </p:spPr>
      </p:sp>
      <p:sp>
        <p:nvSpPr>
          <p:cNvPr id="14" name="Shape 11"/>
          <p:cNvSpPr/>
          <p:nvPr/>
        </p:nvSpPr>
        <p:spPr>
          <a:xfrm>
            <a:off x="8110728" y="1682496"/>
            <a:ext cx="2926080" cy="274320"/>
          </a:xfrm>
          <a:prstGeom prst="roundRect">
            <a:avLst>
              <a:gd name="adj" fmla="val 16667"/>
            </a:avLst>
          </a:prstGeom>
          <a:solidFill>
            <a:srgbClr val="39479B"/>
          </a:solidFill>
          <a:ln w="6350">
            <a:solidFill>
              <a:srgbClr val="39479B"/>
            </a:solidFill>
            <a:prstDash val="solid"/>
          </a:ln>
        </p:spPr>
      </p:sp>
      <p:sp>
        <p:nvSpPr>
          <p:cNvPr id="15" name="Text 12"/>
          <p:cNvSpPr/>
          <p:nvPr/>
        </p:nvSpPr>
        <p:spPr>
          <a:xfrm>
            <a:off x="8110728" y="1682496"/>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후속 제안 — Viterbi 디코딩</a:t>
            </a:r>
            <a:endParaRPr lang="en-US" sz="1050" dirty="0"/>
          </a:p>
        </p:txBody>
      </p:sp>
      <p:sp>
        <p:nvSpPr>
          <p:cNvPr id="16" name="Text 13"/>
          <p:cNvSpPr/>
          <p:nvPr/>
        </p:nvSpPr>
        <p:spPr>
          <a:xfrm>
            <a:off x="8129016" y="2103120"/>
            <a:ext cx="3294583" cy="3566160"/>
          </a:xfrm>
          <a:prstGeom prst="rect">
            <a:avLst/>
          </a:prstGeom>
          <a:noFill/>
          <a:ln/>
        </p:spPr>
        <p:txBody>
          <a:bodyPr wrap="square" lIns="0" tIns="0" rIns="0" bIns="0" rtlCol="0" anchor="t"/>
          <a:lstStyle/>
          <a:p>
            <a:pPr algn="l" indent="0" marL="0">
              <a:lnSpc>
                <a:spcPct val="116000"/>
              </a:lnSpc>
              <a:spcAft>
                <a:spcPts val="300"/>
              </a:spcAft>
              <a:buNone/>
            </a:pPr>
            <a:r>
              <a:rPr lang="en-US" sz="950" b="1" dirty="0">
                <a:solidFill>
                  <a:srgbClr val="CADCFC"/>
                </a:solidFill>
                <a:latin typeface="Malgun Gothic" pitchFamily="34" charset="0"/>
                <a:ea typeface="Malgun Gothic" pitchFamily="34" charset="-122"/>
                <a:cs typeface="Malgun Gothic" pitchFamily="34" charset="-120"/>
              </a:rPr>
              <a:t>이번 평가 범위에서 제외한 사유</a:t>
            </a:r>
            <a:endParaRPr lang="en-US" sz="950" dirty="0"/>
          </a:p>
          <a:p>
            <a:pPr algn="l" indent="0" marL="0">
              <a:lnSpc>
                <a:spcPct val="116000"/>
              </a:lnSpc>
              <a:spcAft>
                <a:spcPts val="300"/>
              </a:spcAft>
              <a:buNone/>
            </a:pPr>
            <a:r>
              <a:rPr lang="en-US" sz="950" dirty="0">
                <a:solidFill>
                  <a:srgbClr val="FFFFFF"/>
                </a:solidFill>
                <a:latin typeface="Malgun Gothic" pitchFamily="34" charset="0"/>
                <a:ea typeface="Malgun Gothic" pitchFamily="34" charset="-122"/>
                <a:cs typeface="Malgun Gothic" pitchFamily="34" charset="-120"/>
              </a:rPr>
              <a:t>Viterbi 전이 파라미터 값이 모델카드·기술문서에 미공개이며, 탐색에 필요한 시간과 반입 경로가 확보되지 않았습니다. 현재의 argmax 구현은 주어진 제약 하에서 타당한 선택입니다.</a:t>
            </a:r>
            <a:endParaRPr lang="en-US" sz="950" dirty="0"/>
          </a:p>
          <a:p>
            <a:pPr algn="l" indent="0" marL="0">
              <a:lnSpc>
                <a:spcPct val="116000"/>
              </a:lnSpc>
              <a:spcAft>
                <a:spcPts val="300"/>
              </a:spcAft>
              <a:buNone/>
            </a:pPr>
            <a:endParaRPr lang="en-US" sz="950" dirty="0"/>
          </a:p>
          <a:p>
            <a:pPr algn="l" indent="0" marL="0">
              <a:lnSpc>
                <a:spcPct val="116000"/>
              </a:lnSpc>
              <a:spcAft>
                <a:spcPts val="300"/>
              </a:spcAft>
              <a:buNone/>
            </a:pPr>
            <a:r>
              <a:rPr lang="en-US" sz="950" b="1" dirty="0">
                <a:solidFill>
                  <a:srgbClr val="CADCFC"/>
                </a:solidFill>
                <a:latin typeface="Malgun Gothic" pitchFamily="34" charset="0"/>
                <a:ea typeface="Malgun Gothic" pitchFamily="34" charset="-122"/>
                <a:cs typeface="Malgun Gothic" pitchFamily="34" charset="-120"/>
              </a:rPr>
              <a:t>제작사 권장 사항</a:t>
            </a:r>
            <a:endParaRPr lang="en-US" sz="950" dirty="0"/>
          </a:p>
          <a:p>
            <a:pPr algn="l" marL="342900" indent="-342900">
              <a:lnSpc>
                <a:spcPct val="116000"/>
              </a:lnSpc>
              <a:spcAft>
                <a:spcPts val="300"/>
              </a:spcAft>
              <a:buSzPct val="100000"/>
              <a:buChar char="•"/>
            </a:pPr>
            <a:r>
              <a:rPr lang="en-US" sz="950" dirty="0">
                <a:solidFill>
                  <a:srgbClr val="FFFFFF"/>
                </a:solidFill>
                <a:latin typeface="Malgun Gothic" pitchFamily="34" charset="0"/>
                <a:ea typeface="Malgun Gothic" pitchFamily="34" charset="-122"/>
                <a:cs typeface="Malgun Gothic" pitchFamily="34" charset="-120"/>
              </a:rPr>
              <a:t>§2.3.1 — 토큰별 독립 argmax가 아닌 제약 Viterbi 디코딩 권장</a:t>
            </a:r>
            <a:endParaRPr lang="en-US" sz="950" dirty="0"/>
          </a:p>
          <a:p>
            <a:pPr algn="l" marL="342900" indent="-342900">
              <a:lnSpc>
                <a:spcPct val="116000"/>
              </a:lnSpc>
              <a:spcAft>
                <a:spcPts val="300"/>
              </a:spcAft>
              <a:buSzPct val="100000"/>
              <a:buChar char="•"/>
            </a:pPr>
            <a:r>
              <a:rPr lang="en-US" sz="950" dirty="0">
                <a:solidFill>
                  <a:srgbClr val="FFFFFF"/>
                </a:solidFill>
                <a:latin typeface="Malgun Gothic" pitchFamily="34" charset="0"/>
                <a:ea typeface="Malgun Gothic" pitchFamily="34" charset="-122"/>
                <a:cs typeface="Malgun Gothic" pitchFamily="34" charset="-120"/>
              </a:rPr>
              <a:t>§6.2.1 — BIOES 경계 학습 모델이므로 argmax 방식은 부적합하다고 명시</a:t>
            </a:r>
            <a:endParaRPr lang="en-US" sz="950" dirty="0"/>
          </a:p>
          <a:p>
            <a:pPr algn="l" marL="342900" indent="-342900">
              <a:lnSpc>
                <a:spcPct val="116000"/>
              </a:lnSpc>
              <a:spcAft>
                <a:spcPts val="300"/>
              </a:spcAft>
              <a:buSzPct val="100000"/>
              <a:buChar char="•"/>
            </a:pPr>
            <a:r>
              <a:rPr lang="en-US" sz="950" dirty="0">
                <a:solidFill>
                  <a:srgbClr val="FFFFFF"/>
                </a:solidFill>
                <a:latin typeface="Malgun Gothic" pitchFamily="34" charset="0"/>
                <a:ea typeface="Malgun Gothic" pitchFamily="34" charset="-122"/>
                <a:cs typeface="Malgun Gothic" pitchFamily="34" charset="-120"/>
              </a:rPr>
              <a:t>§2.3.2 — 전이 바이어스 6종으로 정밀도·재현율 연속 조절 가능</a:t>
            </a:r>
            <a:endParaRPr lang="en-US" sz="950" dirty="0"/>
          </a:p>
          <a:p>
            <a:pPr algn="l" indent="0" marL="0">
              <a:lnSpc>
                <a:spcPct val="116000"/>
              </a:lnSpc>
              <a:spcAft>
                <a:spcPts val="300"/>
              </a:spcAft>
              <a:buNone/>
            </a:pPr>
            <a:endParaRPr lang="en-US" sz="950" dirty="0"/>
          </a:p>
          <a:p>
            <a:pPr algn="l" indent="0" marL="0">
              <a:lnSpc>
                <a:spcPct val="116000"/>
              </a:lnSpc>
              <a:spcAft>
                <a:spcPts val="300"/>
              </a:spcAft>
              <a:buNone/>
            </a:pPr>
            <a:r>
              <a:rPr lang="en-US" sz="950" b="1" dirty="0">
                <a:solidFill>
                  <a:srgbClr val="CADCFC"/>
                </a:solidFill>
                <a:latin typeface="Malgun Gothic" pitchFamily="34" charset="0"/>
                <a:ea typeface="Malgun Gothic" pitchFamily="34" charset="-122"/>
                <a:cs typeface="Malgun Gothic" pitchFamily="34" charset="-120"/>
              </a:rPr>
              <a:t>기대 효과 (미검증)</a:t>
            </a:r>
            <a:endParaRPr lang="en-US" sz="950" dirty="0"/>
          </a:p>
          <a:p>
            <a:pPr algn="l" indent="0" marL="0">
              <a:lnSpc>
                <a:spcPct val="116000"/>
              </a:lnSpc>
              <a:spcAft>
                <a:spcPts val="300"/>
              </a:spcAft>
              <a:buNone/>
            </a:pPr>
            <a:r>
              <a:rPr lang="en-US" sz="950" dirty="0">
                <a:solidFill>
                  <a:srgbClr val="FFFFFF"/>
                </a:solidFill>
                <a:latin typeface="Malgun Gothic" pitchFamily="34" charset="0"/>
                <a:ea typeface="Malgun Gothic" pitchFamily="34" charset="-122"/>
                <a:cs typeface="Malgun Gothic" pitchFamily="34" charset="-120"/>
              </a:rPr>
              <a:t>경계 절단 888건은 BIOES 전이 제약이 없는 데서 기인할 가능성이 있습니다. 부분 노출 705스팬 · 3,827자의 개선 여지가 있습니다.</a:t>
            </a:r>
            <a:endParaRPr lang="en-US" sz="950" dirty="0"/>
          </a:p>
        </p:txBody>
      </p:sp>
      <p:sp>
        <p:nvSpPr>
          <p:cNvPr id="17" name="Text 14"/>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bias 조건의 정밀도는 예측 라벨 귀속 문제로 신뢰도가 낮아 제시하지 않음 — 예측 스팬 수와 과잉 마스킹 문자 수로 대체  |  Viterbi 도입 구체안은 부록 A13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14</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고도화 ③ 한국어 금융 도메인 파인튜닝</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14 / 16</a:t>
            </a:r>
            <a:endParaRPr lang="en-US" sz="1000" dirty="0"/>
          </a:p>
        </p:txBody>
      </p:sp>
      <p:graphicFrame>
        <p:nvGraphicFramePr>
          <p:cNvPr id="5" name="Chart 0" descr=""/>
          <p:cNvGraphicFramePr/>
          <p:nvPr/>
        </p:nvGraphicFramePr>
        <p:xfrm>
          <a:off x="566928" y="969264"/>
          <a:ext cx="585216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39128" y="969264"/>
            <a:ext cx="4885639" cy="1463040"/>
          </a:xfrm>
          <a:prstGeom prst="roundRect">
            <a:avLst>
              <a:gd name="adj" fmla="val 3750"/>
            </a:avLst>
          </a:prstGeom>
          <a:solidFill>
            <a:srgbClr val="EDF3FD"/>
          </a:solidFill>
          <a:ln w="9525">
            <a:solidFill>
              <a:srgbClr val="D0DEF6"/>
            </a:solidFill>
            <a:prstDash val="solid"/>
          </a:ln>
        </p:spPr>
      </p:sp>
      <p:sp>
        <p:nvSpPr>
          <p:cNvPr id="7" name="Shape 4"/>
          <p:cNvSpPr/>
          <p:nvPr/>
        </p:nvSpPr>
        <p:spPr>
          <a:xfrm>
            <a:off x="6903720" y="1097280"/>
            <a:ext cx="2194560" cy="274320"/>
          </a:xfrm>
          <a:prstGeom prst="roundRect">
            <a:avLst>
              <a:gd name="adj" fmla="val 16667"/>
            </a:avLst>
          </a:prstGeom>
          <a:solidFill>
            <a:srgbClr val="1E2761"/>
          </a:solidFill>
          <a:ln w="6350">
            <a:solidFill>
              <a:srgbClr val="1E2761"/>
            </a:solidFill>
            <a:prstDash val="solid"/>
          </a:ln>
        </p:spPr>
      </p:sp>
      <p:sp>
        <p:nvSpPr>
          <p:cNvPr id="8" name="Text 5"/>
          <p:cNvSpPr/>
          <p:nvPr/>
        </p:nvSpPr>
        <p:spPr>
          <a:xfrm>
            <a:off x="6903720" y="1097280"/>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핵심 관찰</a:t>
            </a:r>
            <a:endParaRPr lang="en-US" sz="1050" dirty="0"/>
          </a:p>
        </p:txBody>
      </p:sp>
      <p:sp>
        <p:nvSpPr>
          <p:cNvPr id="9" name="Text 6"/>
          <p:cNvSpPr/>
          <p:nvPr/>
        </p:nvSpPr>
        <p:spPr>
          <a:xfrm>
            <a:off x="6922008" y="1481328"/>
            <a:ext cx="4519879" cy="822960"/>
          </a:xfrm>
          <a:prstGeom prst="rect">
            <a:avLst/>
          </a:prstGeom>
          <a:noFill/>
          <a:ln/>
        </p:spPr>
        <p:txBody>
          <a:bodyPr wrap="square" lIns="0" tIns="0" rIns="0" bIns="0" rtlCol="0" anchor="t"/>
          <a:lstStyle/>
          <a:p>
            <a:pPr algn="l" indent="0" marL="0">
              <a:lnSpc>
                <a:spcPct val="122000"/>
              </a:lnSpc>
              <a:buNone/>
            </a:pPr>
            <a:r>
              <a:rPr lang="en-US" sz="1000" dirty="0">
                <a:solidFill>
                  <a:srgbClr val="16181D"/>
                </a:solidFill>
                <a:latin typeface="Malgun Gothic" pitchFamily="34" charset="0"/>
                <a:ea typeface="Malgun Gothic" pitchFamily="34" charset="-122"/>
                <a:cs typeface="Malgun Gothic" pitchFamily="34" charset="-120"/>
              </a:rPr>
              <a:t>학습 데이터 1%만으로 F1이 0.545 → 0.879로 상승하며, 10%에서 0.962에 도달합니다. 대규모 라벨링 없이도 도메인 적응이 가능하다는 의미입니다.</a:t>
            </a:r>
            <a:endParaRPr lang="en-US" sz="1000" dirty="0"/>
          </a:p>
        </p:txBody>
      </p:sp>
      <p:sp>
        <p:nvSpPr>
          <p:cNvPr id="10" name="Shape 7"/>
          <p:cNvSpPr/>
          <p:nvPr/>
        </p:nvSpPr>
        <p:spPr>
          <a:xfrm>
            <a:off x="6739128" y="2578608"/>
            <a:ext cx="4885639" cy="1591056"/>
          </a:xfrm>
          <a:prstGeom prst="roundRect">
            <a:avLst>
              <a:gd name="adj" fmla="val 3448"/>
            </a:avLst>
          </a:prstGeom>
          <a:solidFill>
            <a:srgbClr val="FBF4E4"/>
          </a:solidFill>
          <a:ln w="9525">
            <a:solidFill>
              <a:srgbClr val="EFE1C4"/>
            </a:solidFill>
            <a:prstDash val="solid"/>
          </a:ln>
        </p:spPr>
      </p:sp>
      <p:sp>
        <p:nvSpPr>
          <p:cNvPr id="11" name="Shape 8"/>
          <p:cNvSpPr/>
          <p:nvPr/>
        </p:nvSpPr>
        <p:spPr>
          <a:xfrm>
            <a:off x="6903720" y="2706624"/>
            <a:ext cx="2194560" cy="274320"/>
          </a:xfrm>
          <a:prstGeom prst="roundRect">
            <a:avLst>
              <a:gd name="adj" fmla="val 16667"/>
            </a:avLst>
          </a:prstGeom>
          <a:solidFill>
            <a:srgbClr val="8A6410"/>
          </a:solidFill>
          <a:ln w="6350">
            <a:solidFill>
              <a:srgbClr val="8A6410"/>
            </a:solidFill>
            <a:prstDash val="solid"/>
          </a:ln>
        </p:spPr>
      </p:sp>
      <p:sp>
        <p:nvSpPr>
          <p:cNvPr id="12" name="Text 9"/>
          <p:cNvSpPr/>
          <p:nvPr/>
        </p:nvSpPr>
        <p:spPr>
          <a:xfrm>
            <a:off x="6903720" y="2706624"/>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적용 시 유의</a:t>
            </a:r>
            <a:endParaRPr lang="en-US" sz="1050" dirty="0"/>
          </a:p>
        </p:txBody>
      </p:sp>
      <p:sp>
        <p:nvSpPr>
          <p:cNvPr id="13" name="Text 10"/>
          <p:cNvSpPr/>
          <p:nvPr/>
        </p:nvSpPr>
        <p:spPr>
          <a:xfrm>
            <a:off x="6922008" y="3090672"/>
            <a:ext cx="4519879" cy="914400"/>
          </a:xfrm>
          <a:prstGeom prst="rect">
            <a:avLst/>
          </a:prstGeom>
          <a:noFill/>
          <a:ln/>
        </p:spPr>
        <p:txBody>
          <a:bodyPr wrap="square" lIns="0" tIns="0" rIns="0" bIns="0" rtlCol="0" anchor="t"/>
          <a:lstStyle/>
          <a:p>
            <a:pPr algn="l" indent="0" marL="0">
              <a:lnSpc>
                <a:spcPct val="120000"/>
              </a:lnSpc>
              <a:spcAft>
                <a:spcPts val="400"/>
              </a:spcAft>
              <a:buNone/>
            </a:pPr>
            <a:r>
              <a:rPr lang="en-US" sz="950" b="1" dirty="0">
                <a:solidFill>
                  <a:srgbClr val="8A6410"/>
                </a:solidFill>
                <a:latin typeface="Malgun Gothic" pitchFamily="34" charset="0"/>
                <a:ea typeface="Malgun Gothic" pitchFamily="34" charset="-122"/>
                <a:cs typeface="Malgun Gothic" pitchFamily="34" charset="-120"/>
              </a:rPr>
              <a:t>SPY는 영어 의료·법률 데이터입니다. 한국어 금융 도메인의 결과가 아닙니다.</a:t>
            </a:r>
            <a:endParaRPr lang="en-US" sz="950" dirty="0"/>
          </a:p>
          <a:p>
            <a:pPr algn="l" indent="0" marL="0">
              <a:lnSpc>
                <a:spcPct val="120000"/>
              </a:lnSpc>
              <a:spcAft>
                <a:spcPts val="400"/>
              </a:spcAft>
              <a:buNone/>
            </a:pPr>
            <a:r>
              <a:rPr lang="en-US" sz="950" dirty="0">
                <a:solidFill>
                  <a:srgbClr val="8A6410"/>
                </a:solidFill>
                <a:latin typeface="Malgun Gothic" pitchFamily="34" charset="0"/>
                <a:ea typeface="Malgun Gothic" pitchFamily="34" charset="-122"/>
                <a:cs typeface="Malgun Gothic" pitchFamily="34" charset="-120"/>
              </a:rPr>
              <a:t>동일한 개선 폭을 그대로 기대할 수 없으며, 우리 도메인에서의 효과는 별도 검증이 필요합니다.</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370832"/>
          <a:ext cx="11057839" cy="914400"/>
        </p:xfrm>
        <a:graphic>
          <a:graphicData uri="http://schemas.openxmlformats.org/drawingml/2006/table">
            <a:tbl>
              <a:tblPr/>
              <a:tblGrid>
                <a:gridCol w="2011680"/>
                <a:gridCol w="2834640"/>
                <a:gridCol w="3108960"/>
                <a:gridCol w="3102559"/>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단계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필요 자원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선행 조건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기대 산출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92608">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① 검증셋 구축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 상담 로그 · 라벨링 인력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가명처리 및 반출 승인 절차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실제 분포 기준 기준선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92608">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② 소량 파인튜닝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opf train CLI · GPU 자원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검증셋 확보 · 라이선스 검토 완료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도메인 적응 효과 정량 확인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92608">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③ 재평가·자산 갱신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본 평가 스크립트 재사용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모델카드 서식 확정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버전별 성능 이력 축적</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15" name="Text 11"/>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라이선스 Apache 2.0으로 파인튜닝 및 수정 배포 허용  |  본 평가에 사용한 스크립트를 그대로 재평가에 재사용 가능</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841248" y="310896"/>
            <a:ext cx="548640"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15</a:t>
            </a:r>
            <a:endParaRPr lang="en-US" sz="1300" dirty="0"/>
          </a:p>
        </p:txBody>
      </p:sp>
      <p:sp>
        <p:nvSpPr>
          <p:cNvPr id="4" name="Text 2"/>
          <p:cNvSpPr/>
          <p:nvPr/>
        </p:nvSpPr>
        <p:spPr>
          <a:xfrm>
            <a:off x="1444752" y="256032"/>
            <a:ext cx="7315200" cy="420624"/>
          </a:xfrm>
          <a:prstGeom prst="rect">
            <a:avLst/>
          </a:prstGeom>
          <a:noFill/>
          <a:ln/>
        </p:spPr>
        <p:txBody>
          <a:bodyPr wrap="square" lIns="0" tIns="0" rIns="0" bIns="0" rtlCol="0" anchor="ctr"/>
          <a:lstStyle/>
          <a:p>
            <a:pPr algn="l" indent="0" marL="0">
              <a:buNone/>
            </a:pPr>
            <a:r>
              <a:rPr lang="en-US" sz="2300" b="1" dirty="0">
                <a:solidFill>
                  <a:srgbClr val="FFFFFF"/>
                </a:solidFill>
                <a:latin typeface="Malgun Gothic" pitchFamily="34" charset="0"/>
                <a:ea typeface="Malgun Gothic" pitchFamily="34" charset="-122"/>
                <a:cs typeface="Malgun Gothic" pitchFamily="34" charset="-120"/>
              </a:rPr>
              <a:t>운영 권고</a:t>
            </a:r>
            <a:endParaRPr lang="en-US" sz="2300" dirty="0"/>
          </a:p>
        </p:txBody>
      </p:sp>
      <p:sp>
        <p:nvSpPr>
          <p:cNvPr id="5" name="Text 3"/>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7A88C9"/>
                </a:solidFill>
                <a:latin typeface="Malgun Gothic" pitchFamily="34" charset="0"/>
                <a:ea typeface="Malgun Gothic" pitchFamily="34" charset="-122"/>
                <a:cs typeface="Malgun Gothic" pitchFamily="34" charset="-120"/>
              </a:rPr>
              <a:t>본편 15 / 16</a:t>
            </a:r>
            <a:endParaRPr lang="en-US" sz="1000" dirty="0"/>
          </a:p>
        </p:txBody>
      </p:sp>
      <p:sp>
        <p:nvSpPr>
          <p:cNvPr id="6" name="Shape 4"/>
          <p:cNvSpPr/>
          <p:nvPr/>
        </p:nvSpPr>
        <p:spPr>
          <a:xfrm>
            <a:off x="566928" y="932688"/>
            <a:ext cx="11057839" cy="786384"/>
          </a:xfrm>
          <a:prstGeom prst="roundRect">
            <a:avLst>
              <a:gd name="adj" fmla="val 6977"/>
            </a:avLst>
          </a:prstGeom>
          <a:solidFill>
            <a:srgbClr val="39479B"/>
          </a:solidFill>
          <a:ln w="9525">
            <a:solidFill>
              <a:srgbClr val="39479B"/>
            </a:solidFill>
            <a:prstDash val="solid"/>
          </a:ln>
        </p:spPr>
      </p:sp>
      <p:sp>
        <p:nvSpPr>
          <p:cNvPr id="7" name="Shape 5"/>
          <p:cNvSpPr/>
          <p:nvPr/>
        </p:nvSpPr>
        <p:spPr>
          <a:xfrm>
            <a:off x="749808" y="1152144"/>
            <a:ext cx="347472" cy="347472"/>
          </a:xfrm>
          <a:prstGeom prst="ellipse">
            <a:avLst/>
          </a:prstGeom>
          <a:solidFill>
            <a:srgbClr val="CADCFC"/>
          </a:solidFill>
          <a:ln w="9525">
            <a:solidFill>
              <a:srgbClr val="CADCFC"/>
            </a:solidFill>
            <a:prstDash val="solid"/>
          </a:ln>
        </p:spPr>
      </p:sp>
      <p:sp>
        <p:nvSpPr>
          <p:cNvPr id="8" name="Text 6"/>
          <p:cNvSpPr/>
          <p:nvPr/>
        </p:nvSpPr>
        <p:spPr>
          <a:xfrm>
            <a:off x="749808" y="1152144"/>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1</a:t>
            </a:r>
            <a:endParaRPr lang="en-US" sz="1200" dirty="0"/>
          </a:p>
        </p:txBody>
      </p:sp>
      <p:sp>
        <p:nvSpPr>
          <p:cNvPr id="9" name="Text 7"/>
          <p:cNvSpPr/>
          <p:nvPr/>
        </p:nvSpPr>
        <p:spPr>
          <a:xfrm>
            <a:off x="1225296" y="1033272"/>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단일 방어선으로 사용하지 않음</a:t>
            </a:r>
            <a:endParaRPr lang="en-US" sz="1300" dirty="0"/>
          </a:p>
        </p:txBody>
      </p:sp>
      <p:sp>
        <p:nvSpPr>
          <p:cNvPr id="10" name="Text 8"/>
          <p:cNvSpPr/>
          <p:nvPr/>
        </p:nvSpPr>
        <p:spPr>
          <a:xfrm>
            <a:off x="1225296" y="1335024"/>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고민감 워크플로우에 인간 검토 경로를 유지합니다.</a:t>
            </a:r>
            <a:endParaRPr lang="en-US" sz="900" dirty="0"/>
          </a:p>
        </p:txBody>
      </p:sp>
      <p:sp>
        <p:nvSpPr>
          <p:cNvPr id="11" name="Text 9"/>
          <p:cNvSpPr/>
          <p:nvPr/>
        </p:nvSpPr>
        <p:spPr>
          <a:xfrm>
            <a:off x="5550408" y="1051560"/>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12" name="Text 10"/>
          <p:cNvSpPr/>
          <p:nvPr/>
        </p:nvSpPr>
        <p:spPr>
          <a:xfrm>
            <a:off x="5550408" y="1298448"/>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문서 미탐 2,040 / 3,000 (68.00%) · 모델카드 §3.2 · §4.5</a:t>
            </a:r>
            <a:endParaRPr lang="en-US" sz="950" dirty="0"/>
          </a:p>
        </p:txBody>
      </p:sp>
      <p:sp>
        <p:nvSpPr>
          <p:cNvPr id="13" name="Shape 11"/>
          <p:cNvSpPr/>
          <p:nvPr/>
        </p:nvSpPr>
        <p:spPr>
          <a:xfrm>
            <a:off x="10573207" y="1188720"/>
            <a:ext cx="868680" cy="274320"/>
          </a:xfrm>
          <a:prstGeom prst="roundRect">
            <a:avLst>
              <a:gd name="adj" fmla="val 16667"/>
            </a:avLst>
          </a:prstGeom>
          <a:solidFill>
            <a:srgbClr val="1E2761"/>
          </a:solidFill>
          <a:ln w="6350">
            <a:solidFill>
              <a:srgbClr val="1E2761"/>
            </a:solidFill>
            <a:prstDash val="solid"/>
          </a:ln>
        </p:spPr>
      </p:sp>
      <p:sp>
        <p:nvSpPr>
          <p:cNvPr id="14" name="Text 12"/>
          <p:cNvSpPr/>
          <p:nvPr/>
        </p:nvSpPr>
        <p:spPr>
          <a:xfrm>
            <a:off x="10573207" y="1188720"/>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즉시</a:t>
            </a:r>
            <a:endParaRPr lang="en-US" sz="1050" dirty="0"/>
          </a:p>
        </p:txBody>
      </p:sp>
      <p:sp>
        <p:nvSpPr>
          <p:cNvPr id="15" name="Shape 13"/>
          <p:cNvSpPr/>
          <p:nvPr/>
        </p:nvSpPr>
        <p:spPr>
          <a:xfrm>
            <a:off x="566928" y="1819656"/>
            <a:ext cx="11057839" cy="786384"/>
          </a:xfrm>
          <a:prstGeom prst="roundRect">
            <a:avLst>
              <a:gd name="adj" fmla="val 6977"/>
            </a:avLst>
          </a:prstGeom>
          <a:solidFill>
            <a:srgbClr val="39479B"/>
          </a:solidFill>
          <a:ln w="9525">
            <a:solidFill>
              <a:srgbClr val="39479B"/>
            </a:solidFill>
            <a:prstDash val="solid"/>
          </a:ln>
        </p:spPr>
      </p:sp>
      <p:sp>
        <p:nvSpPr>
          <p:cNvPr id="16" name="Shape 14"/>
          <p:cNvSpPr/>
          <p:nvPr/>
        </p:nvSpPr>
        <p:spPr>
          <a:xfrm>
            <a:off x="749808" y="2039112"/>
            <a:ext cx="347472" cy="347472"/>
          </a:xfrm>
          <a:prstGeom prst="ellipse">
            <a:avLst/>
          </a:prstGeom>
          <a:solidFill>
            <a:srgbClr val="CADCFC"/>
          </a:solidFill>
          <a:ln w="9525">
            <a:solidFill>
              <a:srgbClr val="CADCFC"/>
            </a:solidFill>
            <a:prstDash val="solid"/>
          </a:ln>
        </p:spPr>
      </p:sp>
      <p:sp>
        <p:nvSpPr>
          <p:cNvPr id="17" name="Text 15"/>
          <p:cNvSpPr/>
          <p:nvPr/>
        </p:nvSpPr>
        <p:spPr>
          <a:xfrm>
            <a:off x="749808" y="2039112"/>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2</a:t>
            </a:r>
            <a:endParaRPr lang="en-US" sz="1200" dirty="0"/>
          </a:p>
        </p:txBody>
      </p:sp>
      <p:sp>
        <p:nvSpPr>
          <p:cNvPr id="18" name="Text 16"/>
          <p:cNvSpPr/>
          <p:nvPr/>
        </p:nvSpPr>
        <p:spPr>
          <a:xfrm>
            <a:off x="1225296" y="1920240"/>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고유식별 4종에 규칙 레이어 병행</a:t>
            </a:r>
            <a:endParaRPr lang="en-US" sz="1300" dirty="0"/>
          </a:p>
        </p:txBody>
      </p:sp>
      <p:sp>
        <p:nvSpPr>
          <p:cNvPr id="19" name="Text 17"/>
          <p:cNvSpPr/>
          <p:nvPr/>
        </p:nvSpPr>
        <p:spPr>
          <a:xfrm>
            <a:off x="1225296" y="2221992"/>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결정론적 검출기를 병렬 배치하고 구간 합집합으로 병합합니다.</a:t>
            </a:r>
            <a:endParaRPr lang="en-US" sz="900" dirty="0"/>
          </a:p>
        </p:txBody>
      </p:sp>
      <p:sp>
        <p:nvSpPr>
          <p:cNvPr id="20" name="Text 18"/>
          <p:cNvSpPr/>
          <p:nvPr/>
        </p:nvSpPr>
        <p:spPr>
          <a:xfrm>
            <a:off x="5550408" y="1938528"/>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21" name="Text 19"/>
          <p:cNvSpPr/>
          <p:nvPr/>
        </p:nvSpPr>
        <p:spPr>
          <a:xfrm>
            <a:off x="5550408" y="2185416"/>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미탐 749 → 8 (99.90% 커버) · 과탐 실질 동일 수준</a:t>
            </a:r>
            <a:endParaRPr lang="en-US" sz="950" dirty="0"/>
          </a:p>
        </p:txBody>
      </p:sp>
      <p:sp>
        <p:nvSpPr>
          <p:cNvPr id="22" name="Shape 20"/>
          <p:cNvSpPr/>
          <p:nvPr/>
        </p:nvSpPr>
        <p:spPr>
          <a:xfrm>
            <a:off x="10573207" y="2075688"/>
            <a:ext cx="868680" cy="274320"/>
          </a:xfrm>
          <a:prstGeom prst="roundRect">
            <a:avLst>
              <a:gd name="adj" fmla="val 16667"/>
            </a:avLst>
          </a:prstGeom>
          <a:solidFill>
            <a:srgbClr val="1E2761"/>
          </a:solidFill>
          <a:ln w="6350">
            <a:solidFill>
              <a:srgbClr val="1E2761"/>
            </a:solidFill>
            <a:prstDash val="solid"/>
          </a:ln>
        </p:spPr>
      </p:sp>
      <p:sp>
        <p:nvSpPr>
          <p:cNvPr id="23" name="Text 21"/>
          <p:cNvSpPr/>
          <p:nvPr/>
        </p:nvSpPr>
        <p:spPr>
          <a:xfrm>
            <a:off x="10573207" y="2075688"/>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단기</a:t>
            </a:r>
            <a:endParaRPr lang="en-US" sz="1050" dirty="0"/>
          </a:p>
        </p:txBody>
      </p:sp>
      <p:sp>
        <p:nvSpPr>
          <p:cNvPr id="24" name="Shape 22"/>
          <p:cNvSpPr/>
          <p:nvPr/>
        </p:nvSpPr>
        <p:spPr>
          <a:xfrm>
            <a:off x="566928" y="2706624"/>
            <a:ext cx="11057839" cy="786384"/>
          </a:xfrm>
          <a:prstGeom prst="roundRect">
            <a:avLst>
              <a:gd name="adj" fmla="val 6977"/>
            </a:avLst>
          </a:prstGeom>
          <a:solidFill>
            <a:srgbClr val="39479B"/>
          </a:solidFill>
          <a:ln w="9525">
            <a:solidFill>
              <a:srgbClr val="39479B"/>
            </a:solidFill>
            <a:prstDash val="solid"/>
          </a:ln>
        </p:spPr>
      </p:sp>
      <p:sp>
        <p:nvSpPr>
          <p:cNvPr id="25" name="Shape 23"/>
          <p:cNvSpPr/>
          <p:nvPr/>
        </p:nvSpPr>
        <p:spPr>
          <a:xfrm>
            <a:off x="749808" y="2926080"/>
            <a:ext cx="347472" cy="347472"/>
          </a:xfrm>
          <a:prstGeom prst="ellipse">
            <a:avLst/>
          </a:prstGeom>
          <a:solidFill>
            <a:srgbClr val="CADCFC"/>
          </a:solidFill>
          <a:ln w="9525">
            <a:solidFill>
              <a:srgbClr val="CADCFC"/>
            </a:solidFill>
            <a:prstDash val="solid"/>
          </a:ln>
        </p:spPr>
      </p:sp>
      <p:sp>
        <p:nvSpPr>
          <p:cNvPr id="26" name="Text 24"/>
          <p:cNvSpPr/>
          <p:nvPr/>
        </p:nvSpPr>
        <p:spPr>
          <a:xfrm>
            <a:off x="749808" y="2926080"/>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3</a:t>
            </a:r>
            <a:endParaRPr lang="en-US" sz="1200" dirty="0"/>
          </a:p>
        </p:txBody>
      </p:sp>
      <p:sp>
        <p:nvSpPr>
          <p:cNvPr id="27" name="Text 25"/>
          <p:cNvSpPr/>
          <p:nvPr/>
        </p:nvSpPr>
        <p:spPr>
          <a:xfrm>
            <a:off x="1225296" y="2807208"/>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디코딩 구성 재검토 (argmax → Viterbi)</a:t>
            </a:r>
            <a:endParaRPr lang="en-US" sz="1300" dirty="0"/>
          </a:p>
        </p:txBody>
      </p:sp>
      <p:sp>
        <p:nvSpPr>
          <p:cNvPr id="28" name="Text 26"/>
          <p:cNvSpPr/>
          <p:nvPr/>
        </p:nvSpPr>
        <p:spPr>
          <a:xfrm>
            <a:off x="1225296" y="3108960"/>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전이 바이어스 6종으로 연속 운영점을 확보합니다.</a:t>
            </a:r>
            <a:endParaRPr lang="en-US" sz="900" dirty="0"/>
          </a:p>
        </p:txBody>
      </p:sp>
      <p:sp>
        <p:nvSpPr>
          <p:cNvPr id="29" name="Text 27"/>
          <p:cNvSpPr/>
          <p:nvPr/>
        </p:nvSpPr>
        <p:spPr>
          <a:xfrm>
            <a:off x="5550408" y="2825496"/>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30" name="Text 28"/>
          <p:cNvSpPr/>
          <p:nvPr/>
        </p:nvSpPr>
        <p:spPr>
          <a:xfrm>
            <a:off x="5550408" y="3072384"/>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경계 절단 888건 · 부분 노출 705스팬 · 모델카드 §6.2.1</a:t>
            </a:r>
            <a:endParaRPr lang="en-US" sz="950" dirty="0"/>
          </a:p>
        </p:txBody>
      </p:sp>
      <p:sp>
        <p:nvSpPr>
          <p:cNvPr id="31" name="Shape 29"/>
          <p:cNvSpPr/>
          <p:nvPr/>
        </p:nvSpPr>
        <p:spPr>
          <a:xfrm>
            <a:off x="10573207" y="2962656"/>
            <a:ext cx="868680" cy="274320"/>
          </a:xfrm>
          <a:prstGeom prst="roundRect">
            <a:avLst>
              <a:gd name="adj" fmla="val 16667"/>
            </a:avLst>
          </a:prstGeom>
          <a:solidFill>
            <a:srgbClr val="1E2761"/>
          </a:solidFill>
          <a:ln w="6350">
            <a:solidFill>
              <a:srgbClr val="1E2761"/>
            </a:solidFill>
            <a:prstDash val="solid"/>
          </a:ln>
        </p:spPr>
      </p:sp>
      <p:sp>
        <p:nvSpPr>
          <p:cNvPr id="32" name="Text 30"/>
          <p:cNvSpPr/>
          <p:nvPr/>
        </p:nvSpPr>
        <p:spPr>
          <a:xfrm>
            <a:off x="10573207" y="2962656"/>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단기</a:t>
            </a:r>
            <a:endParaRPr lang="en-US" sz="1050" dirty="0"/>
          </a:p>
        </p:txBody>
      </p:sp>
      <p:sp>
        <p:nvSpPr>
          <p:cNvPr id="33" name="Shape 31"/>
          <p:cNvSpPr/>
          <p:nvPr/>
        </p:nvSpPr>
        <p:spPr>
          <a:xfrm>
            <a:off x="566928" y="3593592"/>
            <a:ext cx="11057839" cy="786384"/>
          </a:xfrm>
          <a:prstGeom prst="roundRect">
            <a:avLst>
              <a:gd name="adj" fmla="val 6977"/>
            </a:avLst>
          </a:prstGeom>
          <a:solidFill>
            <a:srgbClr val="39479B"/>
          </a:solidFill>
          <a:ln w="9525">
            <a:solidFill>
              <a:srgbClr val="39479B"/>
            </a:solidFill>
            <a:prstDash val="solid"/>
          </a:ln>
        </p:spPr>
      </p:sp>
      <p:sp>
        <p:nvSpPr>
          <p:cNvPr id="34" name="Shape 32"/>
          <p:cNvSpPr/>
          <p:nvPr/>
        </p:nvSpPr>
        <p:spPr>
          <a:xfrm>
            <a:off x="749808" y="3813048"/>
            <a:ext cx="347472" cy="347472"/>
          </a:xfrm>
          <a:prstGeom prst="ellipse">
            <a:avLst/>
          </a:prstGeom>
          <a:solidFill>
            <a:srgbClr val="CADCFC"/>
          </a:solidFill>
          <a:ln w="9525">
            <a:solidFill>
              <a:srgbClr val="CADCFC"/>
            </a:solidFill>
            <a:prstDash val="solid"/>
          </a:ln>
        </p:spPr>
      </p:sp>
      <p:sp>
        <p:nvSpPr>
          <p:cNvPr id="35" name="Text 33"/>
          <p:cNvSpPr/>
          <p:nvPr/>
        </p:nvSpPr>
        <p:spPr>
          <a:xfrm>
            <a:off x="749808" y="3813048"/>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4</a:t>
            </a:r>
            <a:endParaRPr lang="en-US" sz="1200" dirty="0"/>
          </a:p>
        </p:txBody>
      </p:sp>
      <p:sp>
        <p:nvSpPr>
          <p:cNvPr id="36" name="Text 34"/>
          <p:cNvSpPr/>
          <p:nvPr/>
        </p:nvSpPr>
        <p:spPr>
          <a:xfrm>
            <a:off x="1225296" y="3694176"/>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실 상담 로그 기반 검증셋 구축</a:t>
            </a:r>
            <a:endParaRPr lang="en-US" sz="1300" dirty="0"/>
          </a:p>
        </p:txBody>
      </p:sp>
      <p:sp>
        <p:nvSpPr>
          <p:cNvPr id="37" name="Text 35"/>
          <p:cNvSpPr/>
          <p:nvPr/>
        </p:nvSpPr>
        <p:spPr>
          <a:xfrm>
            <a:off x="1225296" y="3995928"/>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합성 데이터가 아닌 실제 분포에서 기준선을 재수립합니다.</a:t>
            </a:r>
            <a:endParaRPr lang="en-US" sz="900" dirty="0"/>
          </a:p>
        </p:txBody>
      </p:sp>
      <p:sp>
        <p:nvSpPr>
          <p:cNvPr id="38" name="Text 36"/>
          <p:cNvSpPr/>
          <p:nvPr/>
        </p:nvSpPr>
        <p:spPr>
          <a:xfrm>
            <a:off x="5550408" y="3712464"/>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39" name="Text 37"/>
          <p:cNvSpPr/>
          <p:nvPr/>
        </p:nvSpPr>
        <p:spPr>
          <a:xfrm>
            <a:off x="5550408" y="3959352"/>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프로브셋 재현율 197 / 300 (65.67%)</a:t>
            </a:r>
            <a:endParaRPr lang="en-US" sz="950" dirty="0"/>
          </a:p>
        </p:txBody>
      </p:sp>
      <p:sp>
        <p:nvSpPr>
          <p:cNvPr id="40" name="Shape 38"/>
          <p:cNvSpPr/>
          <p:nvPr/>
        </p:nvSpPr>
        <p:spPr>
          <a:xfrm>
            <a:off x="10573207" y="3849624"/>
            <a:ext cx="868680" cy="274320"/>
          </a:xfrm>
          <a:prstGeom prst="roundRect">
            <a:avLst>
              <a:gd name="adj" fmla="val 16667"/>
            </a:avLst>
          </a:prstGeom>
          <a:solidFill>
            <a:srgbClr val="1E2761"/>
          </a:solidFill>
          <a:ln w="6350">
            <a:solidFill>
              <a:srgbClr val="1E2761"/>
            </a:solidFill>
            <a:prstDash val="solid"/>
          </a:ln>
        </p:spPr>
      </p:sp>
      <p:sp>
        <p:nvSpPr>
          <p:cNvPr id="41" name="Text 39"/>
          <p:cNvSpPr/>
          <p:nvPr/>
        </p:nvSpPr>
        <p:spPr>
          <a:xfrm>
            <a:off x="10573207" y="3849624"/>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중기</a:t>
            </a:r>
            <a:endParaRPr lang="en-US" sz="1050" dirty="0"/>
          </a:p>
        </p:txBody>
      </p:sp>
      <p:sp>
        <p:nvSpPr>
          <p:cNvPr id="42" name="Shape 40"/>
          <p:cNvSpPr/>
          <p:nvPr/>
        </p:nvSpPr>
        <p:spPr>
          <a:xfrm>
            <a:off x="566928" y="4480560"/>
            <a:ext cx="11057839" cy="786384"/>
          </a:xfrm>
          <a:prstGeom prst="roundRect">
            <a:avLst>
              <a:gd name="adj" fmla="val 6977"/>
            </a:avLst>
          </a:prstGeom>
          <a:solidFill>
            <a:srgbClr val="39479B"/>
          </a:solidFill>
          <a:ln w="9525">
            <a:solidFill>
              <a:srgbClr val="39479B"/>
            </a:solidFill>
            <a:prstDash val="solid"/>
          </a:ln>
        </p:spPr>
      </p:sp>
      <p:sp>
        <p:nvSpPr>
          <p:cNvPr id="43" name="Shape 41"/>
          <p:cNvSpPr/>
          <p:nvPr/>
        </p:nvSpPr>
        <p:spPr>
          <a:xfrm>
            <a:off x="749808" y="4700016"/>
            <a:ext cx="347472" cy="347472"/>
          </a:xfrm>
          <a:prstGeom prst="ellipse">
            <a:avLst/>
          </a:prstGeom>
          <a:solidFill>
            <a:srgbClr val="CADCFC"/>
          </a:solidFill>
          <a:ln w="9525">
            <a:solidFill>
              <a:srgbClr val="CADCFC"/>
            </a:solidFill>
            <a:prstDash val="solid"/>
          </a:ln>
        </p:spPr>
      </p:sp>
      <p:sp>
        <p:nvSpPr>
          <p:cNvPr id="44" name="Text 42"/>
          <p:cNvSpPr/>
          <p:nvPr/>
        </p:nvSpPr>
        <p:spPr>
          <a:xfrm>
            <a:off x="749808" y="4700016"/>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5</a:t>
            </a:r>
            <a:endParaRPr lang="en-US" sz="1200" dirty="0"/>
          </a:p>
        </p:txBody>
      </p:sp>
      <p:sp>
        <p:nvSpPr>
          <p:cNvPr id="45" name="Text 43"/>
          <p:cNvSpPr/>
          <p:nvPr/>
        </p:nvSpPr>
        <p:spPr>
          <a:xfrm>
            <a:off x="1225296" y="4581144"/>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한국어 금융 도메인 파인튜닝 검토</a:t>
            </a:r>
            <a:endParaRPr lang="en-US" sz="1300" dirty="0"/>
          </a:p>
        </p:txBody>
      </p:sp>
      <p:sp>
        <p:nvSpPr>
          <p:cNvPr id="46" name="Text 44"/>
          <p:cNvSpPr/>
          <p:nvPr/>
        </p:nvSpPr>
        <p:spPr>
          <a:xfrm>
            <a:off x="1225296" y="4882896"/>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소량 도메인 데이터로 적응 효과를 정량 확인합니다.</a:t>
            </a:r>
            <a:endParaRPr lang="en-US" sz="900" dirty="0"/>
          </a:p>
        </p:txBody>
      </p:sp>
      <p:sp>
        <p:nvSpPr>
          <p:cNvPr id="47" name="Text 45"/>
          <p:cNvSpPr/>
          <p:nvPr/>
        </p:nvSpPr>
        <p:spPr>
          <a:xfrm>
            <a:off x="5550408" y="4599432"/>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48" name="Text 46"/>
          <p:cNvSpPr/>
          <p:nvPr/>
        </p:nvSpPr>
        <p:spPr>
          <a:xfrm>
            <a:off x="5550408" y="4846320"/>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모델카드 Table 2 · Apache 2.0 라이선스 허용</a:t>
            </a:r>
            <a:endParaRPr lang="en-US" sz="950" dirty="0"/>
          </a:p>
        </p:txBody>
      </p:sp>
      <p:sp>
        <p:nvSpPr>
          <p:cNvPr id="49" name="Shape 47"/>
          <p:cNvSpPr/>
          <p:nvPr/>
        </p:nvSpPr>
        <p:spPr>
          <a:xfrm>
            <a:off x="10573207" y="4736592"/>
            <a:ext cx="868680" cy="274320"/>
          </a:xfrm>
          <a:prstGeom prst="roundRect">
            <a:avLst>
              <a:gd name="adj" fmla="val 16667"/>
            </a:avLst>
          </a:prstGeom>
          <a:solidFill>
            <a:srgbClr val="1E2761"/>
          </a:solidFill>
          <a:ln w="6350">
            <a:solidFill>
              <a:srgbClr val="1E2761"/>
            </a:solidFill>
            <a:prstDash val="solid"/>
          </a:ln>
        </p:spPr>
      </p:sp>
      <p:sp>
        <p:nvSpPr>
          <p:cNvPr id="50" name="Text 48"/>
          <p:cNvSpPr/>
          <p:nvPr/>
        </p:nvSpPr>
        <p:spPr>
          <a:xfrm>
            <a:off x="10573207" y="4736592"/>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중기</a:t>
            </a:r>
            <a:endParaRPr lang="en-US" sz="1050" dirty="0"/>
          </a:p>
        </p:txBody>
      </p:sp>
      <p:sp>
        <p:nvSpPr>
          <p:cNvPr id="51" name="Shape 49"/>
          <p:cNvSpPr/>
          <p:nvPr/>
        </p:nvSpPr>
        <p:spPr>
          <a:xfrm>
            <a:off x="566928" y="5367528"/>
            <a:ext cx="11057839" cy="786384"/>
          </a:xfrm>
          <a:prstGeom prst="roundRect">
            <a:avLst>
              <a:gd name="adj" fmla="val 6977"/>
            </a:avLst>
          </a:prstGeom>
          <a:solidFill>
            <a:srgbClr val="39479B"/>
          </a:solidFill>
          <a:ln w="9525">
            <a:solidFill>
              <a:srgbClr val="39479B"/>
            </a:solidFill>
            <a:prstDash val="solid"/>
          </a:ln>
        </p:spPr>
      </p:sp>
      <p:sp>
        <p:nvSpPr>
          <p:cNvPr id="52" name="Shape 50"/>
          <p:cNvSpPr/>
          <p:nvPr/>
        </p:nvSpPr>
        <p:spPr>
          <a:xfrm>
            <a:off x="749808" y="5586984"/>
            <a:ext cx="347472" cy="347472"/>
          </a:xfrm>
          <a:prstGeom prst="ellipse">
            <a:avLst/>
          </a:prstGeom>
          <a:solidFill>
            <a:srgbClr val="CADCFC"/>
          </a:solidFill>
          <a:ln w="9525">
            <a:solidFill>
              <a:srgbClr val="CADCFC"/>
            </a:solidFill>
            <a:prstDash val="solid"/>
          </a:ln>
        </p:spPr>
      </p:sp>
      <p:sp>
        <p:nvSpPr>
          <p:cNvPr id="53" name="Text 51"/>
          <p:cNvSpPr/>
          <p:nvPr/>
        </p:nvSpPr>
        <p:spPr>
          <a:xfrm>
            <a:off x="749808" y="5586984"/>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6</a:t>
            </a:r>
            <a:endParaRPr lang="en-US" sz="1200" dirty="0"/>
          </a:p>
        </p:txBody>
      </p:sp>
      <p:sp>
        <p:nvSpPr>
          <p:cNvPr id="54" name="Text 52"/>
          <p:cNvSpPr/>
          <p:nvPr/>
        </p:nvSpPr>
        <p:spPr>
          <a:xfrm>
            <a:off x="1225296" y="5468112"/>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모델카드 기반 자산 등재 및 정기 재평가</a:t>
            </a:r>
            <a:endParaRPr lang="en-US" sz="1300" dirty="0"/>
          </a:p>
        </p:txBody>
      </p:sp>
      <p:sp>
        <p:nvSpPr>
          <p:cNvPr id="55" name="Text 53"/>
          <p:cNvSpPr/>
          <p:nvPr/>
        </p:nvSpPr>
        <p:spPr>
          <a:xfrm>
            <a:off x="1225296" y="5769864"/>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버전별 성능 이력을 축적하고 갱신 시 재평가합니다.</a:t>
            </a:r>
            <a:endParaRPr lang="en-US" sz="900" dirty="0"/>
          </a:p>
        </p:txBody>
      </p:sp>
      <p:sp>
        <p:nvSpPr>
          <p:cNvPr id="56" name="Text 54"/>
          <p:cNvSpPr/>
          <p:nvPr/>
        </p:nvSpPr>
        <p:spPr>
          <a:xfrm>
            <a:off x="5550408" y="5486400"/>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57" name="Text 55"/>
          <p:cNvSpPr/>
          <p:nvPr/>
        </p:nvSpPr>
        <p:spPr>
          <a:xfrm>
            <a:off x="5550408" y="5733288"/>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Preview 릴리스 · 체크포인트 추적 필요</a:t>
            </a:r>
            <a:endParaRPr lang="en-US" sz="950" dirty="0"/>
          </a:p>
        </p:txBody>
      </p:sp>
      <p:sp>
        <p:nvSpPr>
          <p:cNvPr id="58" name="Shape 56"/>
          <p:cNvSpPr/>
          <p:nvPr/>
        </p:nvSpPr>
        <p:spPr>
          <a:xfrm>
            <a:off x="10573207" y="5623560"/>
            <a:ext cx="868680" cy="274320"/>
          </a:xfrm>
          <a:prstGeom prst="roundRect">
            <a:avLst>
              <a:gd name="adj" fmla="val 16667"/>
            </a:avLst>
          </a:prstGeom>
          <a:solidFill>
            <a:srgbClr val="1E2761"/>
          </a:solidFill>
          <a:ln w="6350">
            <a:solidFill>
              <a:srgbClr val="1E2761"/>
            </a:solidFill>
            <a:prstDash val="solid"/>
          </a:ln>
        </p:spPr>
      </p:sp>
      <p:sp>
        <p:nvSpPr>
          <p:cNvPr id="59" name="Text 57"/>
          <p:cNvSpPr/>
          <p:nvPr/>
        </p:nvSpPr>
        <p:spPr>
          <a:xfrm>
            <a:off x="10573207" y="5623560"/>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상시</a:t>
            </a:r>
            <a:endParaRPr lang="en-US" sz="1050" dirty="0"/>
          </a:p>
        </p:txBody>
      </p:sp>
      <p:sp>
        <p:nvSpPr>
          <p:cNvPr id="60" name="Text 58"/>
          <p:cNvSpPr/>
          <p:nvPr/>
        </p:nvSpPr>
        <p:spPr>
          <a:xfrm>
            <a:off x="566928" y="6291072"/>
            <a:ext cx="11057839" cy="365760"/>
          </a:xfrm>
          <a:prstGeom prst="rect">
            <a:avLst/>
          </a:prstGeom>
          <a:noFill/>
          <a:ln/>
        </p:spPr>
        <p:txBody>
          <a:bodyPr wrap="square" lIns="0" tIns="0" rIns="0" bIns="0" rtlCol="0" anchor="ctr"/>
          <a:lstStyle/>
          <a:p>
            <a:pPr algn="l" indent="0" marL="0">
              <a:buNone/>
            </a:pPr>
            <a:r>
              <a:rPr lang="en-US" sz="950" dirty="0">
                <a:solidFill>
                  <a:srgbClr val="7A88C9"/>
                </a:solidFill>
                <a:latin typeface="Malgun Gothic" pitchFamily="34" charset="0"/>
                <a:ea typeface="Malgun Gothic" pitchFamily="34" charset="-122"/>
                <a:cs typeface="Malgun Gothic" pitchFamily="34" charset="-120"/>
              </a:rPr>
              <a:t>본 보고는 도입 여부가 아니라 운영 방식에 관한 것입니다. OPF는 데이터 최소화 보조 수단으로서 유효하되, 고유식별정보에 대해서는 결정론적 검증 계층을 함께 두는 구성을 권고드립니다.</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16</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요약</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16 / 16</a:t>
            </a:r>
            <a:endParaRPr lang="en-US" sz="1000" dirty="0"/>
          </a:p>
        </p:txBody>
      </p:sp>
      <p:sp>
        <p:nvSpPr>
          <p:cNvPr id="5" name="Shape 3"/>
          <p:cNvSpPr/>
          <p:nvPr/>
        </p:nvSpPr>
        <p:spPr>
          <a:xfrm>
            <a:off x="566928" y="969264"/>
            <a:ext cx="11057839" cy="566928"/>
          </a:xfrm>
          <a:prstGeom prst="roundRect">
            <a:avLst>
              <a:gd name="adj" fmla="val 9677"/>
            </a:avLst>
          </a:prstGeom>
          <a:solidFill>
            <a:srgbClr val="F7F8FB"/>
          </a:solidFill>
          <a:ln w="9525">
            <a:solidFill>
              <a:srgbClr val="DFE3EC"/>
            </a:solidFill>
            <a:prstDash val="solid"/>
          </a:ln>
        </p:spPr>
      </p:sp>
      <p:sp>
        <p:nvSpPr>
          <p:cNvPr id="6" name="Shape 4"/>
          <p:cNvSpPr/>
          <p:nvPr/>
        </p:nvSpPr>
        <p:spPr>
          <a:xfrm>
            <a:off x="749808" y="1115568"/>
            <a:ext cx="274320" cy="274320"/>
          </a:xfrm>
          <a:prstGeom prst="ellipse">
            <a:avLst/>
          </a:prstGeom>
          <a:solidFill>
            <a:srgbClr val="1E2761"/>
          </a:solidFill>
          <a:ln w="12700">
            <a:solidFill>
              <a:srgbClr val="1E2761"/>
            </a:solidFill>
            <a:prstDash val="solid"/>
          </a:ln>
        </p:spPr>
      </p:sp>
      <p:sp>
        <p:nvSpPr>
          <p:cNvPr id="7" name="Text 5"/>
          <p:cNvSpPr/>
          <p:nvPr/>
        </p:nvSpPr>
        <p:spPr>
          <a:xfrm>
            <a:off x="749808" y="11155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1</a:t>
            </a:r>
            <a:endParaRPr lang="en-US" sz="1000" dirty="0"/>
          </a:p>
        </p:txBody>
      </p:sp>
      <p:sp>
        <p:nvSpPr>
          <p:cNvPr id="8" name="Text 6"/>
          <p:cNvSpPr/>
          <p:nvPr/>
        </p:nvSpPr>
        <p:spPr>
          <a:xfrm>
            <a:off x="1152144" y="969264"/>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OPF 단독은 고유식별정보 미탐 749건, 문서 2,040 / 3,000 (68.00%)에 개인정보가 잔존합니다.</a:t>
            </a:r>
            <a:endParaRPr lang="en-US" sz="1150" dirty="0"/>
          </a:p>
        </p:txBody>
      </p:sp>
      <p:sp>
        <p:nvSpPr>
          <p:cNvPr id="9" name="Text 7"/>
          <p:cNvSpPr/>
          <p:nvPr/>
        </p:nvSpPr>
        <p:spPr>
          <a:xfrm>
            <a:off x="9887407" y="969264"/>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기준선 실측</a:t>
            </a:r>
            <a:endParaRPr lang="en-US" sz="900" dirty="0"/>
          </a:p>
        </p:txBody>
      </p:sp>
      <p:sp>
        <p:nvSpPr>
          <p:cNvPr id="10" name="Shape 8"/>
          <p:cNvSpPr/>
          <p:nvPr/>
        </p:nvSpPr>
        <p:spPr>
          <a:xfrm>
            <a:off x="566928" y="1627632"/>
            <a:ext cx="11057839" cy="566928"/>
          </a:xfrm>
          <a:prstGeom prst="roundRect">
            <a:avLst>
              <a:gd name="adj" fmla="val 9677"/>
            </a:avLst>
          </a:prstGeom>
          <a:solidFill>
            <a:srgbClr val="FFFFFF"/>
          </a:solidFill>
          <a:ln w="9525">
            <a:solidFill>
              <a:srgbClr val="DFE3EC"/>
            </a:solidFill>
            <a:prstDash val="solid"/>
          </a:ln>
        </p:spPr>
      </p:sp>
      <p:sp>
        <p:nvSpPr>
          <p:cNvPr id="11" name="Shape 9"/>
          <p:cNvSpPr/>
          <p:nvPr/>
        </p:nvSpPr>
        <p:spPr>
          <a:xfrm>
            <a:off x="749808" y="1773936"/>
            <a:ext cx="274320" cy="274320"/>
          </a:xfrm>
          <a:prstGeom prst="ellipse">
            <a:avLst/>
          </a:prstGeom>
          <a:solidFill>
            <a:srgbClr val="1E2761"/>
          </a:solidFill>
          <a:ln w="12700">
            <a:solidFill>
              <a:srgbClr val="1E2761"/>
            </a:solidFill>
            <a:prstDash val="solid"/>
          </a:ln>
        </p:spPr>
      </p:sp>
      <p:sp>
        <p:nvSpPr>
          <p:cNvPr id="12" name="Text 10"/>
          <p:cNvSpPr/>
          <p:nvPr/>
        </p:nvSpPr>
        <p:spPr>
          <a:xfrm>
            <a:off x="749808" y="1773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2</a:t>
            </a:r>
            <a:endParaRPr lang="en-US" sz="1000" dirty="0"/>
          </a:p>
        </p:txBody>
      </p:sp>
      <p:sp>
        <p:nvSpPr>
          <p:cNvPr id="13" name="Text 11"/>
          <p:cNvSpPr/>
          <p:nvPr/>
        </p:nvSpPr>
        <p:spPr>
          <a:xfrm>
            <a:off x="1152144" y="1627632"/>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주 원인은 단서 부재 1,948건과 경계 절단 888건입니다. 성명·주소가 취약합니다.</a:t>
            </a:r>
            <a:endParaRPr lang="en-US" sz="1150" dirty="0"/>
          </a:p>
        </p:txBody>
      </p:sp>
      <p:sp>
        <p:nvSpPr>
          <p:cNvPr id="14" name="Text 12"/>
          <p:cNvSpPr/>
          <p:nvPr/>
        </p:nvSpPr>
        <p:spPr>
          <a:xfrm>
            <a:off x="9887407" y="1627632"/>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항목별 분석</a:t>
            </a:r>
            <a:endParaRPr lang="en-US" sz="900" dirty="0"/>
          </a:p>
        </p:txBody>
      </p:sp>
      <p:sp>
        <p:nvSpPr>
          <p:cNvPr id="15" name="Shape 13"/>
          <p:cNvSpPr/>
          <p:nvPr/>
        </p:nvSpPr>
        <p:spPr>
          <a:xfrm>
            <a:off x="566928" y="2286000"/>
            <a:ext cx="11057839" cy="566928"/>
          </a:xfrm>
          <a:prstGeom prst="roundRect">
            <a:avLst>
              <a:gd name="adj" fmla="val 9677"/>
            </a:avLst>
          </a:prstGeom>
          <a:solidFill>
            <a:srgbClr val="F7F8FB"/>
          </a:solidFill>
          <a:ln w="9525">
            <a:solidFill>
              <a:srgbClr val="DFE3EC"/>
            </a:solidFill>
            <a:prstDash val="solid"/>
          </a:ln>
        </p:spPr>
      </p:sp>
      <p:sp>
        <p:nvSpPr>
          <p:cNvPr id="16" name="Shape 14"/>
          <p:cNvSpPr/>
          <p:nvPr/>
        </p:nvSpPr>
        <p:spPr>
          <a:xfrm>
            <a:off x="749808" y="2432304"/>
            <a:ext cx="274320" cy="274320"/>
          </a:xfrm>
          <a:prstGeom prst="ellipse">
            <a:avLst/>
          </a:prstGeom>
          <a:solidFill>
            <a:srgbClr val="1E2761"/>
          </a:solidFill>
          <a:ln w="12700">
            <a:solidFill>
              <a:srgbClr val="1E2761"/>
            </a:solidFill>
            <a:prstDash val="solid"/>
          </a:ln>
        </p:spPr>
      </p:sp>
      <p:sp>
        <p:nvSpPr>
          <p:cNvPr id="17" name="Text 15"/>
          <p:cNvSpPr/>
          <p:nvPr/>
        </p:nvSpPr>
        <p:spPr>
          <a:xfrm>
            <a:off x="749808" y="24323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3</a:t>
            </a:r>
            <a:endParaRPr lang="en-US" sz="1000" dirty="0"/>
          </a:p>
        </p:txBody>
      </p:sp>
      <p:sp>
        <p:nvSpPr>
          <p:cNvPr id="18" name="Text 16"/>
          <p:cNvSpPr/>
          <p:nvPr/>
        </p:nvSpPr>
        <p:spPr>
          <a:xfrm>
            <a:off x="1152144" y="2286000"/>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규칙 레이어 병행 시 고유식별 4종 미탐 749 → 8, 과탐은 실질 동일 수준을 유지합니다.</a:t>
            </a:r>
            <a:endParaRPr lang="en-US" sz="1150" dirty="0"/>
          </a:p>
        </p:txBody>
      </p:sp>
      <p:sp>
        <p:nvSpPr>
          <p:cNvPr id="19" name="Text 17"/>
          <p:cNvSpPr/>
          <p:nvPr/>
        </p:nvSpPr>
        <p:spPr>
          <a:xfrm>
            <a:off x="9887407" y="2286000"/>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고도화 ①</a:t>
            </a:r>
            <a:endParaRPr lang="en-US" sz="900" dirty="0"/>
          </a:p>
        </p:txBody>
      </p:sp>
      <p:sp>
        <p:nvSpPr>
          <p:cNvPr id="20" name="Shape 18"/>
          <p:cNvSpPr/>
          <p:nvPr/>
        </p:nvSpPr>
        <p:spPr>
          <a:xfrm>
            <a:off x="566928" y="2944368"/>
            <a:ext cx="11057839" cy="566928"/>
          </a:xfrm>
          <a:prstGeom prst="roundRect">
            <a:avLst>
              <a:gd name="adj" fmla="val 9677"/>
            </a:avLst>
          </a:prstGeom>
          <a:solidFill>
            <a:srgbClr val="FFFFFF"/>
          </a:solidFill>
          <a:ln w="9525">
            <a:solidFill>
              <a:srgbClr val="DFE3EC"/>
            </a:solidFill>
            <a:prstDash val="solid"/>
          </a:ln>
        </p:spPr>
      </p:sp>
      <p:sp>
        <p:nvSpPr>
          <p:cNvPr id="21" name="Shape 19"/>
          <p:cNvSpPr/>
          <p:nvPr/>
        </p:nvSpPr>
        <p:spPr>
          <a:xfrm>
            <a:off x="749808" y="3090672"/>
            <a:ext cx="274320" cy="274320"/>
          </a:xfrm>
          <a:prstGeom prst="ellipse">
            <a:avLst/>
          </a:prstGeom>
          <a:solidFill>
            <a:srgbClr val="1E2761"/>
          </a:solidFill>
          <a:ln w="12700">
            <a:solidFill>
              <a:srgbClr val="1E2761"/>
            </a:solidFill>
            <a:prstDash val="solid"/>
          </a:ln>
        </p:spPr>
      </p:sp>
      <p:sp>
        <p:nvSpPr>
          <p:cNvPr id="22" name="Text 20"/>
          <p:cNvSpPr/>
          <p:nvPr/>
        </p:nvSpPr>
        <p:spPr>
          <a:xfrm>
            <a:off x="749808" y="30906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4</a:t>
            </a:r>
            <a:endParaRPr lang="en-US" sz="1000" dirty="0"/>
          </a:p>
        </p:txBody>
      </p:sp>
      <p:sp>
        <p:nvSpPr>
          <p:cNvPr id="23" name="Text 21"/>
          <p:cNvSpPr/>
          <p:nvPr/>
        </p:nvSpPr>
        <p:spPr>
          <a:xfrm>
            <a:off x="1152144" y="2944368"/>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규칙 단독 100.00%는 테스트셋 생성 방식의 산물이며, 부분 발화에서 0 / 0으로 붕괴합니다.</a:t>
            </a:r>
            <a:endParaRPr lang="en-US" sz="1150" dirty="0"/>
          </a:p>
        </p:txBody>
      </p:sp>
      <p:sp>
        <p:nvSpPr>
          <p:cNvPr id="24" name="Text 22"/>
          <p:cNvSpPr/>
          <p:nvPr/>
        </p:nvSpPr>
        <p:spPr>
          <a:xfrm>
            <a:off x="9887407" y="2944368"/>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한계 명시</a:t>
            </a:r>
            <a:endParaRPr lang="en-US" sz="900" dirty="0"/>
          </a:p>
        </p:txBody>
      </p:sp>
      <p:sp>
        <p:nvSpPr>
          <p:cNvPr id="25" name="Shape 23"/>
          <p:cNvSpPr/>
          <p:nvPr/>
        </p:nvSpPr>
        <p:spPr>
          <a:xfrm>
            <a:off x="566928" y="3602736"/>
            <a:ext cx="11057839" cy="566928"/>
          </a:xfrm>
          <a:prstGeom prst="roundRect">
            <a:avLst>
              <a:gd name="adj" fmla="val 9677"/>
            </a:avLst>
          </a:prstGeom>
          <a:solidFill>
            <a:srgbClr val="F7F8FB"/>
          </a:solidFill>
          <a:ln w="9525">
            <a:solidFill>
              <a:srgbClr val="DFE3EC"/>
            </a:solidFill>
            <a:prstDash val="solid"/>
          </a:ln>
        </p:spPr>
      </p:sp>
      <p:sp>
        <p:nvSpPr>
          <p:cNvPr id="26" name="Shape 24"/>
          <p:cNvSpPr/>
          <p:nvPr/>
        </p:nvSpPr>
        <p:spPr>
          <a:xfrm>
            <a:off x="749808" y="3749040"/>
            <a:ext cx="274320" cy="274320"/>
          </a:xfrm>
          <a:prstGeom prst="ellipse">
            <a:avLst/>
          </a:prstGeom>
          <a:solidFill>
            <a:srgbClr val="1E2761"/>
          </a:solidFill>
          <a:ln w="12700">
            <a:solidFill>
              <a:srgbClr val="1E2761"/>
            </a:solidFill>
            <a:prstDash val="solid"/>
          </a:ln>
        </p:spPr>
      </p:sp>
      <p:sp>
        <p:nvSpPr>
          <p:cNvPr id="27" name="Text 25"/>
          <p:cNvSpPr/>
          <p:nvPr/>
        </p:nvSpPr>
        <p:spPr>
          <a:xfrm>
            <a:off x="749808" y="3749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5</a:t>
            </a:r>
            <a:endParaRPr lang="en-US" sz="1000" dirty="0"/>
          </a:p>
        </p:txBody>
      </p:sp>
      <p:sp>
        <p:nvSpPr>
          <p:cNvPr id="28" name="Text 26"/>
          <p:cNvSpPr/>
          <p:nvPr/>
        </p:nvSpPr>
        <p:spPr>
          <a:xfrm>
            <a:off x="1152144" y="3602736"/>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운영점 조정으로 미탐은 줄지만 과잉 마스킹이 8.58배 — 중간 운영점이 존재하지 않습니다.</a:t>
            </a:r>
            <a:endParaRPr lang="en-US" sz="1150" dirty="0"/>
          </a:p>
        </p:txBody>
      </p:sp>
      <p:sp>
        <p:nvSpPr>
          <p:cNvPr id="29" name="Text 27"/>
          <p:cNvSpPr/>
          <p:nvPr/>
        </p:nvSpPr>
        <p:spPr>
          <a:xfrm>
            <a:off x="9887407" y="3602736"/>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고도화 ②</a:t>
            </a:r>
            <a:endParaRPr lang="en-US" sz="900" dirty="0"/>
          </a:p>
        </p:txBody>
      </p:sp>
      <p:sp>
        <p:nvSpPr>
          <p:cNvPr id="30" name="Shape 28"/>
          <p:cNvSpPr/>
          <p:nvPr/>
        </p:nvSpPr>
        <p:spPr>
          <a:xfrm>
            <a:off x="566928" y="4261104"/>
            <a:ext cx="11057839" cy="566928"/>
          </a:xfrm>
          <a:prstGeom prst="roundRect">
            <a:avLst>
              <a:gd name="adj" fmla="val 9677"/>
            </a:avLst>
          </a:prstGeom>
          <a:solidFill>
            <a:srgbClr val="FFFFFF"/>
          </a:solidFill>
          <a:ln w="9525">
            <a:solidFill>
              <a:srgbClr val="DFE3EC"/>
            </a:solidFill>
            <a:prstDash val="solid"/>
          </a:ln>
        </p:spPr>
      </p:sp>
      <p:sp>
        <p:nvSpPr>
          <p:cNvPr id="31" name="Shape 29"/>
          <p:cNvSpPr/>
          <p:nvPr/>
        </p:nvSpPr>
        <p:spPr>
          <a:xfrm>
            <a:off x="749808" y="4407408"/>
            <a:ext cx="274320" cy="274320"/>
          </a:xfrm>
          <a:prstGeom prst="ellipse">
            <a:avLst/>
          </a:prstGeom>
          <a:solidFill>
            <a:srgbClr val="1E2761"/>
          </a:solidFill>
          <a:ln w="12700">
            <a:solidFill>
              <a:srgbClr val="1E2761"/>
            </a:solidFill>
            <a:prstDash val="solid"/>
          </a:ln>
        </p:spPr>
      </p:sp>
      <p:sp>
        <p:nvSpPr>
          <p:cNvPr id="32" name="Text 30"/>
          <p:cNvSpPr/>
          <p:nvPr/>
        </p:nvSpPr>
        <p:spPr>
          <a:xfrm>
            <a:off x="74980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6</a:t>
            </a:r>
            <a:endParaRPr lang="en-US" sz="1000" dirty="0"/>
          </a:p>
        </p:txBody>
      </p:sp>
      <p:sp>
        <p:nvSpPr>
          <p:cNvPr id="33" name="Text 31"/>
          <p:cNvSpPr/>
          <p:nvPr/>
        </p:nvSpPr>
        <p:spPr>
          <a:xfrm>
            <a:off x="1152144" y="4261104"/>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실 상담 로그 검증셋과 한국어 파인튜닝을 후속 과제로 제안드립니다.</a:t>
            </a:r>
            <a:endParaRPr lang="en-US" sz="1150" dirty="0"/>
          </a:p>
        </p:txBody>
      </p:sp>
      <p:sp>
        <p:nvSpPr>
          <p:cNvPr id="34" name="Text 32"/>
          <p:cNvSpPr/>
          <p:nvPr/>
        </p:nvSpPr>
        <p:spPr>
          <a:xfrm>
            <a:off x="9887407" y="4261104"/>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고도화 ③</a:t>
            </a:r>
            <a:endParaRPr lang="en-US" sz="900" dirty="0"/>
          </a:p>
        </p:txBody>
      </p:sp>
      <p:sp>
        <p:nvSpPr>
          <p:cNvPr id="35" name="Shape 33"/>
          <p:cNvSpPr/>
          <p:nvPr/>
        </p:nvSpPr>
        <p:spPr>
          <a:xfrm>
            <a:off x="566928" y="5029200"/>
            <a:ext cx="11057839" cy="1207008"/>
          </a:xfrm>
          <a:prstGeom prst="roundRect">
            <a:avLst>
              <a:gd name="adj" fmla="val 4545"/>
            </a:avLst>
          </a:prstGeom>
          <a:solidFill>
            <a:srgbClr val="1E2761"/>
          </a:solidFill>
          <a:ln w="9525">
            <a:solidFill>
              <a:srgbClr val="1E2761"/>
            </a:solidFill>
            <a:prstDash val="solid"/>
          </a:ln>
        </p:spPr>
      </p:sp>
      <p:sp>
        <p:nvSpPr>
          <p:cNvPr id="36" name="Text 34"/>
          <p:cNvSpPr/>
          <p:nvPr/>
        </p:nvSpPr>
        <p:spPr>
          <a:xfrm>
            <a:off x="841248" y="5138928"/>
            <a:ext cx="10509199" cy="457200"/>
          </a:xfrm>
          <a:prstGeom prst="rect">
            <a:avLst/>
          </a:prstGeom>
          <a:noFill/>
          <a:ln/>
        </p:spPr>
        <p:txBody>
          <a:bodyPr wrap="square" lIns="0" tIns="0" rIns="0" bIns="0" rtlCol="0" anchor="ctr"/>
          <a:lstStyle/>
          <a:p>
            <a:pPr algn="l" indent="0" marL="0">
              <a:buNone/>
            </a:pPr>
            <a:r>
              <a:rPr lang="en-US" sz="1100" dirty="0">
                <a:solidFill>
                  <a:srgbClr val="CADCFC"/>
                </a:solidFill>
                <a:latin typeface="Malgun Gothic" pitchFamily="34" charset="0"/>
                <a:ea typeface="Malgun Gothic" pitchFamily="34" charset="-122"/>
                <a:cs typeface="Malgun Gothic" pitchFamily="34" charset="-120"/>
              </a:rPr>
              <a:t>본 평가는 자체 구축 합성 테스트셋 기준입니다. 실제 상담 데이터 분포에서의 성능은 별도 검증이 필요하며, 이를 후속 1순위 과제로 제안드립니다.</a:t>
            </a:r>
            <a:endParaRPr lang="en-US" sz="1100" dirty="0"/>
          </a:p>
        </p:txBody>
      </p:sp>
      <p:sp>
        <p:nvSpPr>
          <p:cNvPr id="37" name="Text 35"/>
          <p:cNvSpPr/>
          <p:nvPr/>
        </p:nvSpPr>
        <p:spPr>
          <a:xfrm>
            <a:off x="841248" y="5596128"/>
            <a:ext cx="10509199" cy="457200"/>
          </a:xfrm>
          <a:prstGeom prst="rect">
            <a:avLst/>
          </a:prstGeom>
          <a:noFill/>
          <a:ln/>
        </p:spPr>
        <p:txBody>
          <a:bodyPr wrap="square" lIns="0" tIns="0" rIns="0" bIns="0" rtlCol="0" anchor="ct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감사합니다.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삼성증권 AI솔루션팀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OPF 한국어 PII 탐지 성능 평가</dc:title>
  <dc:subject>PptxGenJS Presentation</dc:subject>
  <dc:creator>최중현</dc:creator>
  <cp:lastModifiedBy>최중현</cp:lastModifiedBy>
  <cp:revision>1</cp:revision>
  <dcterms:created xsi:type="dcterms:W3CDTF">2026-08-20T07:23:46Z</dcterms:created>
  <dcterms:modified xsi:type="dcterms:W3CDTF">2026-08-20T07:23:46Z</dcterms:modified>
</cp:coreProperties>
</file>